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3a03cb4-649d-9790-5270-504a893a1443}">
          <p14:sldIdLst>
            <p14:sldId id="256"/>
            <p14:sldId id="257"/>
            <p14:sldId id="258"/>
          </p14:sldIdLst>
        </p14:section>
        <p14:section name="Fundamentals" id="{acba3f3a-744b-aa6d-6cfb-6b4a56c4314d}">
          <p14:sldIdLst>
            <p14:sldId id="259"/>
            <p14:sldId id="260"/>
          </p14:sldIdLst>
        </p14:section>
        <p14:section name="Working principle" id="{173779da-be08-eada-90d2-e160e9179184}">
          <p14:sldIdLst>
            <p14:sldId id="261"/>
            <p14:sldId id="262"/>
            <p14:sldId id="263"/>
            <p14:sldId id="264"/>
          </p14:sldIdLst>
        </p14:section>
        <p14:section name="Components and architecture" id="{b8bc7aa5-5e86-c491-3372-3ccd495179bc}">
          <p14:sldIdLst>
            <p14:sldId id="265"/>
            <p14:sldId id="266"/>
            <p14:sldId id="267"/>
            <p14:sldId id="268"/>
          </p14:sldIdLst>
        </p14:section>
        <p14:section name="Applications" id="{1fcb0a1e-7e02-c88d-2572-78d226636b51}">
          <p14:sldIdLst>
            <p14:sldId id="269"/>
          </p14:sldIdLst>
        </p14:section>
        <p14:section name="Assessment" id="{8bd4313e-ef8e-c6a2-4e0d-e251fc0e7287}">
          <p14:sldIdLst>
            <p14:sldId id="270"/>
            <p14:sldId id="271"/>
          </p14:sldIdLst>
        </p14:section>
        <p14:section name="Outlook and close" id="{defd68cc-d565-5bb9-f943-f7a972fc834a}">
          <p14:sldIdLst>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Max data rate (Mbit/s)</c:v>
                </c:pt>
              </c:strCache>
            </c:strRef>
          </c:tx>
          <c:spPr>
            <a:solidFill>
              <a:srgbClr val="A6A6A6"/>
            </a:solidFill>
            <a:effectLst/>
          </c:spPr>
          <c:invertIfNegative val="0"/>
          <c:dLbls>
            <c:numFmt formatCode="General" sourceLinked="0"/>
            <c:txPr>
              <a:bodyPr/>
              <a:lstStyle/>
              <a:p>
                <a:pPr>
                  <a:defRPr b="0" i="0" strike="noStrike" sz="1400" u="none">
                    <a:solidFill>
                      <a:srgbClr val="2D2D2D"/>
                    </a:solidFill>
                    <a:latin typeface="+mn-lt"/>
                  </a:defRPr>
                </a:pPr>
              </a:p>
            </c:txPr>
            <c:showLegendKey val="0"/>
            <c:showVal val="1"/>
            <c:showCatName val="0"/>
            <c:showSerName val="0"/>
            <c:showPercent val="0"/>
            <c:showBubbleSize val="0"/>
            <c:showLeaderLines val="0"/>
          </c:dLbls>
          <c:dPt>
            <c:idx val="0"/>
            <c:invertIfNegative val="0"/>
            <c:bubble3D val="0"/>
            <c:spPr>
              <a:solidFill>
                <a:srgbClr val="A6A6A6"/>
              </a:solidFill>
              <a:effectLst/>
            </c:spPr>
          </c:dPt>
          <c:dPt>
            <c:idx val="1"/>
            <c:invertIfNegative val="0"/>
            <c:bubble3D val="0"/>
            <c:spPr>
              <a:solidFill>
                <a:srgbClr val="A6A6A6"/>
              </a:solidFill>
              <a:effectLst/>
            </c:spPr>
          </c:dPt>
          <c:dPt>
            <c:idx val="2"/>
            <c:invertIfNegative val="0"/>
            <c:bubble3D val="0"/>
            <c:spPr>
              <a:solidFill>
                <a:srgbClr val="A6A6A6"/>
              </a:solidFill>
              <a:effectLst/>
            </c:spPr>
          </c:dPt>
          <c:dPt>
            <c:idx val="3"/>
            <c:invertIfNegative val="0"/>
            <c:bubble3D val="0"/>
            <c:spPr>
              <a:solidFill>
                <a:srgbClr val="A6A6A6"/>
              </a:solidFill>
              <a:effectLst/>
            </c:spPr>
          </c:dPt>
          <c:dPt>
            <c:idx val="4"/>
            <c:invertIfNegative val="0"/>
            <c:bubble3D val="0"/>
            <c:spPr>
              <a:solidFill>
                <a:srgbClr val="A6A6A6"/>
              </a:solidFill>
              <a:effectLst/>
            </c:spPr>
          </c:dPt>
          <c:dPt>
            <c:idx val="5"/>
            <c:invertIfNegative val="0"/>
            <c:bubble3D val="0"/>
            <c:spPr>
              <a:solidFill>
                <a:srgbClr val="2E75B6"/>
              </a:solidFill>
              <a:effectLst/>
            </c:spPr>
          </c:dPt>
          <c:dPt>
            <c:idx val="6"/>
            <c:invertIfNegative val="0"/>
            <c:bubble3D val="0"/>
            <c:spPr>
              <a:solidFill>
                <a:srgbClr val="2E75B6"/>
              </a:solidFill>
              <a:effectLst/>
            </c:spPr>
          </c:dPt>
          <c:dPt>
            <c:idx val="7"/>
            <c:invertIfNegative val="0"/>
            <c:bubble3D val="0"/>
            <c:spPr>
              <a:solidFill>
                <a:srgbClr val="2E75B6"/>
              </a:solidFill>
              <a:effectLst/>
            </c:spPr>
          </c:dPt>
          <c:cat>
            <c:multiLvlStrRef>
              <c:f>Sheet1!$A$2:$A$9</c:f>
              <c:multiLvlStrCache>
                <c:ptCount val="8"/>
                <c:lvl>
                  <c:pt idx="0">
                    <c:v>LIN</c:v>
                  </c:pt>
                  <c:pt idx="1">
                    <c:v>CAN</c:v>
                  </c:pt>
                  <c:pt idx="2">
                    <c:v>CAN FD (typ.)</c:v>
                  </c:pt>
                  <c:pt idx="3">
                    <c:v>FlexRay</c:v>
                  </c:pt>
                  <c:pt idx="4">
                    <c:v>MOST150</c:v>
                  </c:pt>
                  <c:pt idx="5">
                    <c:v>100BASE-T1</c:v>
                  </c:pt>
                  <c:pt idx="6">
                    <c:v>1000BASE-T1</c:v>
                  </c:pt>
                  <c:pt idx="7">
                    <c:v>10GBASE-T1</c:v>
                  </c:pt>
                </c:lvl>
              </c:multiLvlStrCache>
            </c:multiLvlStrRef>
          </c:cat>
          <c:val>
            <c:numRef>
              <c:f>Sheet1!$B$2:$B$9</c:f>
              <c:numCache>
                <c:formatCode>General</c:formatCode>
                <c:ptCount val="8"/>
                <c:pt idx="0">
                  <c:v>0.02</c:v>
                </c:pt>
                <c:pt idx="1">
                  <c:v>1</c:v>
                </c:pt>
                <c:pt idx="2">
                  <c:v>5</c:v>
                </c:pt>
                <c:pt idx="3">
                  <c:v>10</c:v>
                </c:pt>
                <c:pt idx="4">
                  <c:v>150</c:v>
                </c:pt>
                <c:pt idx="5">
                  <c:v>100</c:v>
                </c:pt>
                <c:pt idx="6">
                  <c:v>1000</c:v>
                </c:pt>
                <c:pt idx="7">
                  <c:v>10000</c:v>
                </c:pt>
              </c:numCache>
            </c:numRef>
          </c:val>
        </c:ser>
        <c:dLbls>
          <c:numFmt formatCode="General" sourceLinked="0"/>
          <c:txPr>
            <a:bodyPr/>
            <a:lstStyle/>
            <a:p>
              <a:pPr>
                <a:defRPr b="0" i="0" strike="noStrike" sz="1400" u="none">
                  <a:solidFill>
                    <a:srgbClr val="2D2D2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2D2D2D"/>
                </a:solidFill>
                <a:latin typeface="+mn-lt"/>
              </a:defRPr>
            </a:pPr>
            <a:endParaRPr lang="en-US"/>
          </a:p>
        </c:txPr>
        <c:crossAx val="2094734552"/>
        <c:crosses val="autoZero"/>
        <c:auto val="1"/>
        <c:lblAlgn val="ctr"/>
        <c:noMultiLvlLbl val="1"/>
      </c:catAx>
      <c:valAx>
        <c:axId val="2094734552"/>
        <c:scaling>
          <c:logBase val="10"/>
          <c:orientation val="minMax"/>
          <c:max val="100000"/>
          <c:min val="0.01"/>
        </c:scaling>
        <c:delete val="0"/>
        <c:axPos val="b"/>
        <c:majorGridlines>
          <c:spPr>
            <a:ln w="6350" cap="flat">
              <a:solidFill>
                <a:srgbClr val="E2E8F0"/>
              </a:solidFill>
              <a:prstDash val="solid"/>
              <a:round/>
            </a:ln>
          </c:spPr>
        </c:majorGridlines>
        <c:title>
          <c:tx>
            <c:rich>
              <a:bodyPr/>
              <a:lstStyle/>
              <a:p>
                <a:pPr>
                  <a:defRPr sz="1400" b="0" i="0" u="none" strike="noStrike">
                    <a:solidFill>
                      <a:srgbClr val="666666"/>
                    </a:solidFill>
                    <a:latin typeface="+mn-lt"/>
                  </a:defRPr>
                </a:pPr>
                <a:r>
                  <a:rPr sz="1400" b="0" i="0" u="none" strike="noStrike">
                    <a:solidFill>
                      <a:srgbClr val="666666"/>
                    </a:solidFill>
                    <a:latin typeface="+mn-lt"/>
                  </a:rPr>
                  <a:t>Maximum data rate, Mbit/s (log scale)</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666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for the whole talk: about 20 minutes plus questions. This slide: 30 seconds.
Good morning everyone. My name is Sharath Poojari, and my seminar topic is Automotive Ethernet.
Opening line: "A modern car has cameras, radar, large touch screens, and it even receives software updates over the air, like a phone. All of that data has to move between the computers inside the car. Today I will explain the network that makes this possible."
Then move straight to the next slide — do not read the title aloud word for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This slide answers: why did cars need a new network?
Point to the chart. "The grey bars are the networks cars have used for decades. LIN runs at 20 kilobits per second, classic CAN at 1 megabit per second, FlexRay at 10. The blue bars are Automotive Ethernet: 100 megabits, 1 gigabit and 10 gigabits. Note that the scale is logarithmic — every grid line is ten times the previous one."
Point to the orange box. "Here is the problem in one number. A single full-HD camera, uncompressed, at 30 frames per second, produces about 1.5 gigabits per second. That is fifteen hundred times what a CAN bus can carry." (If asked how: 1920 × 1080 pixels × 24 bits × 30 frames ≈ 1.5 Gbit/s.)
Then the four drivers on the right:
• More ECUs — electronic control units. Cars have dozens, premium cars over a hundred.
• More sensors for driver assistance — cameras, radar, lidar.
• The wiring harness — adding separate wires for every function makes it heavy and expensive, and weight costs fuel and battery range.
• Software — over-the-air updates can be several gigabytes.
Transition: "So the industry needed something fast, light and scalable. Let me state the question this seminar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State the question clearly — it is the thread for the whole talk.
"The question I will answer is: how can one unshielded twisted pair of wires deliver gigabit speed, predictable timing and security, inside a car — which is hot, cold, vibrating, electrically noisy, and extremely cost-sensitive?"
Then briefly read the roadmap: "First the concept and how it evolved; then how it works; then the components, block diagram and vehicle architecture; then where it is used; then its advantages, limitations and how it compares with older networks; and finally the latest developments and my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This is the fundamental concept.
"Most of you know Ethernet — the cable in our computer lab. Automotive Ethernet is the same Ethernet, re-engineered to survive inside a car."
Definition to say clearly: "Automotive Ethernet is a family of IEEE 802.3 standards that carry Ethernet over a single twisted pair of wires, designed for the temperature, vibration and electromagnetic requirements of vehicles."
Walk through the table, comparing left and right:
• Office 100 Mbit/s Ethernet uses two pairs, one for each direction. Automotive uses only one pair — less copper, less weight, less cost.
• It still sends in both directions at the same time — full duplex — using echo cancellation. I will explain that on the working-principle slide.
• Line coding: three voltage levels, PAM3, instead of MLT-3.
• Reach is 15 metres instead of 100 — a car is only a few metres long.
• It must work from −40 to +125 °C, which is the automotive grade for chips, and meet strict automotive emission limits so it does not disturb the radio or other electronics.
• The last row is the key point: everything above the physical layer — the Ethernet frame, IP, TCP and UDP — stays the same. So car makers reuse decades of networking software and knowledge.
Key line: "New physical layer, standard Ethernet on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Walk left to right.
• 2008 — Ethernet first appeared in cars only as a fast workshop port, for diagnostics and for flashing (re-programming) ECU software, because CAN was too slow to load large files. BMW was an early adopter.
• 2011 — Broadcom introduced BroadR-Reach: 100 Mbit/s over a single unshielded twisted pair. In the same year, car makers and suppliers founded the OPEN Alliance to promote and test the technology.
• 2013 — first series-production use inside the vehicle network: the surround-view camera system of the BMW X5.
• 2015 — the IEEE standardised it as 802.3bw, 100BASE-T1. T1 means "one twisted pair".
• 2016 — gigabit: 1000BASE-T1.
• 2019–2020 — 10BASE-T1S, a 10 Mbit/s version where many nodes share one pair, and 802.3ch for 2.5, 5 and 10 Gbit/s.
• 2023 — 25 Gbit/s with 802.3cy.
Point to the bottom box: "Blue is industry adoption, orange is IEEE standards. In about ten years speed grew 250 times — and it is still one pair of wires."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 the most technical slide; slow down.
Question to pose: "How can one pair of wires carry data in both directions at the same time?"
Point to the diagram. Each end has a PHY — the physical-layer chip. Each PHY has a transmitter, a receiver, and a hybrid with an echo canceller.
Walk through the steps on the right:
1. Encode — data bits are scrambled, which spreads the signal energy and avoids long runs of identical bits, then mapped to symbols. In 100BASE-T1, every 4 bits become 3 ternary symbols (4B3B).
2. Modulate — symbols are sent as three voltage levels: plus one, zero, minus one. That is PAM3 — the next slide shows it.
3. Transmit — both PHYs send at the same time, on the same pair. Point to the blue and orange arrows.
4. Cancel the echo — the voltage on the wire is the sum of both signals. But each PHY knows exactly what it just sent, so it subtracts that from what it receives. What is left is the other side's signal. This is the same idea as noise-cancelling headphones.
5. Clock — one PHY is configured as master and sets the timing; the slave locks onto it, so both stay synchronised.
Key line: "Echo cancellation is what lets one pair replace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Point to the waveform. "This is what the signal on the wire looks like. Instead of only two voltage levels, the PHY uses three: plus one, zero and minus one. This is PAM3 — pulse amplitude modulation with three levels."
Why it matters: "Each symbol carries more information than a simple on/off bit. So for the same data rate we need fewer symbols per second. 100BASE-T1 sends about 66.7 million symbols per second, one every 15 nanoseconds. A lower symbol rate means a lower signal frequency, and lower frequency means less electromagnetic radiation — which is exactly what an unshielded cable in a car needs."
Right side: faster versions use the same principle, scaled up:
• 1000BASE-T1 still uses PAM3, at 750 megabaud, and adds Reed–Solomon forward error correction, so bit errors caused by noise are corrected automatically.
• The multi-gigabit grades use PAM4, four levels.
• 10BASE-T1S uses a simpler differential Manchester code because it runs on a shared bus.
Key line (orange box): "Fewer symbols per second, lower frequency, less interference."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"Automotive Ethernet is not one standard but a family, so designers never pay for more speed than a link needs."
Explain the names first, using the line at the bottom: the number is the speed, BASE means baseband, T1 means one twisted pair, and S means short reach.
Walk down the rows:
• 10BASE-T1S is special: it is a shared bus. At least eight nodes can sit on the same pair over 25 metres. A method called PLCA — Physical Layer Collision Avoidance — gives each node its turn in a round-robin, so frames never collide. That makes it a direct replacement for CAN for simple sensors and actuators.
• 100BASE-T1 — the original workhorse for cameras, infotainment and diagnostics.
• 1000BASE-T1 — gigabit, for HD cameras and backbone links; 15 metres normally, up to 40 metres in its longer-reach variant.
• 802.3ch — 2.5, 5 and 10 gigabits, for the backbone between zonal controllers and the central computer.
• 802.3cy — 25 gigabits for the next generation of high-resolution sensors and compute.
Key line: "The same Ethernet frames and software work across a 2,500-times range of speeds."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Relate it to the OSI model the audience already knows.
Point to the orange row: "Only the physical layer — the T1 family — is truly new. Everything above is reused from normal networking."
Go up the stack:
• Layer 2 — the standard Ethernet MAC and frame. VLANs separate traffic, for example infotainment from safety data. TSN adds timing guarantees — next section. MACsec can encrypt and authenticate every frame.
• Layer 3 — normal IPv4 and IPv6.
• Layer 4 — TCP when data must arrive reliably, like a software update; UDP when speed matters more, like sensor streams.
• Application — protocols built for cars:
  – SOME/IP: ECUs offer "services"; for example a camera ECU offers video and any ECU can subscribe to it. This is the basis of service-oriented architecture.
  – DoIP, Diagnostics over IP (ISO 13400): workshops read fault codes and re-flash ECUs quickly.
  – IEEE 1722: streams audio and video with fixed timing.
  – DDS and MQTT: data distribution in automated-driving software and to the cloud.
Key line: "Because the upper layers are standard, car software can use the same tools and skills as the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These are the major components of an Automotive Ethernet system, in the order the data passes through them.
1. Microcontroller or SoC — the processor of the ECU. It runs the application and the TCP/IP software, and contains the Ethernet MAC, which builds the Ethernet frames.
2. PHY transceiver — a dedicated chip that turns digital frames into the PAM voltage signals on the wire, and back again. It also does the echo cancellation we saw.
3. MDI network — MDI means medium-dependent interface. Small passive parts between the PHY and the connector: a common-mode choke that suppresses interference, ESD protection against static discharge, and capacitors that block DC. These are what make the link pass automotive EMC tests.
4. Cable and connector — usually an unshielded twisted pair; for the multi-gigabit speeds a shielded cable is often used. Connectors are small and vibration-proof.
5. Ethernet switch — unlike a CAN bus, Ethernet is switched. The switch forwards each frame only to its destination, and supports VLANs and TSN time scheduling.
6. Gateway or central computer — connects the Ethernet world to the older CAN, LIN and FlexRay networks, which still exist in every car, and acts as a router and firewall.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This is the block diagram of one Automotive Ethernet node and its link. Trace it left to right with your hand or a pointer.
• Inside the dashed box is the microcontroller or SoC. At the top, the application — for example a SOME/IP service or diagnostics. Below it the TCP/UDP and IP stack, and at the bottom the Ethernet MAC, which packs the data into Ethernet frames.
• The MAC connects to the PHY over a standard digital interface called xMII — for example RGMII or SGMII.
• The PHY turns the frames into PAM3 symbols, and does the echo cancellation so it can receive at the same time.
• The MDI network — choke, ESD protection, coupling capacitors — cleans the signal and protects the PHY. Without it, the link would fail EMC tests.
• Then the twisted pair, up to 15 metres, to an Ethernet switch, which forwards the frame to the destination ECU — a display, the central computer, or another sensor.
Read the summary line at the bottom: "software, frame, symbols, filtered signal, cable, switch, destination."
Receiving is the same path in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This is where Automotive Ethernet changes the whole car, not just one link.
Left — domain architecture, used in most cars today. ECUs are grouped by function: powertrain, chassis, body, infotainment. Each domain has its own bus — CAN, FlexRay, LIN, MOST — and a central gateway translates between them. Problems: many ECUs, long wires running all over the car because each function connects wherever its sensors are, and the gateway becomes a bottleneck.
Right — zonal architecture, which new vehicle platforms are adopting. ECUs are grouped by location instead: front-left, front-right, rear-left, rear-right. Each zone controller collects all the nearby sensors and actuators over short local links — CAN, LIN or 10BASE-T1S — and connects to a powerful central computer over a multi-gigabit Ethernet backbone, shown in blue.
Effect (bottom line): fewer ECUs, a shorter and lighter harness, and most software running in the central computer, where it can be updated over the air. This is what people mean by the "software-defined vehicle" — and it is only possible with Ethernet's bandwidth.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This addresses the biggest technical objection to Ethernet in cars: timing.
Problem: "Normal Ethernet is 'best effort'. If a large video frame is being sent, a small but urgent braking message may have to wait. For entertainment that is fine; for safety functions it is not. Engineers need a guaranteed maximum delay — that is called determinism."
The solution is TSN, Time-Sensitive Networking — a set of IEEE 802.1 extensions. Go through the table:
• 802.1AS, gPTP — every node synchronises to one common clock, accurate to under a microsecond. Everything else builds on this.
• 802.1Qav — the credit-based shaper keeps audio and video streams smooth.
• 802.1Qbv — the time-aware shaper: like a train timetable, it reserves exact time slots for critical traffic.
• Frame preemption — an urgent frame can interrupt a long, low-priority frame and the long one resumes afterwards.
• 802.1CB — sends critical frames over two paths, so the system survives a broken link.
• 802.1Qci — filtering and policing, so one faulty or attacked ECU cannot flood the network.
Key line: "With TSN, Ethernet can carry control data with guaranteed timing, not just bulk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Now, where is Automotive Ethernet used in modern cars? The blue line at the bottom of each box shows the typical link type.
• ADAS and automated driving — the biggest driver. Cameras, radar and lidar send raw or lightly processed data to a central computer that fuses it to understand the scene. Needs gigabit or multi-gigabit links.
• Infotainment and displays — modern cars have several HD screens and premium audio systems. Ethernet with AVB or TSN streams audio and video in sync.
• Diagnostics and over-the-air updates — DoIP lets a workshop re-flash all ECUs much faster than over CAN, and lets the car download and install large updates.
• Vehicle backbone — the multi-gigabit links between zonal controllers and the central computer that we saw in the architecture slide.
• Connectivity — the telematics unit connects the car to the cloud and to other vehicles and infrastructure (V2X), all over IP.
• Body and edge — with 10BASE-T1S, even simple devices like lights and switches can be on Ethernet, sharing a single pair.
Mention: the exact link type varies by manufacturer.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A balanced assessment.
Advantages (left, blue):
• Scalable speed — one technology family from 10 megabits to 25 gigabits.
• Lighter, cheaper wiring — a single unshielded pair and small connectors save weight and cost compared with many separate buses.
• Mature ecosystem — the internet's protocols, test tools and millions of engineers who already know them.
• Service-oriented architecture — with SOME/IP, software functions can find and use each other anywhere in the car, which is the basis for over-the-air updates and new features after purchase.
• Security options — VLANs, firewalls, MACsec encryption and TLS are all available.
Limitations (right, orange) — address them honestly; this pre-empts audience questions:
• Not deterministic out of the box — needs TSN, which adds complexity.
• Cost per node — a PHY plus a switch port costs more than a CAN transceiver, so for simple sensors CAN and LIN remain cheaper. That is why they are not disappearing.
• EMC — at multi-gigabit speeds an unshielded cable radiates and picks up noise; shielded cable is often needed.
• Attack surface — an IP network that connects to the internet can be attacked; standards like ISO/SAE 21434 now require cybersecurity engineering.
• Power and complexity — PHYs draw more power than CAN, so they need sleep and wake-up mechanisms (OPEN Alliance TC10), and switches need careful configuration and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A side-by-side comparison with the networks the audience may already know.
Go quickly row by row:
• LIN — 20 kilobits, a single wire, very cheap; used for windows, seats and mirrors.
• CAN — 1 megabit; the classic network for engine, chassis and body control.
• CAN FD — the faster version of CAN, typically around 5 megabits in the data phase.
• FlexRay — 10 megabits and time-triggered, used for chassis and x-by-wire systems.
• MOST — up to 150 megabits, used in older infotainment systems, now largely replaced by Ethernet.
• Automotive Ethernet — 10 megabits to 25 gigabits, switched, used for ADAS, the backbone, infotainment and updates.
Key message (bottom line): "Ethernet does not kill CAN and LIN. Each network keeps the job it is cheapest for, and Ethernet takes over where bandwidth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The latest developments.
1. Zonal and software-defined vehicles — as we saw, car makers are moving to central computers connected by an Ethernet backbone, so new features can be delivered by software updates during the car's life.
2. 10BASE-T1S at the edge — lets even small sensors and actuators use Ethernet on a shared pair. Then the whole car can use one protocol family end to end, without translating between CAN and Ethernet in gateways.
3. Multi-gigabit and 25 gigabit — for high-resolution cameras (8 megapixels and more) and for links between central computers.
4. Optical automotive Ethernet — IEEE 802.3dh defines multi-gigabit Ethernet over optical fibre for cars. Light is immune to electromagnetic interference, and fibre is very light.
5. Security — MACsec encrypts and authenticates every Ethernet frame on a link, so an attacker who taps a cable cannot read or inject messages.
6. Power over data lines — PoDL sends power and data over the same pair, for example to power a camera without a separate power wire. Also OPEN Alliance TC10 lets parts of the network sleep and wake up to save energy — very important in electric vehicles.
Key line: "Ethernet is spreading in both directions — down to the smallest sensor and up to 25 gigabits."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Leave this slide on screen during the whole Q&amp;A.
Return to the question from slide 3: "I started by asking how one twisted pair can deliver gigabit, real-time and secure communication in a car. Here is the answer in four points."
• Bandwidth — multi-level PAM signalling and echo cancellation let one pair carry from 10 megabits to 25 gigabits.
• Real time and security — TSN gives guaranteed timing; MACsec and firewalls protect the network.
• Architecture — the Ethernet backbone is what makes zonal, software-defined vehicles possible.
• Balance — CAN and LIN are not disappearing; they remain the cheapest choice for simple nodes, but 10BASE-T1S is starting to bring Ethernet to them too.
Close: "Thank you for your attention. I'd be happy to take questions or feedback."
(The appendix has prepared answers to likely questions — only open it if a matching question comes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present this slide in detail. Show it for a moment after the conclusions if your evaluator expects references, or keep it for the printed/PDF version.
If asked "where did you get this from": the main textbook is Matheus and Königseder, "Automotive Ethernet", Cambridge University Press; the technical numbers come from the IEEE 802.3 and 802.1 standards listed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 use only if one of these questions is asked.
Q: Will Ethernet replace CAN? A: Not in the near future. CAN and LIN are very cheap and good enough for simple nodes. What is changing is the backbone and high-bandwidth links. 10BASE-T1S is the first Ethernet type that competes with CAN on cost at the edge.
Q: Why is the reach only 15 metres? A: A car is only a few metres long, so 15 metres is enough. Designing for short reach makes the PHY simpler, cheaper and lower-power than office Ethernet's 100 metres.
Q: How is it secured? A: Several layers: VLANs separate traffic, gateways act as firewalls, MACsec encrypts and authenticates frames, TLS protects higher-level connections, and intrusion-detection systems watch for abnormal traffic. ISO/SAE 21434 requires car makers to follow a cybersecurity engineering process.
Q: Why not wireless inside the car? A: Cables give more reliable, lower-latency and more predictable communication, and are much harder to jam or eavesdrop on — essential for safety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8229600" cy="274320"/>
          </a:xfrm>
          <a:prstGeom prst="rect">
            <a:avLst/>
          </a:prstGeom>
          <a:noFill/>
          <a:ln/>
        </p:spPr>
        <p:txBody>
          <a:bodyPr wrap="square" rtlCol="0"/>
          <a:lstStyle>
            <a:lvl1pPr indent="0" marL="0">
              <a:buNone/>
              <a:defRPr lang="en-US" sz="1200" b="1" spc="1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502920"/>
            <a:ext cx="11064240" cy="868680"/>
          </a:xfrm>
          <a:prstGeom prst="rect">
            <a:avLst/>
          </a:prstGeom>
          <a:noFill/>
          <a:ln/>
        </p:spPr>
        <p:txBody>
          <a:bodyPr wrap="square" rtlCol="0"/>
          <a:lstStyle>
            <a:lvl1pPr indent="0" marL="0">
              <a:buNone/>
              <a:defRPr lang="en-US" sz="2800" b="1" dirty="0">
                <a:solidFill>
                  <a:schemeClr val="tx2"/>
                </a:solidFill>
              </a:defRPr>
            </a:lvl1pPr>
          </a:lstStyle>
          <a:p>
            <a:pPr indent="0" marL="0">
              <a:buNone/>
            </a:pPr>
            <a:endParaRPr lang="en-US" sz="28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200" dirty="0">
                <a:solidFill>
                  <a:schemeClr val="accent4"/>
                </a:solidFill>
              </a:rPr>
              <a:t>Automotive Ethernet  ·  Sharath Poojari</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97280"/>
            <a:ext cx="10058400" cy="365760"/>
          </a:xfrm>
          <a:prstGeom prst="rect">
            <a:avLst/>
          </a:prstGeom>
          <a:noFill/>
          <a:ln/>
        </p:spPr>
        <p:txBody>
          <a:bodyPr wrap="square" lIns="0" tIns="0" rIns="0" bIns="0" rtlCol="0" anchor="ctr"/>
          <a:lstStyle/>
          <a:p>
            <a:pPr indent="0" marL="0">
              <a:buNone/>
            </a:pPr>
            <a:r>
              <a:rPr lang="en-US" sz="1600" b="1" spc="200" kern="0" dirty="0">
                <a:solidFill>
                  <a:srgbClr val="9DC3E6"/>
                </a:solidFill>
                <a:latin typeface="Calibri" pitchFamily="34" charset="0"/>
                <a:ea typeface="Calibri" pitchFamily="34" charset="-122"/>
                <a:cs typeface="Calibri" pitchFamily="34" charset="-120"/>
              </a:rPr>
              <a:t>SEMINAR  ·  AUTOMOTIVE SYSTEMS AND ELECTRONICS</a:t>
            </a:r>
            <a:endParaRPr lang="en-US" sz="1600" dirty="0"/>
          </a:p>
        </p:txBody>
      </p:sp>
      <p:sp>
        <p:nvSpPr>
          <p:cNvPr id="3" name="Text 1"/>
          <p:cNvSpPr txBox="1"/>
          <p:nvPr/>
        </p:nvSpPr>
        <p:spPr>
          <a:xfrm>
            <a:off x="731520" y="1645920"/>
            <a:ext cx="10515600" cy="100584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Automotive Ethernet</a:t>
            </a:r>
            <a:endParaRPr lang="en-US" sz="5400" dirty="0"/>
          </a:p>
        </p:txBody>
      </p:sp>
      <p:sp>
        <p:nvSpPr>
          <p:cNvPr id="4" name="Text 2"/>
          <p:cNvSpPr txBox="1"/>
          <p:nvPr/>
        </p:nvSpPr>
        <p:spPr>
          <a:xfrm>
            <a:off x="731520" y="2697480"/>
            <a:ext cx="9601200" cy="914400"/>
          </a:xfrm>
          <a:prstGeom prst="rect">
            <a:avLst/>
          </a:prstGeom>
          <a:noFill/>
          <a:ln/>
        </p:spPr>
        <p:txBody>
          <a:bodyPr wrap="square" lIns="0" tIns="0" rIns="0" bIns="0" rtlCol="0" anchor="ctr"/>
          <a:lstStyle/>
          <a:p>
            <a:pPr indent="0" marL="0">
              <a:buNone/>
            </a:pPr>
            <a:r>
              <a:rPr lang="en-US" sz="2600" dirty="0">
                <a:solidFill>
                  <a:srgbClr val="DCE8F5"/>
                </a:solidFill>
                <a:latin typeface="Calibri" pitchFamily="34" charset="0"/>
                <a:ea typeface="Calibri" pitchFamily="34" charset="-122"/>
                <a:cs typeface="Calibri" pitchFamily="34" charset="-120"/>
              </a:rPr>
              <a:t>How a single twisted pair of wires is becoming the data backbone of the modern car</a:t>
            </a:r>
            <a:endParaRPr lang="en-US" sz="2600" dirty="0"/>
          </a:p>
        </p:txBody>
      </p:sp>
      <p:sp>
        <p:nvSpPr>
          <p:cNvPr id="5" name="Shape 3"/>
          <p:cNvSpPr/>
          <p:nvPr/>
        </p:nvSpPr>
        <p:spPr>
          <a:xfrm>
            <a:off x="731520" y="4160520"/>
            <a:ext cx="1463040" cy="45720"/>
          </a:xfrm>
          <a:prstGeom prst="rect">
            <a:avLst/>
          </a:prstGeom>
          <a:solidFill>
            <a:schemeClr val="accent1"/>
          </a:solidFill>
          <a:ln w="12700">
            <a:solidFill>
              <a:schemeClr val="accent1"/>
            </a:solidFill>
            <a:prstDash val="solid"/>
          </a:ln>
        </p:spPr>
      </p:sp>
      <p:sp>
        <p:nvSpPr>
          <p:cNvPr id="6" name="Text 4"/>
          <p:cNvSpPr txBox="1"/>
          <p:nvPr/>
        </p:nvSpPr>
        <p:spPr>
          <a:xfrm>
            <a:off x="731520" y="4343400"/>
            <a:ext cx="7315200" cy="4572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Sharath Poojari</a:t>
            </a:r>
            <a:endParaRPr lang="en-US" sz="2400" dirty="0"/>
          </a:p>
        </p:txBody>
      </p:sp>
      <p:sp>
        <p:nvSpPr>
          <p:cNvPr id="7" name="Text 5"/>
          <p:cNvSpPr txBox="1"/>
          <p:nvPr/>
        </p:nvSpPr>
        <p:spPr>
          <a:xfrm>
            <a:off x="731520" y="4800600"/>
            <a:ext cx="9144000" cy="411480"/>
          </a:xfrm>
          <a:prstGeom prst="rect">
            <a:avLst/>
          </a:prstGeom>
          <a:noFill/>
          <a:ln/>
        </p:spPr>
        <p:txBody>
          <a:bodyPr wrap="square" lIns="0" tIns="0" rIns="0" bIns="0" rtlCol="0" anchor="ctr"/>
          <a:lstStyle/>
          <a:p>
            <a:pPr indent="0" marL="0">
              <a:buNone/>
            </a:pPr>
            <a:r>
              <a:rPr lang="en-US" sz="1800" dirty="0">
                <a:solidFill>
                  <a:srgbClr val="BFD3E8"/>
                </a:solidFill>
                <a:latin typeface="Calibri" pitchFamily="34" charset="0"/>
                <a:ea typeface="Calibri" pitchFamily="34" charset="-122"/>
                <a:cs typeface="Calibri" pitchFamily="34" charset="-120"/>
              </a:rPr>
              <a:t>[College name]  ·  [Department]  ·  [Date]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8229600" cy="274320"/>
          </a:xfrm>
          <a:prstGeom prst="rect">
            <a:avLst/>
          </a:prstGeom>
          <a:noFill/>
          <a:ln/>
        </p:spPr>
        <p:txBody>
          <a:bodyPr wrap="square" lIns="0" tIns="0" rIns="0" bIns="0" rtlCol="0"/>
          <a:lstStyle/>
          <a:p>
            <a:pPr indent="0" marL="0">
              <a:buNone/>
            </a:pPr>
            <a:r>
              <a:rPr lang="en-US" sz="1200" b="1" spc="100" kern="0" dirty="0">
                <a:solidFill>
                  <a:schemeClr val="accent1"/>
                </a:solidFill>
              </a:rPr>
              <a:t>INTRODUCTION · MOTIVATION</a:t>
            </a:r>
            <a:endParaRPr lang="en-US" sz="1200" dirty="0"/>
          </a:p>
        </p:txBody>
      </p:sp>
      <p:sp>
        <p:nvSpPr>
          <p:cNvPr id="3" name="Text 0"/>
          <p:cNvSpPr/>
          <p:nvPr>
            <p:ph idx="101" type="title" hasCustomPrompt="1"/>
          </p:nvPr>
        </p:nvSpPr>
        <p:spPr>
          <a:xfrm>
            <a:off x="548640" y="502920"/>
            <a:ext cx="11064240" cy="868680"/>
          </a:xfrm>
          <a:prstGeom prst="rect">
            <a:avLst/>
          </a:prstGeom>
          <a:noFill/>
          <a:ln/>
        </p:spPr>
        <p:txBody>
          <a:bodyPr wrap="square" lIns="0" tIns="0" rIns="0" bIns="0" rtlCol="0" anchor="t"/>
          <a:lstStyle/>
          <a:p>
            <a:pPr indent="0" marL="0">
              <a:buNone/>
            </a:pPr>
            <a:r>
              <a:rPr lang="en-US" sz="2800" b="1" dirty="0">
                <a:solidFill>
                  <a:schemeClr val="tx2"/>
                </a:solidFill>
              </a:rPr>
              <a:t>In-vehicle data rates have outgrown the networks cars were originally built on</a:t>
            </a:r>
            <a:endParaRPr lang="en-US" sz="2800" dirty="0"/>
          </a:p>
        </p:txBody>
      </p:sp>
      <p:graphicFrame>
        <p:nvGraphicFramePr>
          <p:cNvPr id="4" name="Chart 0" descr=""/>
          <p:cNvGraphicFramePr/>
          <p:nvPr/>
        </p:nvGraphicFramePr>
        <p:xfrm>
          <a:off x="548640" y="1508760"/>
          <a:ext cx="6675120" cy="43891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89520" y="1600200"/>
            <a:ext cx="4023360" cy="1143000"/>
          </a:xfrm>
          <a:prstGeom prst="rect">
            <a:avLst/>
          </a:prstGeom>
          <a:solidFill>
            <a:schemeClr val="accent6"/>
          </a:solidFill>
          <a:ln w="12700">
            <a:solidFill>
              <a:schemeClr val="accent2"/>
            </a:solidFill>
            <a:prstDash val="solid"/>
          </a:ln>
        </p:spPr>
      </p:sp>
      <p:sp>
        <p:nvSpPr>
          <p:cNvPr id="6" name="Text 3"/>
          <p:cNvSpPr txBox="1"/>
          <p:nvPr/>
        </p:nvSpPr>
        <p:spPr>
          <a:xfrm>
            <a:off x="7772400" y="1691640"/>
            <a:ext cx="3657600" cy="960120"/>
          </a:xfrm>
          <a:prstGeom prst="rect">
            <a:avLst/>
          </a:prstGeom>
          <a:noFill/>
          <a:ln/>
        </p:spPr>
        <p:txBody>
          <a:bodyPr wrap="square" lIns="0" tIns="0" rIns="0" bIns="0" rtlCol="0" anchor="ctr"/>
          <a:lstStyle/>
          <a:p>
            <a:pPr indent="0" marL="0">
              <a:buNone/>
            </a:pPr>
            <a:r>
              <a:rPr lang="en-US" sz="2600" b="1" dirty="0">
                <a:solidFill>
                  <a:schemeClr val="accent2"/>
                </a:solidFill>
                <a:latin typeface="Calibri" pitchFamily="34" charset="0"/>
                <a:ea typeface="Calibri" pitchFamily="34" charset="-122"/>
                <a:cs typeface="Calibri" pitchFamily="34" charset="-120"/>
              </a:rPr>
              <a:t>≈ 1,500 Mbit/s</a:t>
            </a:r>
            <a:endParaRPr lang="en-US" sz="2600" dirty="0"/>
          </a:p>
          <a:p>
            <a:pPr indent="0" marL="0">
              <a:buNone/>
            </a:pPr>
            <a:r>
              <a:rPr lang="en-US" sz="1600" dirty="0">
                <a:solidFill>
                  <a:schemeClr val="tx1"/>
                </a:solidFill>
                <a:latin typeface="Calibri" pitchFamily="34" charset="0"/>
                <a:ea typeface="Calibri" pitchFamily="34" charset="-122"/>
                <a:cs typeface="Calibri" pitchFamily="34" charset="-120"/>
              </a:rPr>
              <a:t>one raw 1080p camera at 30 fps — 1,500× a CAN bus</a:t>
            </a:r>
            <a:endParaRPr lang="en-US" sz="2600" dirty="0"/>
          </a:p>
        </p:txBody>
      </p:sp>
      <p:sp>
        <p:nvSpPr>
          <p:cNvPr id="7" name="Text 4"/>
          <p:cNvSpPr txBox="1"/>
          <p:nvPr/>
        </p:nvSpPr>
        <p:spPr>
          <a:xfrm>
            <a:off x="7589520" y="2971800"/>
            <a:ext cx="4023360" cy="365760"/>
          </a:xfrm>
          <a:prstGeom prst="rect">
            <a:avLst/>
          </a:prstGeom>
          <a:noFill/>
          <a:ln/>
        </p:spPr>
        <p:txBody>
          <a:bodyPr wrap="square" lIns="0" tIns="0" rIns="0" bIns="0" rtlCol="0" anchor="ctr"/>
          <a:lstStyle/>
          <a:p>
            <a:pPr indent="0" marL="0">
              <a:buNone/>
            </a:pPr>
            <a:r>
              <a:rPr lang="en-US" sz="2000" b="1" dirty="0">
                <a:solidFill>
                  <a:schemeClr val="accent1"/>
                </a:solidFill>
                <a:latin typeface="Calibri" pitchFamily="34" charset="0"/>
                <a:ea typeface="Calibri" pitchFamily="34" charset="-122"/>
                <a:cs typeface="Calibri" pitchFamily="34" charset="-120"/>
              </a:rPr>
              <a:t>What drives the demand</a:t>
            </a:r>
            <a:endParaRPr lang="en-US" sz="2000" dirty="0"/>
          </a:p>
        </p:txBody>
      </p:sp>
      <p:sp>
        <p:nvSpPr>
          <p:cNvPr id="8" name="Text 5"/>
          <p:cNvSpPr txBox="1"/>
          <p:nvPr/>
        </p:nvSpPr>
        <p:spPr>
          <a:xfrm>
            <a:off x="7589520" y="3383280"/>
            <a:ext cx="4023360" cy="2194560"/>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chemeClr val="tx1"/>
                </a:solidFill>
                <a:latin typeface="Calibri" pitchFamily="34" charset="0"/>
                <a:ea typeface="Calibri" pitchFamily="34" charset="-122"/>
                <a:cs typeface="Calibri" pitchFamily="34" charset="-120"/>
              </a:rPr>
              <a:t>ECUs: </a:t>
            </a:r>
            <a:pPr indent="0" marL="0">
              <a:spcAft>
                <a:spcPts val="800"/>
              </a:spcAft>
              <a:buNone/>
            </a:pPr>
            <a:r>
              <a:rPr lang="en-US" sz="1800" dirty="0">
                <a:solidFill>
                  <a:schemeClr val="tx1"/>
                </a:solidFill>
                <a:latin typeface="Calibri" pitchFamily="34" charset="0"/>
                <a:ea typeface="Calibri" pitchFamily="34" charset="-122"/>
                <a:cs typeface="Calibri" pitchFamily="34" charset="-120"/>
              </a:rPr>
              <a:t>dozens to 100+ per car</a:t>
            </a:r>
            <a:endParaRPr lang="en-US" sz="1800" dirty="0"/>
          </a:p>
          <a:p>
            <a:pPr marL="228600" indent="-228600">
              <a:spcAft>
                <a:spcPts val="800"/>
              </a:spcAft>
              <a:buSzPct val="100000"/>
              <a:buChar char="•"/>
            </a:pPr>
            <a:r>
              <a:rPr lang="en-US" sz="1800" b="1" dirty="0">
                <a:solidFill>
                  <a:schemeClr val="tx1"/>
                </a:solidFill>
                <a:latin typeface="Calibri" pitchFamily="34" charset="0"/>
                <a:ea typeface="Calibri" pitchFamily="34" charset="-122"/>
                <a:cs typeface="Calibri" pitchFamily="34" charset="-120"/>
              </a:rPr>
              <a:t>Sensors: </a:t>
            </a:r>
            <a:pPr indent="0" marL="0">
              <a:spcAft>
                <a:spcPts val="800"/>
              </a:spcAft>
              <a:buNone/>
            </a:pPr>
            <a:r>
              <a:rPr lang="en-US" sz="1800" dirty="0">
                <a:solidFill>
                  <a:schemeClr val="tx1"/>
                </a:solidFill>
                <a:latin typeface="Calibri" pitchFamily="34" charset="0"/>
                <a:ea typeface="Calibri" pitchFamily="34" charset="-122"/>
                <a:cs typeface="Calibri" pitchFamily="34" charset="-120"/>
              </a:rPr>
              <a:t>cameras, radar, lidar</a:t>
            </a:r>
            <a:endParaRPr lang="en-US" sz="1800" dirty="0"/>
          </a:p>
          <a:p>
            <a:pPr marL="228600" indent="-228600">
              <a:spcAft>
                <a:spcPts val="800"/>
              </a:spcAft>
              <a:buSzPct val="100000"/>
              <a:buChar char="•"/>
            </a:pPr>
            <a:r>
              <a:rPr lang="en-US" sz="1800" b="1" dirty="0">
                <a:solidFill>
                  <a:schemeClr val="tx1"/>
                </a:solidFill>
                <a:latin typeface="Calibri" pitchFamily="34" charset="0"/>
                <a:ea typeface="Calibri" pitchFamily="34" charset="-122"/>
                <a:cs typeface="Calibri" pitchFamily="34" charset="-120"/>
              </a:rPr>
              <a:t>Harness: </a:t>
            </a:r>
            <a:pPr indent="0" marL="0">
              <a:spcAft>
                <a:spcPts val="800"/>
              </a:spcAft>
              <a:buNone/>
            </a:pPr>
            <a:r>
              <a:rPr lang="en-US" sz="1800" dirty="0">
                <a:solidFill>
                  <a:schemeClr val="tx1"/>
                </a:solidFill>
                <a:latin typeface="Calibri" pitchFamily="34" charset="0"/>
                <a:ea typeface="Calibri" pitchFamily="34" charset="-122"/>
                <a:cs typeface="Calibri" pitchFamily="34" charset="-120"/>
              </a:rPr>
              <a:t>heavy, costly wiring</a:t>
            </a:r>
            <a:endParaRPr lang="en-US" sz="1800" dirty="0"/>
          </a:p>
          <a:p>
            <a:pPr marL="228600" indent="-228600">
              <a:spcAft>
                <a:spcPts val="800"/>
              </a:spcAft>
              <a:buSzPct val="100000"/>
              <a:buChar char="•"/>
            </a:pPr>
            <a:r>
              <a:rPr lang="en-US" sz="1800" b="1" dirty="0">
                <a:solidFill>
                  <a:schemeClr val="tx1"/>
                </a:solidFill>
                <a:latin typeface="Calibri" pitchFamily="34" charset="0"/>
                <a:ea typeface="Calibri" pitchFamily="34" charset="-122"/>
                <a:cs typeface="Calibri" pitchFamily="34" charset="-120"/>
              </a:rPr>
              <a:t>Software: </a:t>
            </a:r>
            <a:pPr indent="0" marL="0">
              <a:spcAft>
                <a:spcPts val="800"/>
              </a:spcAft>
              <a:buNone/>
            </a:pPr>
            <a:r>
              <a:rPr lang="en-US" sz="1800" dirty="0">
                <a:solidFill>
                  <a:schemeClr val="tx1"/>
                </a:solidFill>
                <a:latin typeface="Calibri" pitchFamily="34" charset="0"/>
                <a:ea typeface="Calibri" pitchFamily="34" charset="-122"/>
                <a:cs typeface="Calibri" pitchFamily="34" charset="-120"/>
              </a:rPr>
              <a:t>GB-size OTA updates</a:t>
            </a:r>
            <a:endParaRPr lang="en-US" sz="1800" dirty="0"/>
          </a:p>
        </p:txBody>
      </p:sp>
      <p:sp>
        <p:nvSpPr>
          <p:cNvPr id="9" name="Text 6"/>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200" dirty="0">
                <a:solidFill>
                  <a:schemeClr val="accent4"/>
                </a:solidFill>
                <a:latin typeface="Calibri" pitchFamily="34" charset="0"/>
                <a:ea typeface="Calibri" pitchFamily="34" charset="-122"/>
                <a:cs typeface="Calibri" pitchFamily="34" charset="-120"/>
              </a:rPr>
              <a:t>Rates: ISO 17987 (LIN), ISO 11898 (CAN, CAN FD typical data phase), ISO 17458 (FlexRay), MOST150, IEEE 802.3bw/bp/ch. Camera: 1920×1080 px × 24 bit × 30 fps.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8229600" cy="274320"/>
          </a:xfrm>
          <a:prstGeom prst="rect">
            <a:avLst/>
          </a:prstGeom>
          <a:noFill/>
          <a:ln/>
        </p:spPr>
        <p:txBody>
          <a:bodyPr wrap="square" lIns="0" tIns="0" rIns="0" bIns="0" rtlCol="0"/>
          <a:lstStyle/>
          <a:p>
            <a:pPr indent="0" marL="0">
              <a:buNone/>
            </a:pPr>
            <a:r>
              <a:rPr lang="en-US" sz="1200" b="1" spc="100" kern="0" dirty="0">
                <a:solidFill>
                  <a:schemeClr val="accent1"/>
                </a:solidFill>
              </a:rPr>
              <a:t>INTRODUCTION · SEMINAR QUESTION</a:t>
            </a:r>
            <a:endParaRPr lang="en-US" sz="1200" dirty="0"/>
          </a:p>
        </p:txBody>
      </p:sp>
      <p:sp>
        <p:nvSpPr>
          <p:cNvPr id="3" name="Text 0"/>
          <p:cNvSpPr/>
          <p:nvPr>
            <p:ph idx="101" type="title" hasCustomPrompt="1"/>
          </p:nvPr>
        </p:nvSpPr>
        <p:spPr>
          <a:xfrm>
            <a:off x="548640" y="502920"/>
            <a:ext cx="11064240" cy="868680"/>
          </a:xfrm>
          <a:prstGeom prst="rect">
            <a:avLst/>
          </a:prstGeom>
          <a:noFill/>
          <a:ln/>
        </p:spPr>
        <p:txBody>
          <a:bodyPr wrap="square" lIns="0" tIns="0" rIns="0" bIns="0" rtlCol="0" anchor="t"/>
          <a:lstStyle/>
          <a:p>
            <a:pPr indent="0" marL="0">
              <a:buNone/>
            </a:pPr>
            <a:r>
              <a:rPr lang="en-US" sz="2800" b="1" dirty="0">
                <a:solidFill>
                  <a:schemeClr val="tx2"/>
                </a:solidFill>
              </a:rPr>
              <a:t>This seminar asks how Automotive Ethernet meets the car’s bandwidth, cost and real-time needs</a:t>
            </a:r>
            <a:endParaRPr lang="en-US" sz="2800" dirty="0"/>
          </a:p>
        </p:txBody>
      </p:sp>
      <p:sp>
        <p:nvSpPr>
          <p:cNvPr id="4" name="Shape 2"/>
          <p:cNvSpPr/>
          <p:nvPr/>
        </p:nvSpPr>
        <p:spPr>
          <a:xfrm>
            <a:off x="548640" y="1600200"/>
            <a:ext cx="11064240" cy="1234440"/>
          </a:xfrm>
          <a:prstGeom prst="rect">
            <a:avLst/>
          </a:prstGeom>
          <a:solidFill>
            <a:schemeClr val="bg2"/>
          </a:solidFill>
          <a:ln w="19050">
            <a:solidFill>
              <a:schemeClr val="accent1"/>
            </a:solidFill>
            <a:prstDash val="solid"/>
          </a:ln>
        </p:spPr>
      </p:sp>
      <p:sp>
        <p:nvSpPr>
          <p:cNvPr id="5" name="Text 3"/>
          <p:cNvSpPr txBox="1"/>
          <p:nvPr/>
        </p:nvSpPr>
        <p:spPr>
          <a:xfrm>
            <a:off x="822960" y="1691640"/>
            <a:ext cx="10515600" cy="1051560"/>
          </a:xfrm>
          <a:prstGeom prst="rect">
            <a:avLst/>
          </a:prstGeom>
          <a:noFill/>
          <a:ln/>
        </p:spPr>
        <p:txBody>
          <a:bodyPr wrap="square" lIns="0" tIns="0" rIns="0" bIns="0" rtlCol="0" anchor="ctr"/>
          <a:lstStyle/>
          <a:p>
            <a:pPr indent="0" marL="0">
              <a:buNone/>
            </a:pPr>
            <a:r>
              <a:rPr lang="en-US" sz="2200" dirty="0">
                <a:solidFill>
                  <a:schemeClr val="tx2"/>
                </a:solidFill>
                <a:latin typeface="Calibri" pitchFamily="34" charset="0"/>
                <a:ea typeface="Calibri" pitchFamily="34" charset="-122"/>
                <a:cs typeface="Calibri" pitchFamily="34" charset="-120"/>
              </a:rPr>
              <a:t>How can one unshielded twisted pair deliver gigabit, deterministic and secure communication in the harsh, cost-sensitive environment of a vehicle?</a:t>
            </a:r>
            <a:endParaRPr lang="en-US" sz="2200" dirty="0"/>
          </a:p>
        </p:txBody>
      </p:sp>
      <p:sp>
        <p:nvSpPr>
          <p:cNvPr id="6" name="Text 4"/>
          <p:cNvSpPr txBox="1"/>
          <p:nvPr/>
        </p:nvSpPr>
        <p:spPr>
          <a:xfrm>
            <a:off x="548640" y="3154680"/>
            <a:ext cx="5486400" cy="365760"/>
          </a:xfrm>
          <a:prstGeom prst="rect">
            <a:avLst/>
          </a:prstGeom>
          <a:noFill/>
          <a:ln/>
        </p:spPr>
        <p:txBody>
          <a:bodyPr wrap="square" lIns="0" tIns="0" rIns="0" bIns="0" rtlCol="0" anchor="ctr"/>
          <a:lstStyle/>
          <a:p>
            <a:pPr indent="0" marL="0">
              <a:buNone/>
            </a:pPr>
            <a:r>
              <a:rPr lang="en-US" sz="2000" b="1" dirty="0">
                <a:solidFill>
                  <a:schemeClr val="accent1"/>
                </a:solidFill>
                <a:latin typeface="Calibri" pitchFamily="34" charset="0"/>
                <a:ea typeface="Calibri" pitchFamily="34" charset="-122"/>
                <a:cs typeface="Calibri" pitchFamily="34" charset="-120"/>
              </a:rPr>
              <a:t>Roadmap</a:t>
            </a:r>
            <a:endParaRPr lang="en-US" sz="2000" dirty="0"/>
          </a:p>
        </p:txBody>
      </p:sp>
      <p:sp>
        <p:nvSpPr>
          <p:cNvPr id="7" name="Text 5"/>
          <p:cNvSpPr txBox="1"/>
          <p:nvPr/>
        </p:nvSpPr>
        <p:spPr>
          <a:xfrm>
            <a:off x="548640" y="3657600"/>
            <a:ext cx="457200" cy="548640"/>
          </a:xfrm>
          <a:prstGeom prst="rect">
            <a:avLst/>
          </a:prstGeom>
          <a:noFill/>
          <a:ln/>
        </p:spPr>
        <p:txBody>
          <a:bodyPr wrap="square" lIns="0" tIns="0" rIns="0" bIns="0" rtlCol="0" anchor="ctr"/>
          <a:lstStyle/>
          <a:p>
            <a:pPr indent="0" marL="0">
              <a:buNone/>
            </a:pPr>
            <a:r>
              <a:rPr lang="en-US" sz="2400" b="1" dirty="0">
                <a:solidFill>
                  <a:schemeClr val="accent1"/>
                </a:solidFill>
                <a:latin typeface="Calibri" pitchFamily="34" charset="0"/>
                <a:ea typeface="Calibri" pitchFamily="34" charset="-122"/>
                <a:cs typeface="Calibri" pitchFamily="34" charset="-120"/>
              </a:rPr>
              <a:t>1</a:t>
            </a:r>
            <a:endParaRPr lang="en-US" sz="2400" dirty="0"/>
          </a:p>
        </p:txBody>
      </p:sp>
      <p:sp>
        <p:nvSpPr>
          <p:cNvPr id="8" name="Text 6"/>
          <p:cNvSpPr txBox="1"/>
          <p:nvPr/>
        </p:nvSpPr>
        <p:spPr>
          <a:xfrm>
            <a:off x="1051560" y="3657600"/>
            <a:ext cx="4937760" cy="548640"/>
          </a:xfrm>
          <a:prstGeom prst="rect">
            <a:avLst/>
          </a:prstGeom>
          <a:noFill/>
          <a:ln/>
        </p:spPr>
        <p:txBody>
          <a:bodyPr wrap="square" lIns="0" tIns="0" rIns="0" bIns="0" rtlCol="0" anchor="ctr"/>
          <a:lstStyle/>
          <a:p>
            <a:pPr indent="0" marL="0">
              <a:buNone/>
            </a:pPr>
            <a:r>
              <a:rPr lang="en-US" sz="2000" dirty="0">
                <a:solidFill>
                  <a:schemeClr val="tx1"/>
                </a:solidFill>
                <a:latin typeface="Calibri" pitchFamily="34" charset="0"/>
                <a:ea typeface="Calibri" pitchFamily="34" charset="-122"/>
                <a:cs typeface="Calibri" pitchFamily="34" charset="-120"/>
              </a:rPr>
              <a:t>Concept and evolution</a:t>
            </a:r>
            <a:endParaRPr lang="en-US" sz="2000" dirty="0"/>
          </a:p>
        </p:txBody>
      </p:sp>
      <p:sp>
        <p:nvSpPr>
          <p:cNvPr id="9" name="Text 7"/>
          <p:cNvSpPr txBox="1"/>
          <p:nvPr/>
        </p:nvSpPr>
        <p:spPr>
          <a:xfrm>
            <a:off x="548640" y="4389120"/>
            <a:ext cx="457200" cy="548640"/>
          </a:xfrm>
          <a:prstGeom prst="rect">
            <a:avLst/>
          </a:prstGeom>
          <a:noFill/>
          <a:ln/>
        </p:spPr>
        <p:txBody>
          <a:bodyPr wrap="square" lIns="0" tIns="0" rIns="0" bIns="0" rtlCol="0" anchor="ctr"/>
          <a:lstStyle/>
          <a:p>
            <a:pPr indent="0" marL="0">
              <a:buNone/>
            </a:pPr>
            <a:r>
              <a:rPr lang="en-US" sz="2400" b="1" dirty="0">
                <a:solidFill>
                  <a:schemeClr val="accent1"/>
                </a:solidFill>
                <a:latin typeface="Calibri" pitchFamily="34" charset="0"/>
                <a:ea typeface="Calibri" pitchFamily="34" charset="-122"/>
                <a:cs typeface="Calibri" pitchFamily="34" charset="-120"/>
              </a:rPr>
              <a:t>2</a:t>
            </a:r>
            <a:endParaRPr lang="en-US" sz="2400" dirty="0"/>
          </a:p>
        </p:txBody>
      </p:sp>
      <p:sp>
        <p:nvSpPr>
          <p:cNvPr id="10" name="Text 8"/>
          <p:cNvSpPr txBox="1"/>
          <p:nvPr/>
        </p:nvSpPr>
        <p:spPr>
          <a:xfrm>
            <a:off x="1051560" y="4389120"/>
            <a:ext cx="4937760" cy="548640"/>
          </a:xfrm>
          <a:prstGeom prst="rect">
            <a:avLst/>
          </a:prstGeom>
          <a:noFill/>
          <a:ln/>
        </p:spPr>
        <p:txBody>
          <a:bodyPr wrap="square" lIns="0" tIns="0" rIns="0" bIns="0" rtlCol="0" anchor="ctr"/>
          <a:lstStyle/>
          <a:p>
            <a:pPr indent="0" marL="0">
              <a:buNone/>
            </a:pPr>
            <a:r>
              <a:rPr lang="en-US" sz="2000" dirty="0">
                <a:solidFill>
                  <a:schemeClr val="tx1"/>
                </a:solidFill>
                <a:latin typeface="Calibri" pitchFamily="34" charset="0"/>
                <a:ea typeface="Calibri" pitchFamily="34" charset="-122"/>
                <a:cs typeface="Calibri" pitchFamily="34" charset="-120"/>
              </a:rPr>
              <a:t>Working principle and protocol stack</a:t>
            </a:r>
            <a:endParaRPr lang="en-US" sz="2000" dirty="0"/>
          </a:p>
        </p:txBody>
      </p:sp>
      <p:sp>
        <p:nvSpPr>
          <p:cNvPr id="11" name="Text 9"/>
          <p:cNvSpPr txBox="1"/>
          <p:nvPr/>
        </p:nvSpPr>
        <p:spPr>
          <a:xfrm>
            <a:off x="548640" y="5120640"/>
            <a:ext cx="457200" cy="548640"/>
          </a:xfrm>
          <a:prstGeom prst="rect">
            <a:avLst/>
          </a:prstGeom>
          <a:noFill/>
          <a:ln/>
        </p:spPr>
        <p:txBody>
          <a:bodyPr wrap="square" lIns="0" tIns="0" rIns="0" bIns="0" rtlCol="0" anchor="ctr"/>
          <a:lstStyle/>
          <a:p>
            <a:pPr indent="0" marL="0">
              <a:buNone/>
            </a:pPr>
            <a:r>
              <a:rPr lang="en-US" sz="2400" b="1" dirty="0">
                <a:solidFill>
                  <a:schemeClr val="accent1"/>
                </a:solidFill>
                <a:latin typeface="Calibri" pitchFamily="34" charset="0"/>
                <a:ea typeface="Calibri" pitchFamily="34" charset="-122"/>
                <a:cs typeface="Calibri" pitchFamily="34" charset="-120"/>
              </a:rPr>
              <a:t>3</a:t>
            </a:r>
            <a:endParaRPr lang="en-US" sz="2400" dirty="0"/>
          </a:p>
        </p:txBody>
      </p:sp>
      <p:sp>
        <p:nvSpPr>
          <p:cNvPr id="12" name="Text 10"/>
          <p:cNvSpPr txBox="1"/>
          <p:nvPr/>
        </p:nvSpPr>
        <p:spPr>
          <a:xfrm>
            <a:off x="1051560" y="5120640"/>
            <a:ext cx="4937760" cy="548640"/>
          </a:xfrm>
          <a:prstGeom prst="rect">
            <a:avLst/>
          </a:prstGeom>
          <a:noFill/>
          <a:ln/>
        </p:spPr>
        <p:txBody>
          <a:bodyPr wrap="square" lIns="0" tIns="0" rIns="0" bIns="0" rtlCol="0" anchor="ctr"/>
          <a:lstStyle/>
          <a:p>
            <a:pPr indent="0" marL="0">
              <a:buNone/>
            </a:pPr>
            <a:r>
              <a:rPr lang="en-US" sz="2000" dirty="0">
                <a:solidFill>
                  <a:schemeClr val="tx1"/>
                </a:solidFill>
                <a:latin typeface="Calibri" pitchFamily="34" charset="0"/>
                <a:ea typeface="Calibri" pitchFamily="34" charset="-122"/>
                <a:cs typeface="Calibri" pitchFamily="34" charset="-120"/>
              </a:rPr>
              <a:t>Components, block diagram, architecture</a:t>
            </a:r>
            <a:endParaRPr lang="en-US" sz="2000" dirty="0"/>
          </a:p>
        </p:txBody>
      </p:sp>
      <p:sp>
        <p:nvSpPr>
          <p:cNvPr id="13" name="Text 11"/>
          <p:cNvSpPr txBox="1"/>
          <p:nvPr/>
        </p:nvSpPr>
        <p:spPr>
          <a:xfrm>
            <a:off x="6217920" y="3657600"/>
            <a:ext cx="457200" cy="548640"/>
          </a:xfrm>
          <a:prstGeom prst="rect">
            <a:avLst/>
          </a:prstGeom>
          <a:noFill/>
          <a:ln/>
        </p:spPr>
        <p:txBody>
          <a:bodyPr wrap="square" lIns="0" tIns="0" rIns="0" bIns="0" rtlCol="0" anchor="ctr"/>
          <a:lstStyle/>
          <a:p>
            <a:pPr indent="0" marL="0">
              <a:buNone/>
            </a:pPr>
            <a:r>
              <a:rPr lang="en-US" sz="2400" b="1" dirty="0">
                <a:solidFill>
                  <a:schemeClr val="accent1"/>
                </a:solidFill>
                <a:latin typeface="Calibri" pitchFamily="34" charset="0"/>
                <a:ea typeface="Calibri" pitchFamily="34" charset="-122"/>
                <a:cs typeface="Calibri" pitchFamily="34" charset="-120"/>
              </a:rPr>
              <a:t>4</a:t>
            </a:r>
            <a:endParaRPr lang="en-US" sz="2400" dirty="0"/>
          </a:p>
        </p:txBody>
      </p:sp>
      <p:sp>
        <p:nvSpPr>
          <p:cNvPr id="14" name="Text 12"/>
          <p:cNvSpPr txBox="1"/>
          <p:nvPr/>
        </p:nvSpPr>
        <p:spPr>
          <a:xfrm>
            <a:off x="6720840" y="3657600"/>
            <a:ext cx="4937760" cy="548640"/>
          </a:xfrm>
          <a:prstGeom prst="rect">
            <a:avLst/>
          </a:prstGeom>
          <a:noFill/>
          <a:ln/>
        </p:spPr>
        <p:txBody>
          <a:bodyPr wrap="square" lIns="0" tIns="0" rIns="0" bIns="0" rtlCol="0" anchor="ctr"/>
          <a:lstStyle/>
          <a:p>
            <a:pPr indent="0" marL="0">
              <a:buNone/>
            </a:pPr>
            <a:r>
              <a:rPr lang="en-US" sz="2000" dirty="0">
                <a:solidFill>
                  <a:schemeClr val="tx1"/>
                </a:solidFill>
                <a:latin typeface="Calibri" pitchFamily="34" charset="0"/>
                <a:ea typeface="Calibri" pitchFamily="34" charset="-122"/>
                <a:cs typeface="Calibri" pitchFamily="34" charset="-120"/>
              </a:rPr>
              <a:t>Applications in modern cars</a:t>
            </a:r>
            <a:endParaRPr lang="en-US" sz="2000" dirty="0"/>
          </a:p>
        </p:txBody>
      </p:sp>
      <p:sp>
        <p:nvSpPr>
          <p:cNvPr id="15" name="Text 13"/>
          <p:cNvSpPr txBox="1"/>
          <p:nvPr/>
        </p:nvSpPr>
        <p:spPr>
          <a:xfrm>
            <a:off x="6217920" y="4389120"/>
            <a:ext cx="457200" cy="548640"/>
          </a:xfrm>
          <a:prstGeom prst="rect">
            <a:avLst/>
          </a:prstGeom>
          <a:noFill/>
          <a:ln/>
        </p:spPr>
        <p:txBody>
          <a:bodyPr wrap="square" lIns="0" tIns="0" rIns="0" bIns="0" rtlCol="0" anchor="ctr"/>
          <a:lstStyle/>
          <a:p>
            <a:pPr indent="0" marL="0">
              <a:buNone/>
            </a:pPr>
            <a:r>
              <a:rPr lang="en-US" sz="2400" b="1" dirty="0">
                <a:solidFill>
                  <a:schemeClr val="accent1"/>
                </a:solidFill>
                <a:latin typeface="Calibri" pitchFamily="34" charset="0"/>
                <a:ea typeface="Calibri" pitchFamily="34" charset="-122"/>
                <a:cs typeface="Calibri" pitchFamily="34" charset="-120"/>
              </a:rPr>
              <a:t>5</a:t>
            </a:r>
            <a:endParaRPr lang="en-US" sz="2400" dirty="0"/>
          </a:p>
        </p:txBody>
      </p:sp>
      <p:sp>
        <p:nvSpPr>
          <p:cNvPr id="16" name="Text 14"/>
          <p:cNvSpPr txBox="1"/>
          <p:nvPr/>
        </p:nvSpPr>
        <p:spPr>
          <a:xfrm>
            <a:off x="6720840" y="4389120"/>
            <a:ext cx="4937760" cy="548640"/>
          </a:xfrm>
          <a:prstGeom prst="rect">
            <a:avLst/>
          </a:prstGeom>
          <a:noFill/>
          <a:ln/>
        </p:spPr>
        <p:txBody>
          <a:bodyPr wrap="square" lIns="0" tIns="0" rIns="0" bIns="0" rtlCol="0" anchor="ctr"/>
          <a:lstStyle/>
          <a:p>
            <a:pPr indent="0" marL="0">
              <a:buNone/>
            </a:pPr>
            <a:r>
              <a:rPr lang="en-US" sz="2000" dirty="0">
                <a:solidFill>
                  <a:schemeClr val="tx1"/>
                </a:solidFill>
                <a:latin typeface="Calibri" pitchFamily="34" charset="0"/>
                <a:ea typeface="Calibri" pitchFamily="34" charset="-122"/>
                <a:cs typeface="Calibri" pitchFamily="34" charset="-120"/>
              </a:rPr>
              <a:t>Advantages, limitations, comparison</a:t>
            </a:r>
            <a:endParaRPr lang="en-US" sz="2000" dirty="0"/>
          </a:p>
        </p:txBody>
      </p:sp>
      <p:sp>
        <p:nvSpPr>
          <p:cNvPr id="17" name="Text 15"/>
          <p:cNvSpPr txBox="1"/>
          <p:nvPr/>
        </p:nvSpPr>
        <p:spPr>
          <a:xfrm>
            <a:off x="6217920" y="5120640"/>
            <a:ext cx="457200" cy="548640"/>
          </a:xfrm>
          <a:prstGeom prst="rect">
            <a:avLst/>
          </a:prstGeom>
          <a:noFill/>
          <a:ln/>
        </p:spPr>
        <p:txBody>
          <a:bodyPr wrap="square" lIns="0" tIns="0" rIns="0" bIns="0" rtlCol="0" anchor="ctr"/>
          <a:lstStyle/>
          <a:p>
            <a:pPr indent="0" marL="0">
              <a:buNone/>
            </a:pPr>
            <a:r>
              <a:rPr lang="en-US" sz="2400" b="1" dirty="0">
                <a:solidFill>
                  <a:schemeClr val="accent1"/>
                </a:solidFill>
                <a:latin typeface="Calibri" pitchFamily="34" charset="0"/>
                <a:ea typeface="Calibri" pitchFamily="34" charset="-122"/>
                <a:cs typeface="Calibri" pitchFamily="34" charset="-120"/>
              </a:rPr>
              <a:t>6</a:t>
            </a:r>
            <a:endParaRPr lang="en-US" sz="2400" dirty="0"/>
          </a:p>
        </p:txBody>
      </p:sp>
      <p:sp>
        <p:nvSpPr>
          <p:cNvPr id="18" name="Text 16"/>
          <p:cNvSpPr txBox="1"/>
          <p:nvPr/>
        </p:nvSpPr>
        <p:spPr>
          <a:xfrm>
            <a:off x="6720840" y="5120640"/>
            <a:ext cx="4937760" cy="548640"/>
          </a:xfrm>
          <a:prstGeom prst="rect">
            <a:avLst/>
          </a:prstGeom>
          <a:noFill/>
          <a:ln/>
        </p:spPr>
        <p:txBody>
          <a:bodyPr wrap="square" lIns="0" tIns="0" rIns="0" bIns="0" rtlCol="0" anchor="ctr"/>
          <a:lstStyle/>
          <a:p>
            <a:pPr indent="0" marL="0">
              <a:buNone/>
            </a:pPr>
            <a:r>
              <a:rPr lang="en-US" sz="2000" dirty="0">
                <a:solidFill>
                  <a:schemeClr val="tx1"/>
                </a:solidFill>
                <a:latin typeface="Calibri" pitchFamily="34" charset="0"/>
                <a:ea typeface="Calibri" pitchFamily="34" charset="-122"/>
                <a:cs typeface="Calibri" pitchFamily="34" charset="-120"/>
              </a:rPr>
              <a:t>Recent developments and conclusions</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8229600" cy="274320"/>
          </a:xfrm>
          <a:prstGeom prst="rect">
            <a:avLst/>
          </a:prstGeom>
          <a:noFill/>
          <a:ln/>
        </p:spPr>
        <p:txBody>
          <a:bodyPr wrap="square" lIns="0" tIns="0" rIns="0" bIns="0" rtlCol="0"/>
          <a:lstStyle/>
          <a:p>
            <a:pPr indent="0" marL="0">
              <a:buNone/>
            </a:pPr>
            <a:r>
              <a:rPr lang="en-US" sz="1200" b="1" spc="100" kern="0" dirty="0">
                <a:solidFill>
                  <a:schemeClr val="accent1"/>
                </a:solidFill>
              </a:rPr>
              <a:t>FUNDAMENTALS · CONCEPT</a:t>
            </a:r>
            <a:endParaRPr lang="en-US" sz="1200" dirty="0"/>
          </a:p>
        </p:txBody>
      </p:sp>
      <p:sp>
        <p:nvSpPr>
          <p:cNvPr id="3" name="Text 0"/>
          <p:cNvSpPr/>
          <p:nvPr>
            <p:ph idx="101" type="title" hasCustomPrompt="1"/>
          </p:nvPr>
        </p:nvSpPr>
        <p:spPr>
          <a:xfrm>
            <a:off x="548640" y="502920"/>
            <a:ext cx="11064240" cy="868680"/>
          </a:xfrm>
          <a:prstGeom prst="rect">
            <a:avLst/>
          </a:prstGeom>
          <a:noFill/>
          <a:ln/>
        </p:spPr>
        <p:txBody>
          <a:bodyPr wrap="square" lIns="0" tIns="0" rIns="0" bIns="0" rtlCol="0" anchor="t"/>
          <a:lstStyle/>
          <a:p>
            <a:pPr indent="0" marL="0">
              <a:buNone/>
            </a:pPr>
            <a:r>
              <a:rPr lang="en-US" sz="2800" b="1" dirty="0">
                <a:solidFill>
                  <a:schemeClr val="tx2"/>
                </a:solidFill>
              </a:rPr>
              <a:t>Automotive Ethernet keeps standard Ethernet and IP but replaces the physical layer with one unshielded pair</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377440"/>
                <a:gridCol w="4023360"/>
                <a:gridCol w="4663440"/>
              </a:tblGrid>
              <a:tr h="475488">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Attribute</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4E79"/>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Office Ethernet (100BASE-TX)</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4E79"/>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Automotive Ethernet (100BASE-T1)</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4E79"/>
                    </a:solidFill>
                  </a:tcPr>
                </a:tc>
              </a:tr>
              <a:tr h="475488">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Wire pairs</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2 pairs (one per direction)</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800" b="1" dirty="0">
                          <a:solidFill>
                            <a:srgbClr val="2E75B6"/>
                          </a:solidFill>
                          <a:latin typeface="Calibri" pitchFamily="34" charset="0"/>
                          <a:ea typeface="Calibri" pitchFamily="34" charset="-122"/>
                          <a:cs typeface="Calibri" pitchFamily="34" charset="-120"/>
                        </a:rPr>
                        <a:t>1 unshielded twisted pair</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r>
              <a:tr h="475488">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Duplex method</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Separate pairs for TX and RX</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800" b="1" dirty="0">
                          <a:solidFill>
                            <a:srgbClr val="2E75B6"/>
                          </a:solidFill>
                          <a:latin typeface="Calibri" pitchFamily="34" charset="0"/>
                          <a:ea typeface="Calibri" pitchFamily="34" charset="-122"/>
                          <a:cs typeface="Calibri" pitchFamily="34" charset="-120"/>
                        </a:rPr>
                        <a:t>Both directions on one pair (echo cancellation)</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r>
              <a:tr h="475488">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Line coding</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4B5B + MLT-3</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4B3B + PAM3 (3 voltage levels)</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r>
              <a:tr h="475488">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Reach</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100 m</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15 m — enough for a car</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r>
              <a:tr h="475488">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Temperature</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Office conditions</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−40 °C to +125 °C (AEC-Q100 Grade 1)</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r>
              <a:tr h="475488">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EMC requirement</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Office/IT limits</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Automotive limits (e.g. CISPR 25)</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r>
              <a:tr h="475488">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Upper layers</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Ethernet MAC, IP, TCP/UDP</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Same — software is reused</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r>
            </a:tbl>
          </a:graphicData>
        </a:graphic>
      </p:graphicFrame>
      <p:sp>
        <p:nvSpPr>
          <p:cNvPr id="5" name="Text 2"/>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200" dirty="0">
                <a:solidFill>
                  <a:schemeClr val="accent4"/>
                </a:solidFill>
                <a:latin typeface="Calibri" pitchFamily="34" charset="0"/>
                <a:ea typeface="Calibri" pitchFamily="34" charset="-122"/>
                <a:cs typeface="Calibri" pitchFamily="34" charset="-120"/>
              </a:rPr>
              <a:t>IEEE Std 802.3bw-2015 (100BASE-T1); IEEE Std 802.3 clause 25 (100BASE-TX); AEC-Q100; CISPR 25.</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8229600" cy="274320"/>
          </a:xfrm>
          <a:prstGeom prst="rect">
            <a:avLst/>
          </a:prstGeom>
          <a:noFill/>
          <a:ln/>
        </p:spPr>
        <p:txBody>
          <a:bodyPr wrap="square" lIns="0" tIns="0" rIns="0" bIns="0" rtlCol="0"/>
          <a:lstStyle/>
          <a:p>
            <a:pPr indent="0" marL="0">
              <a:buNone/>
            </a:pPr>
            <a:r>
              <a:rPr lang="en-US" sz="1200" b="1" spc="100" kern="0" dirty="0">
                <a:solidFill>
                  <a:schemeClr val="accent1"/>
                </a:solidFill>
              </a:rPr>
              <a:t>FUNDAMENTALS · EVOLUTION</a:t>
            </a:r>
            <a:endParaRPr lang="en-US" sz="1200" dirty="0"/>
          </a:p>
        </p:txBody>
      </p:sp>
      <p:sp>
        <p:nvSpPr>
          <p:cNvPr id="3" name="Text 0"/>
          <p:cNvSpPr/>
          <p:nvPr>
            <p:ph idx="101" type="title" hasCustomPrompt="1"/>
          </p:nvPr>
        </p:nvSpPr>
        <p:spPr>
          <a:xfrm>
            <a:off x="548640" y="502920"/>
            <a:ext cx="11064240" cy="868680"/>
          </a:xfrm>
          <a:prstGeom prst="rect">
            <a:avLst/>
          </a:prstGeom>
          <a:noFill/>
          <a:ln/>
        </p:spPr>
        <p:txBody>
          <a:bodyPr wrap="square" lIns="0" tIns="0" rIns="0" bIns="0" rtlCol="0" anchor="t"/>
          <a:lstStyle/>
          <a:p>
            <a:pPr indent="0" marL="0">
              <a:buNone/>
            </a:pPr>
            <a:r>
              <a:rPr lang="en-US" sz="2800" b="1" dirty="0">
                <a:solidFill>
                  <a:schemeClr val="tx2"/>
                </a:solidFill>
              </a:rPr>
              <a:t>Standardisation took Automotive Ethernet from 100 Mbit/s to 25 Gbit/s in under a decade</a:t>
            </a:r>
            <a:endParaRPr lang="en-US" sz="2800" dirty="0"/>
          </a:p>
        </p:txBody>
      </p:sp>
      <p:sp>
        <p:nvSpPr>
          <p:cNvPr id="4" name="Shape 2"/>
          <p:cNvSpPr/>
          <p:nvPr/>
        </p:nvSpPr>
        <p:spPr>
          <a:xfrm>
            <a:off x="548640" y="2788920"/>
            <a:ext cx="11064240" cy="0"/>
          </a:xfrm>
          <a:prstGeom prst="line">
            <a:avLst/>
          </a:prstGeom>
          <a:noFill/>
          <a:ln w="38100">
            <a:solidFill>
              <a:srgbClr val="D0D7DE"/>
            </a:solidFill>
            <a:prstDash val="solid"/>
          </a:ln>
        </p:spPr>
      </p:sp>
      <p:sp>
        <p:nvSpPr>
          <p:cNvPr id="5" name="Text 3"/>
          <p:cNvSpPr txBox="1"/>
          <p:nvPr/>
        </p:nvSpPr>
        <p:spPr>
          <a:xfrm>
            <a:off x="594360" y="2011680"/>
            <a:ext cx="1489166" cy="502920"/>
          </a:xfrm>
          <a:prstGeom prst="rect">
            <a:avLst/>
          </a:prstGeom>
          <a:noFill/>
          <a:ln/>
        </p:spPr>
        <p:txBody>
          <a:bodyPr wrap="square" lIns="0" tIns="0" rIns="0" bIns="0" rtlCol="0" anchor="ctr"/>
          <a:lstStyle/>
          <a:p>
            <a:pPr algn="ctr" indent="0" marL="0">
              <a:buNone/>
            </a:pPr>
            <a:r>
              <a:rPr lang="en-US" sz="2400" b="1" dirty="0">
                <a:solidFill>
                  <a:schemeClr val="accent1"/>
                </a:solidFill>
                <a:latin typeface="Calibri" pitchFamily="34" charset="0"/>
                <a:ea typeface="Calibri" pitchFamily="34" charset="-122"/>
                <a:cs typeface="Calibri" pitchFamily="34" charset="-120"/>
              </a:rPr>
              <a:t>2008</a:t>
            </a:r>
            <a:endParaRPr lang="en-US" sz="2400" dirty="0"/>
          </a:p>
        </p:txBody>
      </p:sp>
      <p:sp>
        <p:nvSpPr>
          <p:cNvPr id="6" name="Shape 4"/>
          <p:cNvSpPr/>
          <p:nvPr/>
        </p:nvSpPr>
        <p:spPr>
          <a:xfrm>
            <a:off x="1220071" y="2670048"/>
            <a:ext cx="237744" cy="237744"/>
          </a:xfrm>
          <a:prstGeom prst="ellipse">
            <a:avLst/>
          </a:prstGeom>
          <a:solidFill>
            <a:schemeClr val="accent1"/>
          </a:solidFill>
          <a:ln w="25400">
            <a:solidFill>
              <a:schemeClr val="bg1"/>
            </a:solidFill>
            <a:prstDash val="solid"/>
          </a:ln>
        </p:spPr>
      </p:sp>
      <p:sp>
        <p:nvSpPr>
          <p:cNvPr id="7" name="Text 5"/>
          <p:cNvSpPr txBox="1"/>
          <p:nvPr/>
        </p:nvSpPr>
        <p:spPr>
          <a:xfrm>
            <a:off x="621792" y="3108960"/>
            <a:ext cx="1434302" cy="1463040"/>
          </a:xfrm>
          <a:prstGeom prst="rect">
            <a:avLst/>
          </a:prstGeom>
          <a:noFill/>
          <a:ln/>
        </p:spPr>
        <p:txBody>
          <a:bodyPr wrap="square" lIns="0" tIns="0" rIns="0" bIns="0" rtlCol="0" anchor="t"/>
          <a:lstStyle/>
          <a:p>
            <a:pPr algn="ctr" indent="0" marL="0">
              <a:buNone/>
            </a:pPr>
            <a:r>
              <a:rPr lang="en-US" sz="1600" dirty="0">
                <a:solidFill>
                  <a:schemeClr val="tx1"/>
                </a:solidFill>
                <a:latin typeface="Calibri" pitchFamily="34" charset="0"/>
                <a:ea typeface="Calibri" pitchFamily="34" charset="-122"/>
                <a:cs typeface="Calibri" pitchFamily="34" charset="-120"/>
              </a:rPr>
              <a:t>Ethernet used for diagnostics and ECU flashing</a:t>
            </a:r>
            <a:endParaRPr lang="en-US" sz="1600" dirty="0"/>
          </a:p>
        </p:txBody>
      </p:sp>
      <p:sp>
        <p:nvSpPr>
          <p:cNvPr id="8" name="Text 6"/>
          <p:cNvSpPr txBox="1"/>
          <p:nvPr/>
        </p:nvSpPr>
        <p:spPr>
          <a:xfrm>
            <a:off x="2174966" y="2011680"/>
            <a:ext cx="1489166" cy="502920"/>
          </a:xfrm>
          <a:prstGeom prst="rect">
            <a:avLst/>
          </a:prstGeom>
          <a:noFill/>
          <a:ln/>
        </p:spPr>
        <p:txBody>
          <a:bodyPr wrap="square" lIns="0" tIns="0" rIns="0" bIns="0" rtlCol="0" anchor="ctr"/>
          <a:lstStyle/>
          <a:p>
            <a:pPr algn="ctr" indent="0" marL="0">
              <a:buNone/>
            </a:pPr>
            <a:r>
              <a:rPr lang="en-US" sz="2400" b="1" dirty="0">
                <a:solidFill>
                  <a:schemeClr val="accent1"/>
                </a:solidFill>
                <a:latin typeface="Calibri" pitchFamily="34" charset="0"/>
                <a:ea typeface="Calibri" pitchFamily="34" charset="-122"/>
                <a:cs typeface="Calibri" pitchFamily="34" charset="-120"/>
              </a:rPr>
              <a:t>2011</a:t>
            </a:r>
            <a:endParaRPr lang="en-US" sz="2400" dirty="0"/>
          </a:p>
        </p:txBody>
      </p:sp>
      <p:sp>
        <p:nvSpPr>
          <p:cNvPr id="9" name="Shape 7"/>
          <p:cNvSpPr/>
          <p:nvPr/>
        </p:nvSpPr>
        <p:spPr>
          <a:xfrm>
            <a:off x="2800677" y="2670048"/>
            <a:ext cx="237744" cy="237744"/>
          </a:xfrm>
          <a:prstGeom prst="ellipse">
            <a:avLst/>
          </a:prstGeom>
          <a:solidFill>
            <a:schemeClr val="accent1"/>
          </a:solidFill>
          <a:ln w="25400">
            <a:solidFill>
              <a:schemeClr val="bg1"/>
            </a:solidFill>
            <a:prstDash val="solid"/>
          </a:ln>
        </p:spPr>
      </p:sp>
      <p:sp>
        <p:nvSpPr>
          <p:cNvPr id="10" name="Text 8"/>
          <p:cNvSpPr txBox="1"/>
          <p:nvPr/>
        </p:nvSpPr>
        <p:spPr>
          <a:xfrm>
            <a:off x="2202398" y="3108960"/>
            <a:ext cx="1434302" cy="1463040"/>
          </a:xfrm>
          <a:prstGeom prst="rect">
            <a:avLst/>
          </a:prstGeom>
          <a:noFill/>
          <a:ln/>
        </p:spPr>
        <p:txBody>
          <a:bodyPr wrap="square" lIns="0" tIns="0" rIns="0" bIns="0" rtlCol="0" anchor="t"/>
          <a:lstStyle/>
          <a:p>
            <a:pPr algn="ctr" indent="0" marL="0">
              <a:buNone/>
            </a:pPr>
            <a:r>
              <a:rPr lang="en-US" sz="1600" dirty="0">
                <a:solidFill>
                  <a:schemeClr val="tx1"/>
                </a:solidFill>
                <a:latin typeface="Calibri" pitchFamily="34" charset="0"/>
                <a:ea typeface="Calibri" pitchFamily="34" charset="-122"/>
                <a:cs typeface="Calibri" pitchFamily="34" charset="-120"/>
              </a:rPr>
              <a:t>BroadR-Reach (Broadcom); OPEN Alliance founded</a:t>
            </a:r>
            <a:endParaRPr lang="en-US" sz="1600" dirty="0"/>
          </a:p>
        </p:txBody>
      </p:sp>
      <p:sp>
        <p:nvSpPr>
          <p:cNvPr id="11" name="Text 9"/>
          <p:cNvSpPr txBox="1"/>
          <p:nvPr/>
        </p:nvSpPr>
        <p:spPr>
          <a:xfrm>
            <a:off x="3755571" y="2011680"/>
            <a:ext cx="1489166" cy="502920"/>
          </a:xfrm>
          <a:prstGeom prst="rect">
            <a:avLst/>
          </a:prstGeom>
          <a:noFill/>
          <a:ln/>
        </p:spPr>
        <p:txBody>
          <a:bodyPr wrap="square" lIns="0" tIns="0" rIns="0" bIns="0" rtlCol="0" anchor="ctr"/>
          <a:lstStyle/>
          <a:p>
            <a:pPr algn="ctr" indent="0" marL="0">
              <a:buNone/>
            </a:pPr>
            <a:r>
              <a:rPr lang="en-US" sz="2400" b="1" dirty="0">
                <a:solidFill>
                  <a:schemeClr val="accent1"/>
                </a:solidFill>
                <a:latin typeface="Calibri" pitchFamily="34" charset="0"/>
                <a:ea typeface="Calibri" pitchFamily="34" charset="-122"/>
                <a:cs typeface="Calibri" pitchFamily="34" charset="-120"/>
              </a:rPr>
              <a:t>2013</a:t>
            </a:r>
            <a:endParaRPr lang="en-US" sz="2400" dirty="0"/>
          </a:p>
        </p:txBody>
      </p:sp>
      <p:sp>
        <p:nvSpPr>
          <p:cNvPr id="12" name="Shape 10"/>
          <p:cNvSpPr/>
          <p:nvPr/>
        </p:nvSpPr>
        <p:spPr>
          <a:xfrm>
            <a:off x="4381282" y="2670048"/>
            <a:ext cx="237744" cy="237744"/>
          </a:xfrm>
          <a:prstGeom prst="ellipse">
            <a:avLst/>
          </a:prstGeom>
          <a:solidFill>
            <a:schemeClr val="accent1"/>
          </a:solidFill>
          <a:ln w="25400">
            <a:solidFill>
              <a:schemeClr val="bg1"/>
            </a:solidFill>
            <a:prstDash val="solid"/>
          </a:ln>
        </p:spPr>
      </p:sp>
      <p:sp>
        <p:nvSpPr>
          <p:cNvPr id="13" name="Text 11"/>
          <p:cNvSpPr txBox="1"/>
          <p:nvPr/>
        </p:nvSpPr>
        <p:spPr>
          <a:xfrm>
            <a:off x="3783003" y="3108960"/>
            <a:ext cx="1434302" cy="1463040"/>
          </a:xfrm>
          <a:prstGeom prst="rect">
            <a:avLst/>
          </a:prstGeom>
          <a:noFill/>
          <a:ln/>
        </p:spPr>
        <p:txBody>
          <a:bodyPr wrap="square" lIns="0" tIns="0" rIns="0" bIns="0" rtlCol="0" anchor="t"/>
          <a:lstStyle/>
          <a:p>
            <a:pPr algn="ctr" indent="0" marL="0">
              <a:buNone/>
            </a:pPr>
            <a:r>
              <a:rPr lang="en-US" sz="1600" dirty="0">
                <a:solidFill>
                  <a:schemeClr val="tx1"/>
                </a:solidFill>
                <a:latin typeface="Calibri" pitchFamily="34" charset="0"/>
                <a:ea typeface="Calibri" pitchFamily="34" charset="-122"/>
                <a:cs typeface="Calibri" pitchFamily="34" charset="-120"/>
              </a:rPr>
              <a:t>First in-vehicle camera network in series production</a:t>
            </a:r>
            <a:endParaRPr lang="en-US" sz="1600" dirty="0"/>
          </a:p>
        </p:txBody>
      </p:sp>
      <p:sp>
        <p:nvSpPr>
          <p:cNvPr id="14" name="Text 12"/>
          <p:cNvSpPr txBox="1"/>
          <p:nvPr/>
        </p:nvSpPr>
        <p:spPr>
          <a:xfrm>
            <a:off x="5336177" y="2011680"/>
            <a:ext cx="1489166" cy="502920"/>
          </a:xfrm>
          <a:prstGeom prst="rect">
            <a:avLst/>
          </a:prstGeom>
          <a:noFill/>
          <a:ln/>
        </p:spPr>
        <p:txBody>
          <a:bodyPr wrap="square" lIns="0" tIns="0" rIns="0" bIns="0" rtlCol="0" anchor="ctr"/>
          <a:lstStyle/>
          <a:p>
            <a:pPr algn="ctr" indent="0" marL="0">
              <a:buNone/>
            </a:pPr>
            <a:r>
              <a:rPr lang="en-US" sz="2400" b="1" dirty="0">
                <a:solidFill>
                  <a:schemeClr val="accent2"/>
                </a:solidFill>
                <a:latin typeface="Calibri" pitchFamily="34" charset="0"/>
                <a:ea typeface="Calibri" pitchFamily="34" charset="-122"/>
                <a:cs typeface="Calibri" pitchFamily="34" charset="-120"/>
              </a:rPr>
              <a:t>2015</a:t>
            </a:r>
            <a:endParaRPr lang="en-US" sz="2400" dirty="0"/>
          </a:p>
        </p:txBody>
      </p:sp>
      <p:sp>
        <p:nvSpPr>
          <p:cNvPr id="15" name="Shape 13"/>
          <p:cNvSpPr/>
          <p:nvPr/>
        </p:nvSpPr>
        <p:spPr>
          <a:xfrm>
            <a:off x="5961888" y="2670048"/>
            <a:ext cx="237744" cy="237744"/>
          </a:xfrm>
          <a:prstGeom prst="ellipse">
            <a:avLst/>
          </a:prstGeom>
          <a:solidFill>
            <a:schemeClr val="accent2"/>
          </a:solidFill>
          <a:ln w="25400">
            <a:solidFill>
              <a:schemeClr val="bg1"/>
            </a:solidFill>
            <a:prstDash val="solid"/>
          </a:ln>
        </p:spPr>
      </p:sp>
      <p:sp>
        <p:nvSpPr>
          <p:cNvPr id="16" name="Text 14"/>
          <p:cNvSpPr txBox="1"/>
          <p:nvPr/>
        </p:nvSpPr>
        <p:spPr>
          <a:xfrm>
            <a:off x="5363609" y="3108960"/>
            <a:ext cx="1434302" cy="1463040"/>
          </a:xfrm>
          <a:prstGeom prst="rect">
            <a:avLst/>
          </a:prstGeom>
          <a:noFill/>
          <a:ln/>
        </p:spPr>
        <p:txBody>
          <a:bodyPr wrap="square" lIns="0" tIns="0" rIns="0" bIns="0" rtlCol="0" anchor="t"/>
          <a:lstStyle/>
          <a:p>
            <a:pPr algn="ctr" indent="0" marL="0">
              <a:buNone/>
            </a:pPr>
            <a:r>
              <a:rPr lang="en-US" sz="1600" dirty="0">
                <a:solidFill>
                  <a:schemeClr val="tx1"/>
                </a:solidFill>
                <a:latin typeface="Calibri" pitchFamily="34" charset="0"/>
                <a:ea typeface="Calibri" pitchFamily="34" charset="-122"/>
                <a:cs typeface="Calibri" pitchFamily="34" charset="-120"/>
              </a:rPr>
              <a:t>IEEE 802.3bw: 100BASE-T1</a:t>
            </a:r>
            <a:endParaRPr lang="en-US" sz="1600" dirty="0"/>
          </a:p>
        </p:txBody>
      </p:sp>
      <p:sp>
        <p:nvSpPr>
          <p:cNvPr id="17" name="Text 15"/>
          <p:cNvSpPr txBox="1"/>
          <p:nvPr/>
        </p:nvSpPr>
        <p:spPr>
          <a:xfrm>
            <a:off x="6916783" y="2011680"/>
            <a:ext cx="1489166" cy="502920"/>
          </a:xfrm>
          <a:prstGeom prst="rect">
            <a:avLst/>
          </a:prstGeom>
          <a:noFill/>
          <a:ln/>
        </p:spPr>
        <p:txBody>
          <a:bodyPr wrap="square" lIns="0" tIns="0" rIns="0" bIns="0" rtlCol="0" anchor="ctr"/>
          <a:lstStyle/>
          <a:p>
            <a:pPr algn="ctr" indent="0" marL="0">
              <a:buNone/>
            </a:pPr>
            <a:r>
              <a:rPr lang="en-US" sz="2400" b="1" dirty="0">
                <a:solidFill>
                  <a:schemeClr val="accent2"/>
                </a:solidFill>
                <a:latin typeface="Calibri" pitchFamily="34" charset="0"/>
                <a:ea typeface="Calibri" pitchFamily="34" charset="-122"/>
                <a:cs typeface="Calibri" pitchFamily="34" charset="-120"/>
              </a:rPr>
              <a:t>2016</a:t>
            </a:r>
            <a:endParaRPr lang="en-US" sz="2400" dirty="0"/>
          </a:p>
        </p:txBody>
      </p:sp>
      <p:sp>
        <p:nvSpPr>
          <p:cNvPr id="18" name="Shape 16"/>
          <p:cNvSpPr/>
          <p:nvPr/>
        </p:nvSpPr>
        <p:spPr>
          <a:xfrm>
            <a:off x="7542494" y="2670048"/>
            <a:ext cx="237744" cy="237744"/>
          </a:xfrm>
          <a:prstGeom prst="ellipse">
            <a:avLst/>
          </a:prstGeom>
          <a:solidFill>
            <a:schemeClr val="accent2"/>
          </a:solidFill>
          <a:ln w="25400">
            <a:solidFill>
              <a:schemeClr val="bg1"/>
            </a:solidFill>
            <a:prstDash val="solid"/>
          </a:ln>
        </p:spPr>
      </p:sp>
      <p:sp>
        <p:nvSpPr>
          <p:cNvPr id="19" name="Text 17"/>
          <p:cNvSpPr txBox="1"/>
          <p:nvPr/>
        </p:nvSpPr>
        <p:spPr>
          <a:xfrm>
            <a:off x="6944215" y="3108960"/>
            <a:ext cx="1434302" cy="1463040"/>
          </a:xfrm>
          <a:prstGeom prst="rect">
            <a:avLst/>
          </a:prstGeom>
          <a:noFill/>
          <a:ln/>
        </p:spPr>
        <p:txBody>
          <a:bodyPr wrap="square" lIns="0" tIns="0" rIns="0" bIns="0" rtlCol="0" anchor="t"/>
          <a:lstStyle/>
          <a:p>
            <a:pPr algn="ctr" indent="0" marL="0">
              <a:buNone/>
            </a:pPr>
            <a:r>
              <a:rPr lang="en-US" sz="1600" dirty="0">
                <a:solidFill>
                  <a:schemeClr val="tx1"/>
                </a:solidFill>
                <a:latin typeface="Calibri" pitchFamily="34" charset="0"/>
                <a:ea typeface="Calibri" pitchFamily="34" charset="-122"/>
                <a:cs typeface="Calibri" pitchFamily="34" charset="-120"/>
              </a:rPr>
              <a:t>IEEE 802.3bp: 1000BASE-T1</a:t>
            </a:r>
            <a:endParaRPr lang="en-US" sz="1600" dirty="0"/>
          </a:p>
        </p:txBody>
      </p:sp>
      <p:sp>
        <p:nvSpPr>
          <p:cNvPr id="20" name="Text 18"/>
          <p:cNvSpPr txBox="1"/>
          <p:nvPr/>
        </p:nvSpPr>
        <p:spPr>
          <a:xfrm>
            <a:off x="8497389" y="2011680"/>
            <a:ext cx="1489166" cy="502920"/>
          </a:xfrm>
          <a:prstGeom prst="rect">
            <a:avLst/>
          </a:prstGeom>
          <a:noFill/>
          <a:ln/>
        </p:spPr>
        <p:txBody>
          <a:bodyPr wrap="square" lIns="0" tIns="0" rIns="0" bIns="0" rtlCol="0" anchor="ctr"/>
          <a:lstStyle/>
          <a:p>
            <a:pPr algn="ctr" indent="0" marL="0">
              <a:buNone/>
            </a:pPr>
            <a:r>
              <a:rPr lang="en-US" sz="2400" b="1" dirty="0">
                <a:solidFill>
                  <a:schemeClr val="accent2"/>
                </a:solidFill>
                <a:latin typeface="Calibri" pitchFamily="34" charset="0"/>
                <a:ea typeface="Calibri" pitchFamily="34" charset="-122"/>
                <a:cs typeface="Calibri" pitchFamily="34" charset="-120"/>
              </a:rPr>
              <a:t>2019–20</a:t>
            </a:r>
            <a:endParaRPr lang="en-US" sz="2400" dirty="0"/>
          </a:p>
        </p:txBody>
      </p:sp>
      <p:sp>
        <p:nvSpPr>
          <p:cNvPr id="21" name="Shape 19"/>
          <p:cNvSpPr/>
          <p:nvPr/>
        </p:nvSpPr>
        <p:spPr>
          <a:xfrm>
            <a:off x="9123099" y="2670048"/>
            <a:ext cx="237744" cy="237744"/>
          </a:xfrm>
          <a:prstGeom prst="ellipse">
            <a:avLst/>
          </a:prstGeom>
          <a:solidFill>
            <a:schemeClr val="accent2"/>
          </a:solidFill>
          <a:ln w="25400">
            <a:solidFill>
              <a:schemeClr val="bg1"/>
            </a:solidFill>
            <a:prstDash val="solid"/>
          </a:ln>
        </p:spPr>
      </p:sp>
      <p:sp>
        <p:nvSpPr>
          <p:cNvPr id="22" name="Text 20"/>
          <p:cNvSpPr txBox="1"/>
          <p:nvPr/>
        </p:nvSpPr>
        <p:spPr>
          <a:xfrm>
            <a:off x="8524821" y="3108960"/>
            <a:ext cx="1434302" cy="1463040"/>
          </a:xfrm>
          <a:prstGeom prst="rect">
            <a:avLst/>
          </a:prstGeom>
          <a:noFill/>
          <a:ln/>
        </p:spPr>
        <p:txBody>
          <a:bodyPr wrap="square" lIns="0" tIns="0" rIns="0" bIns="0" rtlCol="0" anchor="t"/>
          <a:lstStyle/>
          <a:p>
            <a:pPr algn="ctr" indent="0" marL="0">
              <a:buNone/>
            </a:pPr>
            <a:r>
              <a:rPr lang="en-US" sz="1600" dirty="0">
                <a:solidFill>
                  <a:schemeClr val="tx1"/>
                </a:solidFill>
                <a:latin typeface="Calibri" pitchFamily="34" charset="0"/>
                <a:ea typeface="Calibri" pitchFamily="34" charset="-122"/>
                <a:cs typeface="Calibri" pitchFamily="34" charset="-120"/>
              </a:rPr>
              <a:t>802.3cg 10BASE-T1S; 802.3ch 2.5/5/10 Gbit/s</a:t>
            </a:r>
            <a:endParaRPr lang="en-US" sz="1600" dirty="0"/>
          </a:p>
        </p:txBody>
      </p:sp>
      <p:sp>
        <p:nvSpPr>
          <p:cNvPr id="23" name="Text 21"/>
          <p:cNvSpPr txBox="1"/>
          <p:nvPr/>
        </p:nvSpPr>
        <p:spPr>
          <a:xfrm>
            <a:off x="10077994" y="2011680"/>
            <a:ext cx="1489166" cy="502920"/>
          </a:xfrm>
          <a:prstGeom prst="rect">
            <a:avLst/>
          </a:prstGeom>
          <a:noFill/>
          <a:ln/>
        </p:spPr>
        <p:txBody>
          <a:bodyPr wrap="square" lIns="0" tIns="0" rIns="0" bIns="0" rtlCol="0" anchor="ctr"/>
          <a:lstStyle/>
          <a:p>
            <a:pPr algn="ctr" indent="0" marL="0">
              <a:buNone/>
            </a:pPr>
            <a:r>
              <a:rPr lang="en-US" sz="2400" b="1" dirty="0">
                <a:solidFill>
                  <a:schemeClr val="accent2"/>
                </a:solidFill>
                <a:latin typeface="Calibri" pitchFamily="34" charset="0"/>
                <a:ea typeface="Calibri" pitchFamily="34" charset="-122"/>
                <a:cs typeface="Calibri" pitchFamily="34" charset="-120"/>
              </a:rPr>
              <a:t>2023</a:t>
            </a:r>
            <a:endParaRPr lang="en-US" sz="2400" dirty="0"/>
          </a:p>
        </p:txBody>
      </p:sp>
      <p:sp>
        <p:nvSpPr>
          <p:cNvPr id="24" name="Shape 22"/>
          <p:cNvSpPr/>
          <p:nvPr/>
        </p:nvSpPr>
        <p:spPr>
          <a:xfrm>
            <a:off x="10703705" y="2670048"/>
            <a:ext cx="237744" cy="237744"/>
          </a:xfrm>
          <a:prstGeom prst="ellipse">
            <a:avLst/>
          </a:prstGeom>
          <a:solidFill>
            <a:schemeClr val="accent2"/>
          </a:solidFill>
          <a:ln w="25400">
            <a:solidFill>
              <a:schemeClr val="bg1"/>
            </a:solidFill>
            <a:prstDash val="solid"/>
          </a:ln>
        </p:spPr>
      </p:sp>
      <p:sp>
        <p:nvSpPr>
          <p:cNvPr id="25" name="Text 23"/>
          <p:cNvSpPr txBox="1"/>
          <p:nvPr/>
        </p:nvSpPr>
        <p:spPr>
          <a:xfrm>
            <a:off x="10105426" y="3108960"/>
            <a:ext cx="1434302" cy="1463040"/>
          </a:xfrm>
          <a:prstGeom prst="rect">
            <a:avLst/>
          </a:prstGeom>
          <a:noFill/>
          <a:ln/>
        </p:spPr>
        <p:txBody>
          <a:bodyPr wrap="square" lIns="0" tIns="0" rIns="0" bIns="0" rtlCol="0" anchor="t"/>
          <a:lstStyle/>
          <a:p>
            <a:pPr algn="ctr" indent="0" marL="0">
              <a:buNone/>
            </a:pPr>
            <a:r>
              <a:rPr lang="en-US" sz="1600" dirty="0">
                <a:solidFill>
                  <a:schemeClr val="tx1"/>
                </a:solidFill>
                <a:latin typeface="Calibri" pitchFamily="34" charset="0"/>
                <a:ea typeface="Calibri" pitchFamily="34" charset="-122"/>
                <a:cs typeface="Calibri" pitchFamily="34" charset="-120"/>
              </a:rPr>
              <a:t>IEEE 802.3cy: 25GBASE-T1</a:t>
            </a:r>
            <a:endParaRPr lang="en-US" sz="1600" dirty="0"/>
          </a:p>
        </p:txBody>
      </p:sp>
      <p:sp>
        <p:nvSpPr>
          <p:cNvPr id="26" name="Shape 24"/>
          <p:cNvSpPr/>
          <p:nvPr/>
        </p:nvSpPr>
        <p:spPr>
          <a:xfrm>
            <a:off x="548640" y="4892040"/>
            <a:ext cx="11064240" cy="777240"/>
          </a:xfrm>
          <a:prstGeom prst="rect">
            <a:avLst/>
          </a:prstGeom>
          <a:solidFill>
            <a:schemeClr val="bg2"/>
          </a:solidFill>
          <a:ln w="12700">
            <a:solidFill>
              <a:schemeClr val="bg2"/>
            </a:solidFill>
            <a:prstDash val="solid"/>
          </a:ln>
        </p:spPr>
      </p:sp>
      <p:sp>
        <p:nvSpPr>
          <p:cNvPr id="27" name="Text 25"/>
          <p:cNvSpPr txBox="1"/>
          <p:nvPr/>
        </p:nvSpPr>
        <p:spPr>
          <a:xfrm>
            <a:off x="777240" y="4892040"/>
            <a:ext cx="10607040" cy="77724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Blue: </a:t>
            </a:r>
            <a:pPr indent="0" marL="0">
              <a:buNone/>
            </a:pPr>
            <a:r>
              <a:rPr lang="en-US" sz="1800" dirty="0">
                <a:solidFill>
                  <a:schemeClr val="tx1"/>
                </a:solidFill>
                <a:latin typeface="Calibri" pitchFamily="34" charset="0"/>
                <a:ea typeface="Calibri" pitchFamily="34" charset="-122"/>
                <a:cs typeface="Calibri" pitchFamily="34" charset="-120"/>
              </a:rPr>
              <a:t>industry adoption.   </a:t>
            </a:r>
            <a:pPr indent="0" marL="0">
              <a:buNone/>
            </a:pPr>
            <a:r>
              <a:rPr lang="en-US" sz="1800" b="1" dirty="0">
                <a:solidFill>
                  <a:schemeClr val="accent2"/>
                </a:solidFill>
                <a:latin typeface="Calibri" pitchFamily="34" charset="0"/>
                <a:ea typeface="Calibri" pitchFamily="34" charset="-122"/>
                <a:cs typeface="Calibri" pitchFamily="34" charset="-120"/>
              </a:rPr>
              <a:t>Orange: </a:t>
            </a:r>
            <a:pPr indent="0" marL="0">
              <a:buNone/>
            </a:pPr>
            <a:r>
              <a:rPr lang="en-US" sz="1800" dirty="0">
                <a:solidFill>
                  <a:schemeClr val="tx1"/>
                </a:solidFill>
                <a:latin typeface="Calibri" pitchFamily="34" charset="0"/>
                <a:ea typeface="Calibri" pitchFamily="34" charset="-122"/>
                <a:cs typeface="Calibri" pitchFamily="34" charset="-120"/>
              </a:rPr>
              <a:t>IEEE standards.   Speed rose 250× while staying on a single pair.</a:t>
            </a:r>
            <a:endParaRPr lang="en-US" sz="1800" dirty="0"/>
          </a:p>
        </p:txBody>
      </p:sp>
      <p:sp>
        <p:nvSpPr>
          <p:cNvPr id="28" name="Text 26"/>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200" dirty="0">
                <a:solidFill>
                  <a:schemeClr val="accent4"/>
                </a:solidFill>
                <a:latin typeface="Calibri" pitchFamily="34" charset="0"/>
                <a:ea typeface="Calibri" pitchFamily="34" charset="-122"/>
                <a:cs typeface="Calibri" pitchFamily="34" charset="-120"/>
              </a:rPr>
              <a:t>IEEE 802.3bw-2015, 802.3bp-2016, 802.3cg-2019, 802.3ch-2020, 802.3cy-2023; OPEN Alliance SIG; Matheus &amp; Königseder (2021).</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8229600" cy="274320"/>
          </a:xfrm>
          <a:prstGeom prst="rect">
            <a:avLst/>
          </a:prstGeom>
          <a:noFill/>
          <a:ln/>
        </p:spPr>
        <p:txBody>
          <a:bodyPr wrap="square" lIns="0" tIns="0" rIns="0" bIns="0" rtlCol="0"/>
          <a:lstStyle/>
          <a:p>
            <a:pPr indent="0" marL="0">
              <a:buNone/>
            </a:pPr>
            <a:r>
              <a:rPr lang="en-US" sz="1200" b="1" spc="100" kern="0" dirty="0">
                <a:solidFill>
                  <a:schemeClr val="accent1"/>
                </a:solidFill>
              </a:rPr>
              <a:t>WORKING PRINCIPLE · FULL DUPLEX</a:t>
            </a:r>
            <a:endParaRPr lang="en-US" sz="1200" dirty="0"/>
          </a:p>
        </p:txBody>
      </p:sp>
      <p:sp>
        <p:nvSpPr>
          <p:cNvPr id="3" name="Text 0"/>
          <p:cNvSpPr/>
          <p:nvPr>
            <p:ph idx="101" type="title" hasCustomPrompt="1"/>
          </p:nvPr>
        </p:nvSpPr>
        <p:spPr>
          <a:xfrm>
            <a:off x="548640" y="502920"/>
            <a:ext cx="11064240" cy="868680"/>
          </a:xfrm>
          <a:prstGeom prst="rect">
            <a:avLst/>
          </a:prstGeom>
          <a:noFill/>
          <a:ln/>
        </p:spPr>
        <p:txBody>
          <a:bodyPr wrap="square" lIns="0" tIns="0" rIns="0" bIns="0" rtlCol="0" anchor="t"/>
          <a:lstStyle/>
          <a:p>
            <a:pPr indent="0" marL="0">
              <a:buNone/>
            </a:pPr>
            <a:r>
              <a:rPr lang="en-US" sz="2800" b="1" dirty="0">
                <a:solidFill>
                  <a:schemeClr val="tx2"/>
                </a:solidFill>
              </a:rPr>
              <a:t>Both PHYs transmit at once on one pair; echo cancellation separates the two directions</a:t>
            </a:r>
            <a:endParaRPr lang="en-US" sz="2800" dirty="0"/>
          </a:p>
        </p:txBody>
      </p:sp>
      <p:sp>
        <p:nvSpPr>
          <p:cNvPr id="4" name="Shape 2"/>
          <p:cNvSpPr/>
          <p:nvPr/>
        </p:nvSpPr>
        <p:spPr>
          <a:xfrm>
            <a:off x="548640" y="1645920"/>
            <a:ext cx="2286000" cy="3566160"/>
          </a:xfrm>
          <a:prstGeom prst="rect">
            <a:avLst/>
          </a:prstGeom>
          <a:solidFill>
            <a:schemeClr val="bg2"/>
          </a:solidFill>
          <a:ln w="19050">
            <a:solidFill>
              <a:schemeClr val="accent1"/>
            </a:solidFill>
            <a:prstDash val="solid"/>
          </a:ln>
        </p:spPr>
      </p:sp>
      <p:sp>
        <p:nvSpPr>
          <p:cNvPr id="5" name="Text 3"/>
          <p:cNvSpPr txBox="1"/>
          <p:nvPr/>
        </p:nvSpPr>
        <p:spPr>
          <a:xfrm>
            <a:off x="685800" y="1737360"/>
            <a:ext cx="2011680" cy="685800"/>
          </a:xfrm>
          <a:prstGeom prst="rect">
            <a:avLst/>
          </a:prstGeom>
          <a:noFill/>
          <a:ln/>
        </p:spPr>
        <p:txBody>
          <a:bodyPr wrap="square" lIns="0" tIns="0" rIns="0" bIns="0" rtlCol="0" anchor="ctr"/>
          <a:lstStyle/>
          <a:p>
            <a:pPr algn="ctr" indent="0" marL="0">
              <a:buNone/>
            </a:pPr>
            <a:r>
              <a:rPr lang="en-US" sz="2000" b="1" dirty="0">
                <a:solidFill>
                  <a:schemeClr val="tx2"/>
                </a:solidFill>
                <a:latin typeface="Calibri" pitchFamily="34" charset="0"/>
                <a:ea typeface="Calibri" pitchFamily="34" charset="-122"/>
                <a:cs typeface="Calibri" pitchFamily="34" charset="-120"/>
              </a:rPr>
              <a:t>PHY A</a:t>
            </a:r>
            <a:endParaRPr lang="en-US" sz="2000" dirty="0"/>
          </a:p>
          <a:p>
            <a:pPr algn="ctr" indent="0" marL="0">
              <a:buNone/>
            </a:pPr>
            <a:r>
              <a:rPr lang="en-US" sz="1400" dirty="0">
                <a:solidFill>
                  <a:schemeClr val="accent4"/>
                </a:solidFill>
                <a:latin typeface="Calibri" pitchFamily="34" charset="0"/>
                <a:ea typeface="Calibri" pitchFamily="34" charset="-122"/>
                <a:cs typeface="Calibri" pitchFamily="34" charset="-120"/>
              </a:rPr>
              <a:t>master — sets the clock</a:t>
            </a:r>
            <a:endParaRPr lang="en-US" sz="2000" dirty="0"/>
          </a:p>
        </p:txBody>
      </p:sp>
      <p:sp>
        <p:nvSpPr>
          <p:cNvPr id="6" name="Shape 4"/>
          <p:cNvSpPr/>
          <p:nvPr/>
        </p:nvSpPr>
        <p:spPr>
          <a:xfrm>
            <a:off x="777240" y="2560320"/>
            <a:ext cx="1828800" cy="594360"/>
          </a:xfrm>
          <a:prstGeom prst="rect">
            <a:avLst/>
          </a:prstGeom>
          <a:solidFill>
            <a:schemeClr val="bg1"/>
          </a:solidFill>
          <a:ln w="12700">
            <a:solidFill>
              <a:schemeClr val="accent5"/>
            </a:solidFill>
            <a:prstDash val="solid"/>
          </a:ln>
        </p:spPr>
      </p:sp>
      <p:sp>
        <p:nvSpPr>
          <p:cNvPr id="7" name="Text 5"/>
          <p:cNvSpPr txBox="1"/>
          <p:nvPr/>
        </p:nvSpPr>
        <p:spPr>
          <a:xfrm>
            <a:off x="777240" y="2560320"/>
            <a:ext cx="1828800" cy="594360"/>
          </a:xfrm>
          <a:prstGeom prst="rect">
            <a:avLst/>
          </a:prstGeom>
          <a:noFill/>
          <a:ln/>
        </p:spPr>
        <p:txBody>
          <a:bodyPr wrap="square" lIns="0" tIns="0" rIns="0" bIns="0" rtlCol="0" anchor="ctr"/>
          <a:lstStyle/>
          <a:p>
            <a:pPr algn="ctr" indent="0" marL="0">
              <a:buNone/>
            </a:pPr>
            <a:r>
              <a:rPr lang="en-US" sz="1600" dirty="0">
                <a:solidFill>
                  <a:schemeClr val="tx1"/>
                </a:solidFill>
                <a:latin typeface="Calibri" pitchFamily="34" charset="0"/>
                <a:ea typeface="Calibri" pitchFamily="34" charset="-122"/>
                <a:cs typeface="Calibri" pitchFamily="34" charset="-120"/>
              </a:rPr>
              <a:t>Transmitter (TX)</a:t>
            </a:r>
            <a:endParaRPr lang="en-US" sz="1600" dirty="0"/>
          </a:p>
        </p:txBody>
      </p:sp>
      <p:sp>
        <p:nvSpPr>
          <p:cNvPr id="8" name="Shape 6"/>
          <p:cNvSpPr/>
          <p:nvPr/>
        </p:nvSpPr>
        <p:spPr>
          <a:xfrm>
            <a:off x="777240" y="3429000"/>
            <a:ext cx="1828800" cy="594360"/>
          </a:xfrm>
          <a:prstGeom prst="rect">
            <a:avLst/>
          </a:prstGeom>
          <a:solidFill>
            <a:schemeClr val="bg1"/>
          </a:solidFill>
          <a:ln w="12700">
            <a:solidFill>
              <a:schemeClr val="accent5"/>
            </a:solidFill>
            <a:prstDash val="solid"/>
          </a:ln>
        </p:spPr>
      </p:sp>
      <p:sp>
        <p:nvSpPr>
          <p:cNvPr id="9" name="Text 7"/>
          <p:cNvSpPr txBox="1"/>
          <p:nvPr/>
        </p:nvSpPr>
        <p:spPr>
          <a:xfrm>
            <a:off x="777240" y="3429000"/>
            <a:ext cx="1828800" cy="594360"/>
          </a:xfrm>
          <a:prstGeom prst="rect">
            <a:avLst/>
          </a:prstGeom>
          <a:noFill/>
          <a:ln/>
        </p:spPr>
        <p:txBody>
          <a:bodyPr wrap="square" lIns="0" tIns="0" rIns="0" bIns="0" rtlCol="0" anchor="ctr"/>
          <a:lstStyle/>
          <a:p>
            <a:pPr algn="ctr" indent="0" marL="0">
              <a:buNone/>
            </a:pPr>
            <a:r>
              <a:rPr lang="en-US" sz="1600" dirty="0">
                <a:solidFill>
                  <a:schemeClr val="tx1"/>
                </a:solidFill>
                <a:latin typeface="Calibri" pitchFamily="34" charset="0"/>
                <a:ea typeface="Calibri" pitchFamily="34" charset="-122"/>
                <a:cs typeface="Calibri" pitchFamily="34" charset="-120"/>
              </a:rPr>
              <a:t>Receiver (RX)</a:t>
            </a:r>
            <a:endParaRPr lang="en-US" sz="1600" dirty="0"/>
          </a:p>
        </p:txBody>
      </p:sp>
      <p:sp>
        <p:nvSpPr>
          <p:cNvPr id="10" name="Shape 8"/>
          <p:cNvSpPr/>
          <p:nvPr/>
        </p:nvSpPr>
        <p:spPr>
          <a:xfrm>
            <a:off x="777240" y="4297680"/>
            <a:ext cx="1828800" cy="685800"/>
          </a:xfrm>
          <a:prstGeom prst="rect">
            <a:avLst/>
          </a:prstGeom>
          <a:solidFill>
            <a:schemeClr val="accent6"/>
          </a:solidFill>
          <a:ln w="12700">
            <a:solidFill>
              <a:schemeClr val="accent2"/>
            </a:solidFill>
            <a:prstDash val="solid"/>
          </a:ln>
        </p:spPr>
      </p:sp>
      <p:sp>
        <p:nvSpPr>
          <p:cNvPr id="11" name="Text 9"/>
          <p:cNvSpPr txBox="1"/>
          <p:nvPr/>
        </p:nvSpPr>
        <p:spPr>
          <a:xfrm>
            <a:off x="777240" y="4297680"/>
            <a:ext cx="1828800" cy="685800"/>
          </a:xfrm>
          <a:prstGeom prst="rect">
            <a:avLst/>
          </a:prstGeom>
          <a:noFill/>
          <a:ln/>
        </p:spPr>
        <p:txBody>
          <a:bodyPr wrap="square" lIns="0" tIns="0" rIns="0" bIns="0" rtlCol="0" anchor="ctr"/>
          <a:lstStyle/>
          <a:p>
            <a:pPr algn="ctr" indent="0" marL="0">
              <a:buNone/>
            </a:pPr>
            <a:r>
              <a:rPr lang="en-US" sz="1500" b="1" dirty="0">
                <a:solidFill>
                  <a:schemeClr val="accent2"/>
                </a:solidFill>
                <a:latin typeface="Calibri" pitchFamily="34" charset="0"/>
                <a:ea typeface="Calibri" pitchFamily="34" charset="-122"/>
                <a:cs typeface="Calibri" pitchFamily="34" charset="-120"/>
              </a:rPr>
              <a:t>Hybrid + echo canceller</a:t>
            </a:r>
            <a:endParaRPr lang="en-US" sz="1500" dirty="0"/>
          </a:p>
        </p:txBody>
      </p:sp>
      <p:sp>
        <p:nvSpPr>
          <p:cNvPr id="12" name="Shape 10"/>
          <p:cNvSpPr/>
          <p:nvPr/>
        </p:nvSpPr>
        <p:spPr>
          <a:xfrm>
            <a:off x="4526280" y="1645920"/>
            <a:ext cx="2286000" cy="3566160"/>
          </a:xfrm>
          <a:prstGeom prst="rect">
            <a:avLst/>
          </a:prstGeom>
          <a:solidFill>
            <a:schemeClr val="bg2"/>
          </a:solidFill>
          <a:ln w="19050">
            <a:solidFill>
              <a:schemeClr val="accent1"/>
            </a:solidFill>
            <a:prstDash val="solid"/>
          </a:ln>
        </p:spPr>
      </p:sp>
      <p:sp>
        <p:nvSpPr>
          <p:cNvPr id="13" name="Text 11"/>
          <p:cNvSpPr txBox="1"/>
          <p:nvPr/>
        </p:nvSpPr>
        <p:spPr>
          <a:xfrm>
            <a:off x="4663440" y="1737360"/>
            <a:ext cx="2011680" cy="685800"/>
          </a:xfrm>
          <a:prstGeom prst="rect">
            <a:avLst/>
          </a:prstGeom>
          <a:noFill/>
          <a:ln/>
        </p:spPr>
        <p:txBody>
          <a:bodyPr wrap="square" lIns="0" tIns="0" rIns="0" bIns="0" rtlCol="0" anchor="ctr"/>
          <a:lstStyle/>
          <a:p>
            <a:pPr algn="ctr" indent="0" marL="0">
              <a:buNone/>
            </a:pPr>
            <a:r>
              <a:rPr lang="en-US" sz="2000" b="1" dirty="0">
                <a:solidFill>
                  <a:schemeClr val="tx2"/>
                </a:solidFill>
                <a:latin typeface="Calibri" pitchFamily="34" charset="0"/>
                <a:ea typeface="Calibri" pitchFamily="34" charset="-122"/>
                <a:cs typeface="Calibri" pitchFamily="34" charset="-120"/>
              </a:rPr>
              <a:t>PHY B</a:t>
            </a:r>
            <a:endParaRPr lang="en-US" sz="2000" dirty="0"/>
          </a:p>
          <a:p>
            <a:pPr algn="ctr" indent="0" marL="0">
              <a:buNone/>
            </a:pPr>
            <a:r>
              <a:rPr lang="en-US" sz="1400" dirty="0">
                <a:solidFill>
                  <a:schemeClr val="accent4"/>
                </a:solidFill>
                <a:latin typeface="Calibri" pitchFamily="34" charset="0"/>
                <a:ea typeface="Calibri" pitchFamily="34" charset="-122"/>
                <a:cs typeface="Calibri" pitchFamily="34" charset="-120"/>
              </a:rPr>
              <a:t>slave — recovers the clock</a:t>
            </a:r>
            <a:endParaRPr lang="en-US" sz="2000" dirty="0"/>
          </a:p>
        </p:txBody>
      </p:sp>
      <p:sp>
        <p:nvSpPr>
          <p:cNvPr id="14" name="Shape 12"/>
          <p:cNvSpPr/>
          <p:nvPr/>
        </p:nvSpPr>
        <p:spPr>
          <a:xfrm>
            <a:off x="4754880" y="2560320"/>
            <a:ext cx="1828800" cy="594360"/>
          </a:xfrm>
          <a:prstGeom prst="rect">
            <a:avLst/>
          </a:prstGeom>
          <a:solidFill>
            <a:schemeClr val="bg1"/>
          </a:solidFill>
          <a:ln w="12700">
            <a:solidFill>
              <a:schemeClr val="accent5"/>
            </a:solidFill>
            <a:prstDash val="solid"/>
          </a:ln>
        </p:spPr>
      </p:sp>
      <p:sp>
        <p:nvSpPr>
          <p:cNvPr id="15" name="Text 13"/>
          <p:cNvSpPr txBox="1"/>
          <p:nvPr/>
        </p:nvSpPr>
        <p:spPr>
          <a:xfrm>
            <a:off x="4754880" y="2560320"/>
            <a:ext cx="1828800" cy="594360"/>
          </a:xfrm>
          <a:prstGeom prst="rect">
            <a:avLst/>
          </a:prstGeom>
          <a:noFill/>
          <a:ln/>
        </p:spPr>
        <p:txBody>
          <a:bodyPr wrap="square" lIns="0" tIns="0" rIns="0" bIns="0" rtlCol="0" anchor="ctr"/>
          <a:lstStyle/>
          <a:p>
            <a:pPr algn="ctr" indent="0" marL="0">
              <a:buNone/>
            </a:pPr>
            <a:r>
              <a:rPr lang="en-US" sz="1600" dirty="0">
                <a:solidFill>
                  <a:schemeClr val="tx1"/>
                </a:solidFill>
                <a:latin typeface="Calibri" pitchFamily="34" charset="0"/>
                <a:ea typeface="Calibri" pitchFamily="34" charset="-122"/>
                <a:cs typeface="Calibri" pitchFamily="34" charset="-120"/>
              </a:rPr>
              <a:t>Transmitter (TX)</a:t>
            </a:r>
            <a:endParaRPr lang="en-US" sz="1600" dirty="0"/>
          </a:p>
        </p:txBody>
      </p:sp>
      <p:sp>
        <p:nvSpPr>
          <p:cNvPr id="16" name="Shape 14"/>
          <p:cNvSpPr/>
          <p:nvPr/>
        </p:nvSpPr>
        <p:spPr>
          <a:xfrm>
            <a:off x="4754880" y="3429000"/>
            <a:ext cx="1828800" cy="594360"/>
          </a:xfrm>
          <a:prstGeom prst="rect">
            <a:avLst/>
          </a:prstGeom>
          <a:solidFill>
            <a:schemeClr val="bg1"/>
          </a:solidFill>
          <a:ln w="12700">
            <a:solidFill>
              <a:schemeClr val="accent5"/>
            </a:solidFill>
            <a:prstDash val="solid"/>
          </a:ln>
        </p:spPr>
      </p:sp>
      <p:sp>
        <p:nvSpPr>
          <p:cNvPr id="17" name="Text 15"/>
          <p:cNvSpPr txBox="1"/>
          <p:nvPr/>
        </p:nvSpPr>
        <p:spPr>
          <a:xfrm>
            <a:off x="4754880" y="3429000"/>
            <a:ext cx="1828800" cy="594360"/>
          </a:xfrm>
          <a:prstGeom prst="rect">
            <a:avLst/>
          </a:prstGeom>
          <a:noFill/>
          <a:ln/>
        </p:spPr>
        <p:txBody>
          <a:bodyPr wrap="square" lIns="0" tIns="0" rIns="0" bIns="0" rtlCol="0" anchor="ctr"/>
          <a:lstStyle/>
          <a:p>
            <a:pPr algn="ctr" indent="0" marL="0">
              <a:buNone/>
            </a:pPr>
            <a:r>
              <a:rPr lang="en-US" sz="1600" dirty="0">
                <a:solidFill>
                  <a:schemeClr val="tx1"/>
                </a:solidFill>
                <a:latin typeface="Calibri" pitchFamily="34" charset="0"/>
                <a:ea typeface="Calibri" pitchFamily="34" charset="-122"/>
                <a:cs typeface="Calibri" pitchFamily="34" charset="-120"/>
              </a:rPr>
              <a:t>Receiver (RX)</a:t>
            </a:r>
            <a:endParaRPr lang="en-US" sz="1600" dirty="0"/>
          </a:p>
        </p:txBody>
      </p:sp>
      <p:sp>
        <p:nvSpPr>
          <p:cNvPr id="18" name="Shape 16"/>
          <p:cNvSpPr/>
          <p:nvPr/>
        </p:nvSpPr>
        <p:spPr>
          <a:xfrm>
            <a:off x="4754880" y="4297680"/>
            <a:ext cx="1828800" cy="685800"/>
          </a:xfrm>
          <a:prstGeom prst="rect">
            <a:avLst/>
          </a:prstGeom>
          <a:solidFill>
            <a:schemeClr val="accent6"/>
          </a:solidFill>
          <a:ln w="12700">
            <a:solidFill>
              <a:schemeClr val="accent2"/>
            </a:solidFill>
            <a:prstDash val="solid"/>
          </a:ln>
        </p:spPr>
      </p:sp>
      <p:sp>
        <p:nvSpPr>
          <p:cNvPr id="19" name="Text 17"/>
          <p:cNvSpPr txBox="1"/>
          <p:nvPr/>
        </p:nvSpPr>
        <p:spPr>
          <a:xfrm>
            <a:off x="4754880" y="4297680"/>
            <a:ext cx="1828800" cy="685800"/>
          </a:xfrm>
          <a:prstGeom prst="rect">
            <a:avLst/>
          </a:prstGeom>
          <a:noFill/>
          <a:ln/>
        </p:spPr>
        <p:txBody>
          <a:bodyPr wrap="square" lIns="0" tIns="0" rIns="0" bIns="0" rtlCol="0" anchor="ctr"/>
          <a:lstStyle/>
          <a:p>
            <a:pPr algn="ctr" indent="0" marL="0">
              <a:buNone/>
            </a:pPr>
            <a:r>
              <a:rPr lang="en-US" sz="1500" b="1" dirty="0">
                <a:solidFill>
                  <a:schemeClr val="accent2"/>
                </a:solidFill>
                <a:latin typeface="Calibri" pitchFamily="34" charset="0"/>
                <a:ea typeface="Calibri" pitchFamily="34" charset="-122"/>
                <a:cs typeface="Calibri" pitchFamily="34" charset="-120"/>
              </a:rPr>
              <a:t>Hybrid + echo canceller</a:t>
            </a:r>
            <a:endParaRPr lang="en-US" sz="1500" dirty="0"/>
          </a:p>
        </p:txBody>
      </p:sp>
      <p:sp>
        <p:nvSpPr>
          <p:cNvPr id="20" name="Shape 18"/>
          <p:cNvSpPr/>
          <p:nvPr/>
        </p:nvSpPr>
        <p:spPr>
          <a:xfrm>
            <a:off x="2834640" y="3246120"/>
            <a:ext cx="1691640" cy="0"/>
          </a:xfrm>
          <a:prstGeom prst="line">
            <a:avLst/>
          </a:prstGeom>
          <a:noFill/>
          <a:ln w="31750">
            <a:solidFill>
              <a:srgbClr val="2E75B6"/>
            </a:solidFill>
            <a:prstDash val="solid"/>
            <a:tailEnd type="triangle"/>
          </a:ln>
        </p:spPr>
      </p:sp>
      <p:sp>
        <p:nvSpPr>
          <p:cNvPr id="21" name="Shape 19"/>
          <p:cNvSpPr/>
          <p:nvPr/>
        </p:nvSpPr>
        <p:spPr>
          <a:xfrm>
            <a:off x="2834640" y="3703320"/>
            <a:ext cx="1691640" cy="0"/>
          </a:xfrm>
          <a:prstGeom prst="line">
            <a:avLst/>
          </a:prstGeom>
          <a:noFill/>
          <a:ln w="31750">
            <a:solidFill>
              <a:srgbClr val="C55A11"/>
            </a:solidFill>
            <a:prstDash val="solid"/>
            <a:headEnd type="triangle"/>
          </a:ln>
        </p:spPr>
      </p:sp>
      <p:sp>
        <p:nvSpPr>
          <p:cNvPr id="22" name="Text 20"/>
          <p:cNvSpPr txBox="1"/>
          <p:nvPr/>
        </p:nvSpPr>
        <p:spPr>
          <a:xfrm>
            <a:off x="2834640" y="2834640"/>
            <a:ext cx="1691640" cy="320040"/>
          </a:xfrm>
          <a:prstGeom prst="rect">
            <a:avLst/>
          </a:prstGeom>
          <a:noFill/>
          <a:ln/>
        </p:spPr>
        <p:txBody>
          <a:bodyPr wrap="square" lIns="0" tIns="0" rIns="0" bIns="0" rtlCol="0" anchor="ctr"/>
          <a:lstStyle/>
          <a:p>
            <a:pPr algn="ctr" indent="0" marL="0">
              <a:buNone/>
            </a:pPr>
            <a:r>
              <a:rPr lang="en-US" sz="1400" dirty="0">
                <a:solidFill>
                  <a:schemeClr val="accent1"/>
                </a:solidFill>
                <a:latin typeface="Calibri" pitchFamily="34" charset="0"/>
                <a:ea typeface="Calibri" pitchFamily="34" charset="-122"/>
                <a:cs typeface="Calibri" pitchFamily="34" charset="-120"/>
              </a:rPr>
              <a:t>A → B</a:t>
            </a:r>
            <a:endParaRPr lang="en-US" sz="1400" dirty="0"/>
          </a:p>
        </p:txBody>
      </p:sp>
      <p:sp>
        <p:nvSpPr>
          <p:cNvPr id="23" name="Text 21"/>
          <p:cNvSpPr txBox="1"/>
          <p:nvPr/>
        </p:nvSpPr>
        <p:spPr>
          <a:xfrm>
            <a:off x="2834640" y="3794760"/>
            <a:ext cx="1691640" cy="320040"/>
          </a:xfrm>
          <a:prstGeom prst="rect">
            <a:avLst/>
          </a:prstGeom>
          <a:noFill/>
          <a:ln/>
        </p:spPr>
        <p:txBody>
          <a:bodyPr wrap="square" lIns="0" tIns="0" rIns="0" bIns="0" rtlCol="0" anchor="ctr"/>
          <a:lstStyle/>
          <a:p>
            <a:pPr algn="ctr" indent="0" marL="0">
              <a:buNone/>
            </a:pPr>
            <a:r>
              <a:rPr lang="en-US" sz="1400" dirty="0">
                <a:solidFill>
                  <a:schemeClr val="accent2"/>
                </a:solidFill>
                <a:latin typeface="Calibri" pitchFamily="34" charset="0"/>
                <a:ea typeface="Calibri" pitchFamily="34" charset="-122"/>
                <a:cs typeface="Calibri" pitchFamily="34" charset="-120"/>
              </a:rPr>
              <a:t>B → A</a:t>
            </a:r>
            <a:endParaRPr lang="en-US" sz="1400" dirty="0"/>
          </a:p>
        </p:txBody>
      </p:sp>
      <p:sp>
        <p:nvSpPr>
          <p:cNvPr id="24" name="Text 22"/>
          <p:cNvSpPr txBox="1"/>
          <p:nvPr/>
        </p:nvSpPr>
        <p:spPr>
          <a:xfrm>
            <a:off x="2788920" y="4206240"/>
            <a:ext cx="1783080" cy="640080"/>
          </a:xfrm>
          <a:prstGeom prst="rect">
            <a:avLst/>
          </a:prstGeom>
          <a:noFill/>
          <a:ln/>
        </p:spPr>
        <p:txBody>
          <a:bodyPr wrap="square" lIns="0" tIns="0" rIns="0" bIns="0" rtlCol="0" anchor="ctr"/>
          <a:lstStyle/>
          <a:p>
            <a:pPr algn="ctr" indent="0" marL="0">
              <a:buNone/>
            </a:pPr>
            <a:r>
              <a:rPr lang="en-US" sz="1400" dirty="0">
                <a:solidFill>
                  <a:schemeClr val="accent4"/>
                </a:solidFill>
                <a:latin typeface="Calibri" pitchFamily="34" charset="0"/>
                <a:ea typeface="Calibri" pitchFamily="34" charset="-122"/>
                <a:cs typeface="Calibri" pitchFamily="34" charset="-120"/>
              </a:rPr>
              <a:t>one twisted pair, both at once</a:t>
            </a:r>
            <a:endParaRPr lang="en-US" sz="1400" dirty="0"/>
          </a:p>
        </p:txBody>
      </p:sp>
      <p:sp>
        <p:nvSpPr>
          <p:cNvPr id="25" name="Text 23"/>
          <p:cNvSpPr txBox="1"/>
          <p:nvPr/>
        </p:nvSpPr>
        <p:spPr>
          <a:xfrm>
            <a:off x="7315200" y="1645920"/>
            <a:ext cx="4297680" cy="365760"/>
          </a:xfrm>
          <a:prstGeom prst="rect">
            <a:avLst/>
          </a:prstGeom>
          <a:noFill/>
          <a:ln/>
        </p:spPr>
        <p:txBody>
          <a:bodyPr wrap="square" lIns="0" tIns="0" rIns="0" bIns="0" rtlCol="0" anchor="ctr"/>
          <a:lstStyle/>
          <a:p>
            <a:pPr indent="0" marL="0">
              <a:buNone/>
            </a:pPr>
            <a:r>
              <a:rPr lang="en-US" sz="2000" b="1" dirty="0">
                <a:solidFill>
                  <a:schemeClr val="accent1"/>
                </a:solidFill>
                <a:latin typeface="Calibri" pitchFamily="34" charset="0"/>
                <a:ea typeface="Calibri" pitchFamily="34" charset="-122"/>
                <a:cs typeface="Calibri" pitchFamily="34" charset="-120"/>
              </a:rPr>
              <a:t>How it works</a:t>
            </a:r>
            <a:endParaRPr lang="en-US" sz="2000" dirty="0"/>
          </a:p>
        </p:txBody>
      </p:sp>
      <p:sp>
        <p:nvSpPr>
          <p:cNvPr id="26" name="Text 24"/>
          <p:cNvSpPr txBox="1"/>
          <p:nvPr/>
        </p:nvSpPr>
        <p:spPr>
          <a:xfrm>
            <a:off x="7315200" y="2103120"/>
            <a:ext cx="4297680" cy="3108960"/>
          </a:xfrm>
          <a:prstGeom prst="rect">
            <a:avLst/>
          </a:prstGeom>
          <a:noFill/>
          <a:ln/>
        </p:spPr>
        <p:txBody>
          <a:bodyPr wrap="square" lIns="0" tIns="0" rIns="0" bIns="0" rtlCol="0" anchor="t"/>
          <a:lstStyle/>
          <a:p>
            <a:pPr marL="228600" indent="-228600">
              <a:spcAft>
                <a:spcPts val="1000"/>
              </a:spcAft>
              <a:buSzPct val="100000"/>
              <a:buChar char="•"/>
            </a:pPr>
            <a:r>
              <a:rPr lang="en-US" sz="1800" b="1" dirty="0">
                <a:solidFill>
                  <a:schemeClr val="tx1"/>
                </a:solidFill>
                <a:latin typeface="Calibri" pitchFamily="34" charset="0"/>
                <a:ea typeface="Calibri" pitchFamily="34" charset="-122"/>
                <a:cs typeface="Calibri" pitchFamily="34" charset="-120"/>
              </a:rPr>
              <a:t>Encode: </a:t>
            </a:r>
            <a:pPr indent="0" marL="0">
              <a:spcAft>
                <a:spcPts val="1000"/>
              </a:spcAft>
              <a:buNone/>
            </a:pPr>
            <a:r>
              <a:rPr lang="en-US" sz="1800" dirty="0">
                <a:solidFill>
                  <a:schemeClr val="tx1"/>
                </a:solidFill>
                <a:latin typeface="Calibri" pitchFamily="34" charset="0"/>
                <a:ea typeface="Calibri" pitchFamily="34" charset="-122"/>
                <a:cs typeface="Calibri" pitchFamily="34" charset="-120"/>
              </a:rPr>
              <a:t>bits scrambled, mapped to symbols</a:t>
            </a:r>
            <a:endParaRPr lang="en-US" sz="1800" dirty="0"/>
          </a:p>
          <a:p>
            <a:pPr marL="228600" indent="-228600">
              <a:spcAft>
                <a:spcPts val="1000"/>
              </a:spcAft>
              <a:buSzPct val="100000"/>
              <a:buChar char="•"/>
            </a:pPr>
            <a:r>
              <a:rPr lang="en-US" sz="1800" b="1" dirty="0">
                <a:solidFill>
                  <a:schemeClr val="tx1"/>
                </a:solidFill>
                <a:latin typeface="Calibri" pitchFamily="34" charset="0"/>
                <a:ea typeface="Calibri" pitchFamily="34" charset="-122"/>
                <a:cs typeface="Calibri" pitchFamily="34" charset="-120"/>
              </a:rPr>
              <a:t>Modulate: </a:t>
            </a:r>
            <a:pPr indent="0" marL="0">
              <a:spcAft>
                <a:spcPts val="1000"/>
              </a:spcAft>
              <a:buNone/>
            </a:pPr>
            <a:r>
              <a:rPr lang="en-US" sz="1800" dirty="0">
                <a:solidFill>
                  <a:schemeClr val="tx1"/>
                </a:solidFill>
                <a:latin typeface="Calibri" pitchFamily="34" charset="0"/>
                <a:ea typeface="Calibri" pitchFamily="34" charset="-122"/>
                <a:cs typeface="Calibri" pitchFamily="34" charset="-120"/>
              </a:rPr>
              <a:t>3-level PAM3 voltages</a:t>
            </a:r>
            <a:endParaRPr lang="en-US" sz="1800" dirty="0"/>
          </a:p>
          <a:p>
            <a:pPr marL="228600" indent="-228600">
              <a:spcAft>
                <a:spcPts val="1000"/>
              </a:spcAft>
              <a:buSzPct val="100000"/>
              <a:buChar char="•"/>
            </a:pPr>
            <a:r>
              <a:rPr lang="en-US" sz="1800" b="1" dirty="0">
                <a:solidFill>
                  <a:schemeClr val="tx1"/>
                </a:solidFill>
                <a:latin typeface="Calibri" pitchFamily="34" charset="0"/>
                <a:ea typeface="Calibri" pitchFamily="34" charset="-122"/>
                <a:cs typeface="Calibri" pitchFamily="34" charset="-120"/>
              </a:rPr>
              <a:t>Transmit: </a:t>
            </a:r>
            <a:pPr indent="0" marL="0">
              <a:spcAft>
                <a:spcPts val="1000"/>
              </a:spcAft>
              <a:buNone/>
            </a:pPr>
            <a:r>
              <a:rPr lang="en-US" sz="1800" dirty="0">
                <a:solidFill>
                  <a:schemeClr val="tx1"/>
                </a:solidFill>
                <a:latin typeface="Calibri" pitchFamily="34" charset="0"/>
                <a:ea typeface="Calibri" pitchFamily="34" charset="-122"/>
                <a:cs typeface="Calibri" pitchFamily="34" charset="-120"/>
              </a:rPr>
              <a:t>both ends talk simultaneously</a:t>
            </a:r>
            <a:endParaRPr lang="en-US" sz="1800" dirty="0"/>
          </a:p>
          <a:p>
            <a:pPr marL="228600" indent="-228600">
              <a:spcAft>
                <a:spcPts val="1000"/>
              </a:spcAft>
              <a:buSzPct val="100000"/>
              <a:buChar char="•"/>
            </a:pPr>
            <a:r>
              <a:rPr lang="en-US" sz="1800" b="1" dirty="0">
                <a:solidFill>
                  <a:schemeClr val="tx1"/>
                </a:solidFill>
                <a:latin typeface="Calibri" pitchFamily="34" charset="0"/>
                <a:ea typeface="Calibri" pitchFamily="34" charset="-122"/>
                <a:cs typeface="Calibri" pitchFamily="34" charset="-120"/>
              </a:rPr>
              <a:t>Cancel echo: </a:t>
            </a:r>
            <a:pPr indent="0" marL="0">
              <a:spcAft>
                <a:spcPts val="1000"/>
              </a:spcAft>
              <a:buNone/>
            </a:pPr>
            <a:r>
              <a:rPr lang="en-US" sz="1800" dirty="0">
                <a:solidFill>
                  <a:schemeClr val="tx1"/>
                </a:solidFill>
                <a:latin typeface="Calibri" pitchFamily="34" charset="0"/>
                <a:ea typeface="Calibri" pitchFamily="34" charset="-122"/>
                <a:cs typeface="Calibri" pitchFamily="34" charset="-120"/>
              </a:rPr>
              <a:t>each RX subtracts its own TX signal</a:t>
            </a:r>
            <a:endParaRPr lang="en-US" sz="1800" dirty="0"/>
          </a:p>
          <a:p>
            <a:pPr marL="228600" indent="-228600">
              <a:spcAft>
                <a:spcPts val="1000"/>
              </a:spcAft>
              <a:buSzPct val="100000"/>
              <a:buChar char="•"/>
            </a:pPr>
            <a:r>
              <a:rPr lang="en-US" sz="1800" b="1" dirty="0">
                <a:solidFill>
                  <a:schemeClr val="tx1"/>
                </a:solidFill>
                <a:latin typeface="Calibri" pitchFamily="34" charset="0"/>
                <a:ea typeface="Calibri" pitchFamily="34" charset="-122"/>
                <a:cs typeface="Calibri" pitchFamily="34" charset="-120"/>
              </a:rPr>
              <a:t>Clock: </a:t>
            </a:r>
            <a:pPr indent="0" marL="0">
              <a:spcAft>
                <a:spcPts val="1000"/>
              </a:spcAft>
              <a:buNone/>
            </a:pPr>
            <a:r>
              <a:rPr lang="en-US" sz="1800" dirty="0">
                <a:solidFill>
                  <a:schemeClr val="tx1"/>
                </a:solidFill>
                <a:latin typeface="Calibri" pitchFamily="34" charset="0"/>
                <a:ea typeface="Calibri" pitchFamily="34" charset="-122"/>
                <a:cs typeface="Calibri" pitchFamily="34" charset="-120"/>
              </a:rPr>
              <a:t>slave locks to master timing</a:t>
            </a:r>
            <a:endParaRPr lang="en-US" sz="1800" dirty="0"/>
          </a:p>
        </p:txBody>
      </p:sp>
      <p:sp>
        <p:nvSpPr>
          <p:cNvPr id="27" name="Text 25"/>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200" dirty="0">
                <a:solidFill>
                  <a:schemeClr val="accent4"/>
                </a:solidFill>
                <a:latin typeface="Calibri" pitchFamily="34" charset="0"/>
                <a:ea typeface="Calibri" pitchFamily="34" charset="-122"/>
                <a:cs typeface="Calibri" pitchFamily="34" charset="-120"/>
              </a:rPr>
              <a:t>IEEE Std 802.3bw-2015, clause 96.</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8229600" cy="274320"/>
          </a:xfrm>
          <a:prstGeom prst="rect">
            <a:avLst/>
          </a:prstGeom>
          <a:noFill/>
          <a:ln/>
        </p:spPr>
        <p:txBody>
          <a:bodyPr wrap="square" lIns="0" tIns="0" rIns="0" bIns="0" rtlCol="0"/>
          <a:lstStyle/>
          <a:p>
            <a:pPr indent="0" marL="0">
              <a:buNone/>
            </a:pPr>
            <a:r>
              <a:rPr lang="en-US" sz="1200" b="1" spc="100" kern="0" dirty="0">
                <a:solidFill>
                  <a:schemeClr val="accent1"/>
                </a:solidFill>
              </a:rPr>
              <a:t>WORKING PRINCIPLE · SIGNALLING</a:t>
            </a:r>
            <a:endParaRPr lang="en-US" sz="1200" dirty="0"/>
          </a:p>
        </p:txBody>
      </p:sp>
      <p:sp>
        <p:nvSpPr>
          <p:cNvPr id="3" name="Text 0"/>
          <p:cNvSpPr/>
          <p:nvPr>
            <p:ph idx="101" type="title" hasCustomPrompt="1"/>
          </p:nvPr>
        </p:nvSpPr>
        <p:spPr>
          <a:xfrm>
            <a:off x="548640" y="502920"/>
            <a:ext cx="11064240" cy="868680"/>
          </a:xfrm>
          <a:prstGeom prst="rect">
            <a:avLst/>
          </a:prstGeom>
          <a:noFill/>
          <a:ln/>
        </p:spPr>
        <p:txBody>
          <a:bodyPr wrap="square" lIns="0" tIns="0" rIns="0" bIns="0" rtlCol="0" anchor="t"/>
          <a:lstStyle/>
          <a:p>
            <a:pPr indent="0" marL="0">
              <a:buNone/>
            </a:pPr>
            <a:r>
              <a:rPr lang="en-US" sz="2800" b="1" dirty="0">
                <a:solidFill>
                  <a:schemeClr val="tx2"/>
                </a:solidFill>
              </a:rPr>
              <a:t>PAM3 carries more information per symbol, which lowers signal frequency and emissions</a:t>
            </a:r>
            <a:endParaRPr lang="en-US" sz="2800" dirty="0"/>
          </a:p>
        </p:txBody>
      </p:sp>
      <p:sp>
        <p:nvSpPr>
          <p:cNvPr id="4" name="Shape 2"/>
          <p:cNvSpPr/>
          <p:nvPr/>
        </p:nvSpPr>
        <p:spPr>
          <a:xfrm>
            <a:off x="1280160" y="2057400"/>
            <a:ext cx="5486400" cy="0"/>
          </a:xfrm>
          <a:prstGeom prst="line">
            <a:avLst/>
          </a:prstGeom>
          <a:noFill/>
          <a:ln w="12700">
            <a:solidFill>
              <a:srgbClr val="D0D7DE"/>
            </a:solidFill>
            <a:prstDash val="dash"/>
          </a:ln>
        </p:spPr>
      </p:sp>
      <p:sp>
        <p:nvSpPr>
          <p:cNvPr id="5" name="Text 3"/>
          <p:cNvSpPr txBox="1"/>
          <p:nvPr/>
        </p:nvSpPr>
        <p:spPr>
          <a:xfrm>
            <a:off x="548640" y="1874520"/>
            <a:ext cx="548640" cy="365760"/>
          </a:xfrm>
          <a:prstGeom prst="rect">
            <a:avLst/>
          </a:prstGeom>
          <a:noFill/>
          <a:ln/>
        </p:spPr>
        <p:txBody>
          <a:bodyPr wrap="square" lIns="0" tIns="0" rIns="0" bIns="0" rtlCol="0" anchor="ctr"/>
          <a:lstStyle/>
          <a:p>
            <a:pPr algn="r" indent="0" marL="0">
              <a:buNone/>
            </a:pPr>
            <a:r>
              <a:rPr lang="en-US" sz="1800" b="1" dirty="0">
                <a:solidFill>
                  <a:schemeClr val="tx2"/>
                </a:solidFill>
                <a:latin typeface="Calibri" pitchFamily="34" charset="0"/>
                <a:ea typeface="Calibri" pitchFamily="34" charset="-122"/>
                <a:cs typeface="Calibri" pitchFamily="34" charset="-120"/>
              </a:rPr>
              <a:t>+1</a:t>
            </a:r>
            <a:endParaRPr lang="en-US" sz="1800" dirty="0"/>
          </a:p>
        </p:txBody>
      </p:sp>
      <p:sp>
        <p:nvSpPr>
          <p:cNvPr id="6" name="Shape 4"/>
          <p:cNvSpPr/>
          <p:nvPr/>
        </p:nvSpPr>
        <p:spPr>
          <a:xfrm>
            <a:off x="1280160" y="2971800"/>
            <a:ext cx="5486400" cy="0"/>
          </a:xfrm>
          <a:prstGeom prst="line">
            <a:avLst/>
          </a:prstGeom>
          <a:noFill/>
          <a:ln w="12700">
            <a:solidFill>
              <a:srgbClr val="D0D7DE"/>
            </a:solidFill>
            <a:prstDash val="dash"/>
          </a:ln>
        </p:spPr>
      </p:sp>
      <p:sp>
        <p:nvSpPr>
          <p:cNvPr id="7" name="Text 5"/>
          <p:cNvSpPr txBox="1"/>
          <p:nvPr/>
        </p:nvSpPr>
        <p:spPr>
          <a:xfrm>
            <a:off x="548640" y="2788920"/>
            <a:ext cx="548640" cy="365760"/>
          </a:xfrm>
          <a:prstGeom prst="rect">
            <a:avLst/>
          </a:prstGeom>
          <a:noFill/>
          <a:ln/>
        </p:spPr>
        <p:txBody>
          <a:bodyPr wrap="square" lIns="0" tIns="0" rIns="0" bIns="0" rtlCol="0" anchor="ctr"/>
          <a:lstStyle/>
          <a:p>
            <a:pPr algn="r" indent="0" marL="0">
              <a:buNone/>
            </a:pPr>
            <a:r>
              <a:rPr lang="en-US" sz="1800" b="1" dirty="0">
                <a:solidFill>
                  <a:schemeClr val="tx2"/>
                </a:solidFill>
                <a:latin typeface="Calibri" pitchFamily="34" charset="0"/>
                <a:ea typeface="Calibri" pitchFamily="34" charset="-122"/>
                <a:cs typeface="Calibri" pitchFamily="34" charset="-120"/>
              </a:rPr>
              <a:t>0</a:t>
            </a:r>
            <a:endParaRPr lang="en-US" sz="1800" dirty="0"/>
          </a:p>
        </p:txBody>
      </p:sp>
      <p:sp>
        <p:nvSpPr>
          <p:cNvPr id="8" name="Shape 6"/>
          <p:cNvSpPr/>
          <p:nvPr/>
        </p:nvSpPr>
        <p:spPr>
          <a:xfrm>
            <a:off x="1280160" y="3886200"/>
            <a:ext cx="5486400" cy="0"/>
          </a:xfrm>
          <a:prstGeom prst="line">
            <a:avLst/>
          </a:prstGeom>
          <a:noFill/>
          <a:ln w="12700">
            <a:solidFill>
              <a:srgbClr val="D0D7DE"/>
            </a:solidFill>
            <a:prstDash val="dash"/>
          </a:ln>
        </p:spPr>
      </p:sp>
      <p:sp>
        <p:nvSpPr>
          <p:cNvPr id="9" name="Text 7"/>
          <p:cNvSpPr txBox="1"/>
          <p:nvPr/>
        </p:nvSpPr>
        <p:spPr>
          <a:xfrm>
            <a:off x="548640" y="3703320"/>
            <a:ext cx="548640" cy="365760"/>
          </a:xfrm>
          <a:prstGeom prst="rect">
            <a:avLst/>
          </a:prstGeom>
          <a:noFill/>
          <a:ln/>
        </p:spPr>
        <p:txBody>
          <a:bodyPr wrap="square" lIns="0" tIns="0" rIns="0" bIns="0" rtlCol="0" anchor="ctr"/>
          <a:lstStyle/>
          <a:p>
            <a:pPr algn="r" indent="0" marL="0">
              <a:buNone/>
            </a:pPr>
            <a:r>
              <a:rPr lang="en-US" sz="1800" b="1" dirty="0">
                <a:solidFill>
                  <a:schemeClr val="tx2"/>
                </a:solidFill>
                <a:latin typeface="Calibri" pitchFamily="34" charset="0"/>
                <a:ea typeface="Calibri" pitchFamily="34" charset="-122"/>
                <a:cs typeface="Calibri" pitchFamily="34" charset="-120"/>
              </a:rPr>
              <a:t>−1</a:t>
            </a:r>
            <a:endParaRPr lang="en-US" sz="1800" dirty="0"/>
          </a:p>
        </p:txBody>
      </p:sp>
      <p:sp>
        <p:nvSpPr>
          <p:cNvPr id="10" name="Shape 8"/>
          <p:cNvSpPr/>
          <p:nvPr/>
        </p:nvSpPr>
        <p:spPr>
          <a:xfrm>
            <a:off x="1280160" y="2057400"/>
            <a:ext cx="548640" cy="0"/>
          </a:xfrm>
          <a:prstGeom prst="line">
            <a:avLst/>
          </a:prstGeom>
          <a:noFill/>
          <a:ln w="44450">
            <a:solidFill>
              <a:srgbClr val="2E75B6"/>
            </a:solidFill>
            <a:prstDash val="solid"/>
          </a:ln>
        </p:spPr>
      </p:sp>
      <p:sp>
        <p:nvSpPr>
          <p:cNvPr id="11" name="Text 9"/>
          <p:cNvSpPr txBox="1"/>
          <p:nvPr/>
        </p:nvSpPr>
        <p:spPr>
          <a:xfrm>
            <a:off x="1280160" y="4160520"/>
            <a:ext cx="548640" cy="365760"/>
          </a:xfrm>
          <a:prstGeom prst="rect">
            <a:avLst/>
          </a:prstGeom>
          <a:noFill/>
          <a:ln/>
        </p:spPr>
        <p:txBody>
          <a:bodyPr wrap="square" lIns="0" tIns="0" rIns="0" bIns="0" rtlCol="0" anchor="ctr"/>
          <a:lstStyle/>
          <a:p>
            <a:pPr algn="ctr" indent="0" marL="0">
              <a:buNone/>
            </a:pPr>
            <a:r>
              <a:rPr lang="en-US" sz="1800" dirty="0">
                <a:solidFill>
                  <a:schemeClr val="accent4"/>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1828800" y="2971800"/>
            <a:ext cx="548640" cy="0"/>
          </a:xfrm>
          <a:prstGeom prst="line">
            <a:avLst/>
          </a:prstGeom>
          <a:noFill/>
          <a:ln w="44450">
            <a:solidFill>
              <a:srgbClr val="2E75B6"/>
            </a:solidFill>
            <a:prstDash val="solid"/>
          </a:ln>
        </p:spPr>
      </p:sp>
      <p:sp>
        <p:nvSpPr>
          <p:cNvPr id="13" name="Shape 11"/>
          <p:cNvSpPr/>
          <p:nvPr/>
        </p:nvSpPr>
        <p:spPr>
          <a:xfrm>
            <a:off x="1828800" y="2057400"/>
            <a:ext cx="0" cy="914400"/>
          </a:xfrm>
          <a:prstGeom prst="line">
            <a:avLst/>
          </a:prstGeom>
          <a:noFill/>
          <a:ln w="44450">
            <a:solidFill>
              <a:srgbClr val="2E75B6"/>
            </a:solidFill>
            <a:prstDash val="solid"/>
          </a:ln>
        </p:spPr>
      </p:sp>
      <p:sp>
        <p:nvSpPr>
          <p:cNvPr id="14" name="Text 12"/>
          <p:cNvSpPr txBox="1"/>
          <p:nvPr/>
        </p:nvSpPr>
        <p:spPr>
          <a:xfrm>
            <a:off x="1828800" y="4160520"/>
            <a:ext cx="548640" cy="365760"/>
          </a:xfrm>
          <a:prstGeom prst="rect">
            <a:avLst/>
          </a:prstGeom>
          <a:noFill/>
          <a:ln/>
        </p:spPr>
        <p:txBody>
          <a:bodyPr wrap="square" lIns="0" tIns="0" rIns="0" bIns="0" rtlCol="0" anchor="ctr"/>
          <a:lstStyle/>
          <a:p>
            <a:pPr algn="ctr" indent="0" marL="0">
              <a:buNone/>
            </a:pPr>
            <a:r>
              <a:rPr lang="en-US" sz="1800" dirty="0">
                <a:solidFill>
                  <a:schemeClr val="accent4"/>
                </a:solidFill>
                <a:latin typeface="Calibri" pitchFamily="34" charset="0"/>
                <a:ea typeface="Calibri" pitchFamily="34" charset="-122"/>
                <a:cs typeface="Calibri" pitchFamily="34" charset="-120"/>
              </a:rPr>
              <a:t>0</a:t>
            </a:r>
            <a:endParaRPr lang="en-US" sz="1800" dirty="0"/>
          </a:p>
        </p:txBody>
      </p:sp>
      <p:sp>
        <p:nvSpPr>
          <p:cNvPr id="15" name="Shape 13"/>
          <p:cNvSpPr/>
          <p:nvPr/>
        </p:nvSpPr>
        <p:spPr>
          <a:xfrm>
            <a:off x="2377440" y="3886200"/>
            <a:ext cx="548640" cy="0"/>
          </a:xfrm>
          <a:prstGeom prst="line">
            <a:avLst/>
          </a:prstGeom>
          <a:noFill/>
          <a:ln w="44450">
            <a:solidFill>
              <a:srgbClr val="2E75B6"/>
            </a:solidFill>
            <a:prstDash val="solid"/>
          </a:ln>
        </p:spPr>
      </p:sp>
      <p:sp>
        <p:nvSpPr>
          <p:cNvPr id="16" name="Shape 14"/>
          <p:cNvSpPr/>
          <p:nvPr/>
        </p:nvSpPr>
        <p:spPr>
          <a:xfrm>
            <a:off x="2377440" y="2971800"/>
            <a:ext cx="0" cy="914400"/>
          </a:xfrm>
          <a:prstGeom prst="line">
            <a:avLst/>
          </a:prstGeom>
          <a:noFill/>
          <a:ln w="44450">
            <a:solidFill>
              <a:srgbClr val="2E75B6"/>
            </a:solidFill>
            <a:prstDash val="solid"/>
          </a:ln>
        </p:spPr>
      </p:sp>
      <p:sp>
        <p:nvSpPr>
          <p:cNvPr id="17" name="Text 15"/>
          <p:cNvSpPr txBox="1"/>
          <p:nvPr/>
        </p:nvSpPr>
        <p:spPr>
          <a:xfrm>
            <a:off x="2377440" y="4160520"/>
            <a:ext cx="548640" cy="365760"/>
          </a:xfrm>
          <a:prstGeom prst="rect">
            <a:avLst/>
          </a:prstGeom>
          <a:noFill/>
          <a:ln/>
        </p:spPr>
        <p:txBody>
          <a:bodyPr wrap="square" lIns="0" tIns="0" rIns="0" bIns="0" rtlCol="0" anchor="ctr"/>
          <a:lstStyle/>
          <a:p>
            <a:pPr algn="ctr" indent="0" marL="0">
              <a:buNone/>
            </a:pPr>
            <a:r>
              <a:rPr lang="en-US" sz="1800" dirty="0">
                <a:solidFill>
                  <a:schemeClr val="accent4"/>
                </a:solidFill>
                <a:latin typeface="Calibri" pitchFamily="34" charset="0"/>
                <a:ea typeface="Calibri" pitchFamily="34" charset="-122"/>
                <a:cs typeface="Calibri" pitchFamily="34" charset="-120"/>
              </a:rPr>
              <a:t>−</a:t>
            </a:r>
            <a:endParaRPr lang="en-US" sz="1800" dirty="0"/>
          </a:p>
        </p:txBody>
      </p:sp>
      <p:sp>
        <p:nvSpPr>
          <p:cNvPr id="18" name="Shape 16"/>
          <p:cNvSpPr/>
          <p:nvPr/>
        </p:nvSpPr>
        <p:spPr>
          <a:xfrm>
            <a:off x="2926080" y="3886200"/>
            <a:ext cx="548640" cy="0"/>
          </a:xfrm>
          <a:prstGeom prst="line">
            <a:avLst/>
          </a:prstGeom>
          <a:noFill/>
          <a:ln w="44450">
            <a:solidFill>
              <a:srgbClr val="2E75B6"/>
            </a:solidFill>
            <a:prstDash val="solid"/>
          </a:ln>
        </p:spPr>
      </p:sp>
      <p:sp>
        <p:nvSpPr>
          <p:cNvPr id="19" name="Text 17"/>
          <p:cNvSpPr txBox="1"/>
          <p:nvPr/>
        </p:nvSpPr>
        <p:spPr>
          <a:xfrm>
            <a:off x="2926080" y="4160520"/>
            <a:ext cx="548640" cy="365760"/>
          </a:xfrm>
          <a:prstGeom prst="rect">
            <a:avLst/>
          </a:prstGeom>
          <a:noFill/>
          <a:ln/>
        </p:spPr>
        <p:txBody>
          <a:bodyPr wrap="square" lIns="0" tIns="0" rIns="0" bIns="0" rtlCol="0" anchor="ctr"/>
          <a:lstStyle/>
          <a:p>
            <a:pPr algn="ctr" indent="0" marL="0">
              <a:buNone/>
            </a:pPr>
            <a:r>
              <a:rPr lang="en-US" sz="1800" dirty="0">
                <a:solidFill>
                  <a:schemeClr val="accent4"/>
                </a:solidFill>
                <a:latin typeface="Calibri" pitchFamily="34" charset="0"/>
                <a:ea typeface="Calibri" pitchFamily="34" charset="-122"/>
                <a:cs typeface="Calibri" pitchFamily="34" charset="-120"/>
              </a:rPr>
              <a:t>−</a:t>
            </a:r>
            <a:endParaRPr lang="en-US" sz="1800" dirty="0"/>
          </a:p>
        </p:txBody>
      </p:sp>
      <p:sp>
        <p:nvSpPr>
          <p:cNvPr id="20" name="Shape 18"/>
          <p:cNvSpPr/>
          <p:nvPr/>
        </p:nvSpPr>
        <p:spPr>
          <a:xfrm>
            <a:off x="3474720" y="2057400"/>
            <a:ext cx="548640" cy="0"/>
          </a:xfrm>
          <a:prstGeom prst="line">
            <a:avLst/>
          </a:prstGeom>
          <a:noFill/>
          <a:ln w="44450">
            <a:solidFill>
              <a:srgbClr val="2E75B6"/>
            </a:solidFill>
            <a:prstDash val="solid"/>
          </a:ln>
        </p:spPr>
      </p:sp>
      <p:sp>
        <p:nvSpPr>
          <p:cNvPr id="21" name="Shape 19"/>
          <p:cNvSpPr/>
          <p:nvPr/>
        </p:nvSpPr>
        <p:spPr>
          <a:xfrm>
            <a:off x="3474720" y="2057400"/>
            <a:ext cx="0" cy="1828800"/>
          </a:xfrm>
          <a:prstGeom prst="line">
            <a:avLst/>
          </a:prstGeom>
          <a:noFill/>
          <a:ln w="44450">
            <a:solidFill>
              <a:srgbClr val="2E75B6"/>
            </a:solidFill>
            <a:prstDash val="solid"/>
          </a:ln>
        </p:spPr>
      </p:sp>
      <p:sp>
        <p:nvSpPr>
          <p:cNvPr id="22" name="Text 20"/>
          <p:cNvSpPr txBox="1"/>
          <p:nvPr/>
        </p:nvSpPr>
        <p:spPr>
          <a:xfrm>
            <a:off x="3474720" y="4160520"/>
            <a:ext cx="548640" cy="365760"/>
          </a:xfrm>
          <a:prstGeom prst="rect">
            <a:avLst/>
          </a:prstGeom>
          <a:noFill/>
          <a:ln/>
        </p:spPr>
        <p:txBody>
          <a:bodyPr wrap="square" lIns="0" tIns="0" rIns="0" bIns="0" rtlCol="0" anchor="ctr"/>
          <a:lstStyle/>
          <a:p>
            <a:pPr algn="ctr" indent="0" marL="0">
              <a:buNone/>
            </a:pPr>
            <a:r>
              <a:rPr lang="en-US" sz="1800" dirty="0">
                <a:solidFill>
                  <a:schemeClr val="accent4"/>
                </a:solidFill>
                <a:latin typeface="Calibri" pitchFamily="34" charset="0"/>
                <a:ea typeface="Calibri" pitchFamily="34" charset="-122"/>
                <a:cs typeface="Calibri" pitchFamily="34" charset="-120"/>
              </a:rPr>
              <a:t>+</a:t>
            </a:r>
            <a:endParaRPr lang="en-US" sz="1800" dirty="0"/>
          </a:p>
        </p:txBody>
      </p:sp>
      <p:sp>
        <p:nvSpPr>
          <p:cNvPr id="23" name="Shape 21"/>
          <p:cNvSpPr/>
          <p:nvPr/>
        </p:nvSpPr>
        <p:spPr>
          <a:xfrm>
            <a:off x="4023360" y="2971800"/>
            <a:ext cx="548640" cy="0"/>
          </a:xfrm>
          <a:prstGeom prst="line">
            <a:avLst/>
          </a:prstGeom>
          <a:noFill/>
          <a:ln w="44450">
            <a:solidFill>
              <a:srgbClr val="2E75B6"/>
            </a:solidFill>
            <a:prstDash val="solid"/>
          </a:ln>
        </p:spPr>
      </p:sp>
      <p:sp>
        <p:nvSpPr>
          <p:cNvPr id="24" name="Shape 22"/>
          <p:cNvSpPr/>
          <p:nvPr/>
        </p:nvSpPr>
        <p:spPr>
          <a:xfrm>
            <a:off x="4023360" y="2057400"/>
            <a:ext cx="0" cy="914400"/>
          </a:xfrm>
          <a:prstGeom prst="line">
            <a:avLst/>
          </a:prstGeom>
          <a:noFill/>
          <a:ln w="44450">
            <a:solidFill>
              <a:srgbClr val="2E75B6"/>
            </a:solidFill>
            <a:prstDash val="solid"/>
          </a:ln>
        </p:spPr>
      </p:sp>
      <p:sp>
        <p:nvSpPr>
          <p:cNvPr id="25" name="Text 23"/>
          <p:cNvSpPr txBox="1"/>
          <p:nvPr/>
        </p:nvSpPr>
        <p:spPr>
          <a:xfrm>
            <a:off x="4023360" y="4160520"/>
            <a:ext cx="548640" cy="365760"/>
          </a:xfrm>
          <a:prstGeom prst="rect">
            <a:avLst/>
          </a:prstGeom>
          <a:noFill/>
          <a:ln/>
        </p:spPr>
        <p:txBody>
          <a:bodyPr wrap="square" lIns="0" tIns="0" rIns="0" bIns="0" rtlCol="0" anchor="ctr"/>
          <a:lstStyle/>
          <a:p>
            <a:pPr algn="ctr" indent="0" marL="0">
              <a:buNone/>
            </a:pPr>
            <a:r>
              <a:rPr lang="en-US" sz="1800" dirty="0">
                <a:solidFill>
                  <a:schemeClr val="accent4"/>
                </a:solidFill>
                <a:latin typeface="Calibri" pitchFamily="34" charset="0"/>
                <a:ea typeface="Calibri" pitchFamily="34" charset="-122"/>
                <a:cs typeface="Calibri" pitchFamily="34" charset="-120"/>
              </a:rPr>
              <a:t>0</a:t>
            </a:r>
            <a:endParaRPr lang="en-US" sz="1800" dirty="0"/>
          </a:p>
        </p:txBody>
      </p:sp>
      <p:sp>
        <p:nvSpPr>
          <p:cNvPr id="26" name="Shape 24"/>
          <p:cNvSpPr/>
          <p:nvPr/>
        </p:nvSpPr>
        <p:spPr>
          <a:xfrm>
            <a:off x="4572000" y="2057400"/>
            <a:ext cx="548640" cy="0"/>
          </a:xfrm>
          <a:prstGeom prst="line">
            <a:avLst/>
          </a:prstGeom>
          <a:noFill/>
          <a:ln w="44450">
            <a:solidFill>
              <a:srgbClr val="2E75B6"/>
            </a:solidFill>
            <a:prstDash val="solid"/>
          </a:ln>
        </p:spPr>
      </p:sp>
      <p:sp>
        <p:nvSpPr>
          <p:cNvPr id="27" name="Shape 25"/>
          <p:cNvSpPr/>
          <p:nvPr/>
        </p:nvSpPr>
        <p:spPr>
          <a:xfrm>
            <a:off x="4572000" y="2057400"/>
            <a:ext cx="0" cy="914400"/>
          </a:xfrm>
          <a:prstGeom prst="line">
            <a:avLst/>
          </a:prstGeom>
          <a:noFill/>
          <a:ln w="44450">
            <a:solidFill>
              <a:srgbClr val="2E75B6"/>
            </a:solidFill>
            <a:prstDash val="solid"/>
          </a:ln>
        </p:spPr>
      </p:sp>
      <p:sp>
        <p:nvSpPr>
          <p:cNvPr id="28" name="Text 26"/>
          <p:cNvSpPr txBox="1"/>
          <p:nvPr/>
        </p:nvSpPr>
        <p:spPr>
          <a:xfrm>
            <a:off x="4572000" y="4160520"/>
            <a:ext cx="548640" cy="365760"/>
          </a:xfrm>
          <a:prstGeom prst="rect">
            <a:avLst/>
          </a:prstGeom>
          <a:noFill/>
          <a:ln/>
        </p:spPr>
        <p:txBody>
          <a:bodyPr wrap="square" lIns="0" tIns="0" rIns="0" bIns="0" rtlCol="0" anchor="ctr"/>
          <a:lstStyle/>
          <a:p>
            <a:pPr algn="ctr" indent="0" marL="0">
              <a:buNone/>
            </a:pPr>
            <a:r>
              <a:rPr lang="en-US" sz="1800" dirty="0">
                <a:solidFill>
                  <a:schemeClr val="accent4"/>
                </a:solidFill>
                <a:latin typeface="Calibri" pitchFamily="34" charset="0"/>
                <a:ea typeface="Calibri" pitchFamily="34" charset="-122"/>
                <a:cs typeface="Calibri" pitchFamily="34" charset="-120"/>
              </a:rPr>
              <a:t>+</a:t>
            </a:r>
            <a:endParaRPr lang="en-US" sz="1800" dirty="0"/>
          </a:p>
        </p:txBody>
      </p:sp>
      <p:sp>
        <p:nvSpPr>
          <p:cNvPr id="29" name="Shape 27"/>
          <p:cNvSpPr/>
          <p:nvPr/>
        </p:nvSpPr>
        <p:spPr>
          <a:xfrm>
            <a:off x="5120640" y="3886200"/>
            <a:ext cx="548640" cy="0"/>
          </a:xfrm>
          <a:prstGeom prst="line">
            <a:avLst/>
          </a:prstGeom>
          <a:noFill/>
          <a:ln w="44450">
            <a:solidFill>
              <a:srgbClr val="2E75B6"/>
            </a:solidFill>
            <a:prstDash val="solid"/>
          </a:ln>
        </p:spPr>
      </p:sp>
      <p:sp>
        <p:nvSpPr>
          <p:cNvPr id="30" name="Shape 28"/>
          <p:cNvSpPr/>
          <p:nvPr/>
        </p:nvSpPr>
        <p:spPr>
          <a:xfrm>
            <a:off x="5120640" y="2057400"/>
            <a:ext cx="0" cy="1828800"/>
          </a:xfrm>
          <a:prstGeom prst="line">
            <a:avLst/>
          </a:prstGeom>
          <a:noFill/>
          <a:ln w="44450">
            <a:solidFill>
              <a:srgbClr val="2E75B6"/>
            </a:solidFill>
            <a:prstDash val="solid"/>
          </a:ln>
        </p:spPr>
      </p:sp>
      <p:sp>
        <p:nvSpPr>
          <p:cNvPr id="31" name="Text 29"/>
          <p:cNvSpPr txBox="1"/>
          <p:nvPr/>
        </p:nvSpPr>
        <p:spPr>
          <a:xfrm>
            <a:off x="5120640" y="4160520"/>
            <a:ext cx="548640" cy="365760"/>
          </a:xfrm>
          <a:prstGeom prst="rect">
            <a:avLst/>
          </a:prstGeom>
          <a:noFill/>
          <a:ln/>
        </p:spPr>
        <p:txBody>
          <a:bodyPr wrap="square" lIns="0" tIns="0" rIns="0" bIns="0" rtlCol="0" anchor="ctr"/>
          <a:lstStyle/>
          <a:p>
            <a:pPr algn="ctr" indent="0" marL="0">
              <a:buNone/>
            </a:pPr>
            <a:r>
              <a:rPr lang="en-US" sz="1800" dirty="0">
                <a:solidFill>
                  <a:schemeClr val="accent4"/>
                </a:solidFill>
                <a:latin typeface="Calibri" pitchFamily="34" charset="0"/>
                <a:ea typeface="Calibri" pitchFamily="34" charset="-122"/>
                <a:cs typeface="Calibri" pitchFamily="34" charset="-120"/>
              </a:rPr>
              <a:t>−</a:t>
            </a:r>
            <a:endParaRPr lang="en-US" sz="1800" dirty="0"/>
          </a:p>
        </p:txBody>
      </p:sp>
      <p:sp>
        <p:nvSpPr>
          <p:cNvPr id="32" name="Shape 30"/>
          <p:cNvSpPr/>
          <p:nvPr/>
        </p:nvSpPr>
        <p:spPr>
          <a:xfrm>
            <a:off x="5669280" y="2971800"/>
            <a:ext cx="548640" cy="0"/>
          </a:xfrm>
          <a:prstGeom prst="line">
            <a:avLst/>
          </a:prstGeom>
          <a:noFill/>
          <a:ln w="44450">
            <a:solidFill>
              <a:srgbClr val="2E75B6"/>
            </a:solidFill>
            <a:prstDash val="solid"/>
          </a:ln>
        </p:spPr>
      </p:sp>
      <p:sp>
        <p:nvSpPr>
          <p:cNvPr id="33" name="Shape 31"/>
          <p:cNvSpPr/>
          <p:nvPr/>
        </p:nvSpPr>
        <p:spPr>
          <a:xfrm>
            <a:off x="5669280" y="2971800"/>
            <a:ext cx="0" cy="914400"/>
          </a:xfrm>
          <a:prstGeom prst="line">
            <a:avLst/>
          </a:prstGeom>
          <a:noFill/>
          <a:ln w="44450">
            <a:solidFill>
              <a:srgbClr val="2E75B6"/>
            </a:solidFill>
            <a:prstDash val="solid"/>
          </a:ln>
        </p:spPr>
      </p:sp>
      <p:sp>
        <p:nvSpPr>
          <p:cNvPr id="34" name="Text 32"/>
          <p:cNvSpPr txBox="1"/>
          <p:nvPr/>
        </p:nvSpPr>
        <p:spPr>
          <a:xfrm>
            <a:off x="5669280" y="4160520"/>
            <a:ext cx="548640" cy="365760"/>
          </a:xfrm>
          <a:prstGeom prst="rect">
            <a:avLst/>
          </a:prstGeom>
          <a:noFill/>
          <a:ln/>
        </p:spPr>
        <p:txBody>
          <a:bodyPr wrap="square" lIns="0" tIns="0" rIns="0" bIns="0" rtlCol="0" anchor="ctr"/>
          <a:lstStyle/>
          <a:p>
            <a:pPr algn="ctr" indent="0" marL="0">
              <a:buNone/>
            </a:pPr>
            <a:r>
              <a:rPr lang="en-US" sz="1800" dirty="0">
                <a:solidFill>
                  <a:schemeClr val="accent4"/>
                </a:solidFill>
                <a:latin typeface="Calibri" pitchFamily="34" charset="0"/>
                <a:ea typeface="Calibri" pitchFamily="34" charset="-122"/>
                <a:cs typeface="Calibri" pitchFamily="34" charset="-120"/>
              </a:rPr>
              <a:t>0</a:t>
            </a:r>
            <a:endParaRPr lang="en-US" sz="1800" dirty="0"/>
          </a:p>
        </p:txBody>
      </p:sp>
      <p:sp>
        <p:nvSpPr>
          <p:cNvPr id="35" name="Shape 33"/>
          <p:cNvSpPr/>
          <p:nvPr/>
        </p:nvSpPr>
        <p:spPr>
          <a:xfrm>
            <a:off x="6217920" y="2057400"/>
            <a:ext cx="548640" cy="0"/>
          </a:xfrm>
          <a:prstGeom prst="line">
            <a:avLst/>
          </a:prstGeom>
          <a:noFill/>
          <a:ln w="44450">
            <a:solidFill>
              <a:srgbClr val="2E75B6"/>
            </a:solidFill>
            <a:prstDash val="solid"/>
          </a:ln>
        </p:spPr>
      </p:sp>
      <p:sp>
        <p:nvSpPr>
          <p:cNvPr id="36" name="Shape 34"/>
          <p:cNvSpPr/>
          <p:nvPr/>
        </p:nvSpPr>
        <p:spPr>
          <a:xfrm>
            <a:off x="6217920" y="2057400"/>
            <a:ext cx="0" cy="914400"/>
          </a:xfrm>
          <a:prstGeom prst="line">
            <a:avLst/>
          </a:prstGeom>
          <a:noFill/>
          <a:ln w="44450">
            <a:solidFill>
              <a:srgbClr val="2E75B6"/>
            </a:solidFill>
            <a:prstDash val="solid"/>
          </a:ln>
        </p:spPr>
      </p:sp>
      <p:sp>
        <p:nvSpPr>
          <p:cNvPr id="37" name="Text 35"/>
          <p:cNvSpPr txBox="1"/>
          <p:nvPr/>
        </p:nvSpPr>
        <p:spPr>
          <a:xfrm>
            <a:off x="6217920" y="4160520"/>
            <a:ext cx="548640" cy="365760"/>
          </a:xfrm>
          <a:prstGeom prst="rect">
            <a:avLst/>
          </a:prstGeom>
          <a:noFill/>
          <a:ln/>
        </p:spPr>
        <p:txBody>
          <a:bodyPr wrap="square" lIns="0" tIns="0" rIns="0" bIns="0" rtlCol="0" anchor="ctr"/>
          <a:lstStyle/>
          <a:p>
            <a:pPr algn="ctr" indent="0" marL="0">
              <a:buNone/>
            </a:pPr>
            <a:r>
              <a:rPr lang="en-US" sz="1800" dirty="0">
                <a:solidFill>
                  <a:schemeClr val="accent4"/>
                </a:solidFill>
                <a:latin typeface="Calibri" pitchFamily="34" charset="0"/>
                <a:ea typeface="Calibri" pitchFamily="34" charset="-122"/>
                <a:cs typeface="Calibri" pitchFamily="34" charset="-120"/>
              </a:rPr>
              <a:t>+</a:t>
            </a:r>
            <a:endParaRPr lang="en-US" sz="1800" dirty="0"/>
          </a:p>
        </p:txBody>
      </p:sp>
      <p:sp>
        <p:nvSpPr>
          <p:cNvPr id="38" name="Text 36"/>
          <p:cNvSpPr txBox="1"/>
          <p:nvPr/>
        </p:nvSpPr>
        <p:spPr>
          <a:xfrm>
            <a:off x="1280160" y="4572000"/>
            <a:ext cx="5486400" cy="365760"/>
          </a:xfrm>
          <a:prstGeom prst="rect">
            <a:avLst/>
          </a:prstGeom>
          <a:noFill/>
          <a:ln/>
        </p:spPr>
        <p:txBody>
          <a:bodyPr wrap="square" lIns="0" tIns="0" rIns="0" bIns="0" rtlCol="0" anchor="ctr"/>
          <a:lstStyle/>
          <a:p>
            <a:pPr algn="ctr" indent="0" marL="0">
              <a:buNone/>
            </a:pPr>
            <a:r>
              <a:rPr lang="en-US" sz="1400" dirty="0">
                <a:solidFill>
                  <a:schemeClr val="accent4"/>
                </a:solidFill>
                <a:latin typeface="Calibri" pitchFamily="34" charset="0"/>
                <a:ea typeface="Calibri" pitchFamily="34" charset="-122"/>
                <a:cs typeface="Calibri" pitchFamily="34" charset="-120"/>
              </a:rPr>
              <a:t>symbol sequence on the wire (one symbol every 15 ns at 66.7 MBd)</a:t>
            </a:r>
            <a:endParaRPr lang="en-US" sz="1400" dirty="0"/>
          </a:p>
        </p:txBody>
      </p:sp>
      <p:sp>
        <p:nvSpPr>
          <p:cNvPr id="39" name="Text 37"/>
          <p:cNvSpPr txBox="1"/>
          <p:nvPr/>
        </p:nvSpPr>
        <p:spPr>
          <a:xfrm>
            <a:off x="7498080" y="1645920"/>
            <a:ext cx="4114800" cy="365760"/>
          </a:xfrm>
          <a:prstGeom prst="rect">
            <a:avLst/>
          </a:prstGeom>
          <a:noFill/>
          <a:ln/>
        </p:spPr>
        <p:txBody>
          <a:bodyPr wrap="square" lIns="0" tIns="0" rIns="0" bIns="0" rtlCol="0" anchor="ctr"/>
          <a:lstStyle/>
          <a:p>
            <a:pPr indent="0" marL="0">
              <a:buNone/>
            </a:pPr>
            <a:r>
              <a:rPr lang="en-US" sz="2000" b="1" dirty="0">
                <a:solidFill>
                  <a:schemeClr val="accent1"/>
                </a:solidFill>
                <a:latin typeface="Calibri" pitchFamily="34" charset="0"/>
                <a:ea typeface="Calibri" pitchFamily="34" charset="-122"/>
                <a:cs typeface="Calibri" pitchFamily="34" charset="-120"/>
              </a:rPr>
              <a:t>Signalling by speed grade</a:t>
            </a:r>
            <a:endParaRPr lang="en-US" sz="2000" dirty="0"/>
          </a:p>
        </p:txBody>
      </p:sp>
      <p:sp>
        <p:nvSpPr>
          <p:cNvPr id="40" name="Text 38"/>
          <p:cNvSpPr txBox="1"/>
          <p:nvPr/>
        </p:nvSpPr>
        <p:spPr>
          <a:xfrm>
            <a:off x="7498080" y="2103120"/>
            <a:ext cx="4114800" cy="2377440"/>
          </a:xfrm>
          <a:prstGeom prst="rect">
            <a:avLst/>
          </a:prstGeom>
          <a:noFill/>
          <a:ln/>
        </p:spPr>
        <p:txBody>
          <a:bodyPr wrap="square" lIns="0" tIns="0" rIns="0" bIns="0" rtlCol="0" anchor="t"/>
          <a:lstStyle/>
          <a:p>
            <a:pPr marL="228600" indent="-228600">
              <a:spcAft>
                <a:spcPts val="1000"/>
              </a:spcAft>
              <a:buSzPct val="100000"/>
              <a:buChar char="•"/>
            </a:pPr>
            <a:r>
              <a:rPr lang="en-US" sz="1800" b="1" dirty="0">
                <a:solidFill>
                  <a:schemeClr val="tx1"/>
                </a:solidFill>
                <a:latin typeface="Calibri" pitchFamily="34" charset="0"/>
                <a:ea typeface="Calibri" pitchFamily="34" charset="-122"/>
                <a:cs typeface="Calibri" pitchFamily="34" charset="-120"/>
              </a:rPr>
              <a:t>100BASE-T1: </a:t>
            </a:r>
            <a:pPr indent="0" marL="0">
              <a:spcAft>
                <a:spcPts val="1000"/>
              </a:spcAft>
              <a:buNone/>
            </a:pPr>
            <a:r>
              <a:rPr lang="en-US" sz="1800" dirty="0">
                <a:solidFill>
                  <a:schemeClr val="tx1"/>
                </a:solidFill>
                <a:latin typeface="Calibri" pitchFamily="34" charset="0"/>
                <a:ea typeface="Calibri" pitchFamily="34" charset="-122"/>
                <a:cs typeface="Calibri" pitchFamily="34" charset="-120"/>
              </a:rPr>
              <a:t>4B3B, PAM3, 66.7 MBd</a:t>
            </a:r>
            <a:endParaRPr lang="en-US" sz="1800" dirty="0"/>
          </a:p>
          <a:p>
            <a:pPr marL="228600" indent="-228600">
              <a:spcAft>
                <a:spcPts val="1000"/>
              </a:spcAft>
              <a:buSzPct val="100000"/>
              <a:buChar char="•"/>
            </a:pPr>
            <a:r>
              <a:rPr lang="en-US" sz="1800" b="1" dirty="0">
                <a:solidFill>
                  <a:schemeClr val="tx1"/>
                </a:solidFill>
                <a:latin typeface="Calibri" pitchFamily="34" charset="0"/>
                <a:ea typeface="Calibri" pitchFamily="34" charset="-122"/>
                <a:cs typeface="Calibri" pitchFamily="34" charset="-120"/>
              </a:rPr>
              <a:t>1000BASE-T1: </a:t>
            </a:r>
            <a:pPr indent="0" marL="0">
              <a:spcAft>
                <a:spcPts val="1000"/>
              </a:spcAft>
              <a:buNone/>
            </a:pPr>
            <a:r>
              <a:rPr lang="en-US" sz="1800" dirty="0">
                <a:solidFill>
                  <a:schemeClr val="tx1"/>
                </a:solidFill>
                <a:latin typeface="Calibri" pitchFamily="34" charset="0"/>
                <a:ea typeface="Calibri" pitchFamily="34" charset="-122"/>
                <a:cs typeface="Calibri" pitchFamily="34" charset="-120"/>
              </a:rPr>
              <a:t>PAM3, 750 MBd + Reed–Solomon FEC</a:t>
            </a:r>
            <a:endParaRPr lang="en-US" sz="1800" dirty="0"/>
          </a:p>
          <a:p>
            <a:pPr marL="228600" indent="-228600">
              <a:spcAft>
                <a:spcPts val="1000"/>
              </a:spcAft>
              <a:buSzPct val="100000"/>
              <a:buChar char="•"/>
            </a:pPr>
            <a:r>
              <a:rPr lang="en-US" sz="1800" b="1" dirty="0">
                <a:solidFill>
                  <a:schemeClr val="tx1"/>
                </a:solidFill>
                <a:latin typeface="Calibri" pitchFamily="34" charset="0"/>
                <a:ea typeface="Calibri" pitchFamily="34" charset="-122"/>
                <a:cs typeface="Calibri" pitchFamily="34" charset="-120"/>
              </a:rPr>
              <a:t>2.5–25G: </a:t>
            </a:r>
            <a:pPr indent="0" marL="0">
              <a:spcAft>
                <a:spcPts val="1000"/>
              </a:spcAft>
              <a:buNone/>
            </a:pPr>
            <a:r>
              <a:rPr lang="en-US" sz="1800" dirty="0">
                <a:solidFill>
                  <a:schemeClr val="tx1"/>
                </a:solidFill>
                <a:latin typeface="Calibri" pitchFamily="34" charset="0"/>
                <a:ea typeface="Calibri" pitchFamily="34" charset="-122"/>
                <a:cs typeface="Calibri" pitchFamily="34" charset="-120"/>
              </a:rPr>
              <a:t>PAM4 (4 levels) + FEC</a:t>
            </a:r>
            <a:endParaRPr lang="en-US" sz="1800" dirty="0"/>
          </a:p>
          <a:p>
            <a:pPr marL="228600" indent="-228600">
              <a:spcAft>
                <a:spcPts val="1000"/>
              </a:spcAft>
              <a:buSzPct val="100000"/>
              <a:buChar char="•"/>
            </a:pPr>
            <a:r>
              <a:rPr lang="en-US" sz="1800" b="1" dirty="0">
                <a:solidFill>
                  <a:schemeClr val="tx1"/>
                </a:solidFill>
                <a:latin typeface="Calibri" pitchFamily="34" charset="0"/>
                <a:ea typeface="Calibri" pitchFamily="34" charset="-122"/>
                <a:cs typeface="Calibri" pitchFamily="34" charset="-120"/>
              </a:rPr>
              <a:t>10BASE-T1S: </a:t>
            </a:r>
            <a:pPr indent="0" marL="0">
              <a:spcAft>
                <a:spcPts val="1000"/>
              </a:spcAft>
              <a:buNone/>
            </a:pPr>
            <a:r>
              <a:rPr lang="en-US" sz="1800" dirty="0">
                <a:solidFill>
                  <a:schemeClr val="tx1"/>
                </a:solidFill>
                <a:latin typeface="Calibri" pitchFamily="34" charset="0"/>
                <a:ea typeface="Calibri" pitchFamily="34" charset="-122"/>
                <a:cs typeface="Calibri" pitchFamily="34" charset="-120"/>
              </a:rPr>
              <a:t>differential Manchester code</a:t>
            </a:r>
            <a:endParaRPr lang="en-US" sz="1800" dirty="0"/>
          </a:p>
        </p:txBody>
      </p:sp>
      <p:sp>
        <p:nvSpPr>
          <p:cNvPr id="41" name="Shape 39"/>
          <p:cNvSpPr/>
          <p:nvPr/>
        </p:nvSpPr>
        <p:spPr>
          <a:xfrm>
            <a:off x="7498080" y="4572000"/>
            <a:ext cx="4114800" cy="1005840"/>
          </a:xfrm>
          <a:prstGeom prst="rect">
            <a:avLst/>
          </a:prstGeom>
          <a:solidFill>
            <a:schemeClr val="accent6"/>
          </a:solidFill>
          <a:ln w="12700">
            <a:solidFill>
              <a:schemeClr val="accent2"/>
            </a:solidFill>
            <a:prstDash val="solid"/>
          </a:ln>
        </p:spPr>
      </p:sp>
      <p:sp>
        <p:nvSpPr>
          <p:cNvPr id="42" name="Text 40"/>
          <p:cNvSpPr txBox="1"/>
          <p:nvPr/>
        </p:nvSpPr>
        <p:spPr>
          <a:xfrm>
            <a:off x="7680960" y="4572000"/>
            <a:ext cx="3749040" cy="1005840"/>
          </a:xfrm>
          <a:prstGeom prst="rect">
            <a:avLst/>
          </a:prstGeom>
          <a:noFill/>
          <a:ln/>
        </p:spPr>
        <p:txBody>
          <a:bodyPr wrap="square" lIns="0" tIns="0" rIns="0" bIns="0" rtlCol="0" anchor="ctr"/>
          <a:lstStyle/>
          <a:p>
            <a:pPr indent="0" marL="0">
              <a:buNone/>
            </a:pPr>
            <a:r>
              <a:rPr lang="en-US" sz="1700" b="1" dirty="0">
                <a:solidFill>
                  <a:schemeClr val="accent2"/>
                </a:solidFill>
                <a:latin typeface="Calibri" pitchFamily="34" charset="0"/>
                <a:ea typeface="Calibri" pitchFamily="34" charset="-122"/>
                <a:cs typeface="Calibri" pitchFamily="34" charset="-120"/>
              </a:rPr>
              <a:t>Fewer symbols per second → lower frequency → less interference</a:t>
            </a:r>
            <a:endParaRPr lang="en-US" sz="1700" dirty="0"/>
          </a:p>
        </p:txBody>
      </p:sp>
      <p:sp>
        <p:nvSpPr>
          <p:cNvPr id="43" name="Text 41"/>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200" dirty="0">
                <a:solidFill>
                  <a:schemeClr val="accent4"/>
                </a:solidFill>
                <a:latin typeface="Calibri" pitchFamily="34" charset="0"/>
                <a:ea typeface="Calibri" pitchFamily="34" charset="-122"/>
                <a:cs typeface="Calibri" pitchFamily="34" charset="-120"/>
              </a:rPr>
              <a:t>IEEE Std 802.3bw-2015 (cl. 96), 802.3bp-2016 (cl. 97), 802.3ch-2020 (cl. 149), 802.3cg-2019 (cl. 147).</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8229600" cy="274320"/>
          </a:xfrm>
          <a:prstGeom prst="rect">
            <a:avLst/>
          </a:prstGeom>
          <a:noFill/>
          <a:ln/>
        </p:spPr>
        <p:txBody>
          <a:bodyPr wrap="square" lIns="0" tIns="0" rIns="0" bIns="0" rtlCol="0"/>
          <a:lstStyle/>
          <a:p>
            <a:pPr indent="0" marL="0">
              <a:buNone/>
            </a:pPr>
            <a:r>
              <a:rPr lang="en-US" sz="1200" b="1" spc="100" kern="0" dirty="0">
                <a:solidFill>
                  <a:schemeClr val="accent1"/>
                </a:solidFill>
              </a:rPr>
              <a:t>WORKING PRINCIPLE · PHY FAMILY</a:t>
            </a:r>
            <a:endParaRPr lang="en-US" sz="1200" dirty="0"/>
          </a:p>
        </p:txBody>
      </p:sp>
      <p:sp>
        <p:nvSpPr>
          <p:cNvPr id="3" name="Text 0"/>
          <p:cNvSpPr/>
          <p:nvPr>
            <p:ph idx="101" type="title" hasCustomPrompt="1"/>
          </p:nvPr>
        </p:nvSpPr>
        <p:spPr>
          <a:xfrm>
            <a:off x="548640" y="502920"/>
            <a:ext cx="11064240" cy="868680"/>
          </a:xfrm>
          <a:prstGeom prst="rect">
            <a:avLst/>
          </a:prstGeom>
          <a:noFill/>
          <a:ln/>
        </p:spPr>
        <p:txBody>
          <a:bodyPr wrap="square" lIns="0" tIns="0" rIns="0" bIns="0" rtlCol="0" anchor="t"/>
          <a:lstStyle/>
          <a:p>
            <a:pPr indent="0" marL="0">
              <a:buNone/>
            </a:pPr>
            <a:r>
              <a:rPr lang="en-US" sz="2800" b="1" dirty="0">
                <a:solidFill>
                  <a:schemeClr val="tx2"/>
                </a:solidFill>
              </a:rPr>
              <a:t>A family of physical layers lets engineers match speed and cost to every link in the car</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743200"/>
                <a:gridCol w="1554480"/>
                <a:gridCol w="2560320"/>
                <a:gridCol w="1645920"/>
                <a:gridCol w="2560320"/>
              </a:tblGrid>
              <a:tr h="566928">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Standard</a:t>
                      </a:r>
                      <a:endParaRPr lang="en-US" sz="1700" dirty="0">
                        <a:latin typeface="Calibri" charset="0"/>
                        <a:ea typeface="Calibri" charset="0"/>
                        <a:cs typeface="Calibri" charset="0"/>
                      </a:endParaRPr>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4E79"/>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Speed</a:t>
                      </a:r>
                      <a:endParaRPr lang="en-US" sz="1700" dirty="0">
                        <a:latin typeface="Calibri" charset="0"/>
                        <a:ea typeface="Calibri" charset="0"/>
                        <a:cs typeface="Calibri" charset="0"/>
                      </a:endParaRPr>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4E79"/>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Topology / coding</a:t>
                      </a:r>
                      <a:endParaRPr lang="en-US" sz="1700" dirty="0">
                        <a:latin typeface="Calibri" charset="0"/>
                        <a:ea typeface="Calibri" charset="0"/>
                        <a:cs typeface="Calibri" charset="0"/>
                      </a:endParaRPr>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4E79"/>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Reach</a:t>
                      </a:r>
                      <a:endParaRPr lang="en-US" sz="1700" dirty="0">
                        <a:latin typeface="Calibri" charset="0"/>
                        <a:ea typeface="Calibri" charset="0"/>
                        <a:cs typeface="Calibri" charset="0"/>
                      </a:endParaRPr>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4E79"/>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Typical use</a:t>
                      </a:r>
                      <a:endParaRPr lang="en-US" sz="1700" dirty="0">
                        <a:latin typeface="Calibri" charset="0"/>
                        <a:ea typeface="Calibri" charset="0"/>
                        <a:cs typeface="Calibri" charset="0"/>
                      </a:endParaRPr>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4E79"/>
                    </a:solidFill>
                  </a:tcPr>
                </a:tc>
              </a:tr>
              <a:tr h="566928">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10BASE-T1S (802.3cg)</a:t>
                      </a:r>
                      <a:endParaRPr lang="en-US" sz="1700" dirty="0">
                        <a:latin typeface="Calibri" charset="0"/>
                        <a:ea typeface="Calibri" charset="0"/>
                        <a:cs typeface="Calibri" charset="0"/>
                      </a:endParaRPr>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10 Mbit/s</a:t>
                      </a:r>
                      <a:endParaRPr lang="en-US" sz="1700" dirty="0">
                        <a:latin typeface="Calibri" charset="0"/>
                        <a:ea typeface="Calibri" charset="0"/>
                        <a:cs typeface="Calibri" charset="0"/>
                      </a:endParaRPr>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Shared bus, PLCA; DME</a:t>
                      </a:r>
                      <a:endParaRPr lang="en-US" sz="1700" dirty="0">
                        <a:latin typeface="Calibri" charset="0"/>
                        <a:ea typeface="Calibri" charset="0"/>
                        <a:cs typeface="Calibri" charset="0"/>
                      </a:endParaRPr>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25 m, ≥ 8 nodes</a:t>
                      </a:r>
                      <a:endParaRPr lang="en-US" sz="1700" dirty="0">
                        <a:latin typeface="Calibri" charset="0"/>
                        <a:ea typeface="Calibri" charset="0"/>
                        <a:cs typeface="Calibri" charset="0"/>
                      </a:endParaRPr>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Sensors, actuators; CAN replacement</a:t>
                      </a:r>
                      <a:endParaRPr lang="en-US" sz="1700" dirty="0">
                        <a:latin typeface="Calibri" charset="0"/>
                        <a:ea typeface="Calibri" charset="0"/>
                        <a:cs typeface="Calibri" charset="0"/>
                      </a:endParaRPr>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r>
              <a:tr h="566928">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100BASE-T1 (802.3bw)</a:t>
                      </a:r>
                      <a:endParaRPr lang="en-US" sz="1700" dirty="0">
                        <a:latin typeface="Calibri" charset="0"/>
                        <a:ea typeface="Calibri" charset="0"/>
                        <a:cs typeface="Calibri" charset="0"/>
                      </a:endParaRPr>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100 Mbit/s</a:t>
                      </a:r>
                      <a:endParaRPr lang="en-US" sz="1700" dirty="0">
                        <a:latin typeface="Calibri" charset="0"/>
                        <a:ea typeface="Calibri" charset="0"/>
                        <a:cs typeface="Calibri" charset="0"/>
                      </a:endParaRPr>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Point-to-point; PAM3</a:t>
                      </a:r>
                      <a:endParaRPr lang="en-US" sz="1700" dirty="0">
                        <a:latin typeface="Calibri" charset="0"/>
                        <a:ea typeface="Calibri" charset="0"/>
                        <a:cs typeface="Calibri" charset="0"/>
                      </a:endParaRPr>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15 m</a:t>
                      </a:r>
                      <a:endParaRPr lang="en-US" sz="1700" dirty="0">
                        <a:latin typeface="Calibri" charset="0"/>
                        <a:ea typeface="Calibri" charset="0"/>
                        <a:cs typeface="Calibri" charset="0"/>
                      </a:endParaRPr>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Cameras, infotainment, diagnostics</a:t>
                      </a:r>
                      <a:endParaRPr lang="en-US" sz="1700" dirty="0">
                        <a:latin typeface="Calibri" charset="0"/>
                        <a:ea typeface="Calibri" charset="0"/>
                        <a:cs typeface="Calibri" charset="0"/>
                      </a:endParaRPr>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r>
              <a:tr h="566928">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1000BASE-T1 (802.3bp)</a:t>
                      </a:r>
                      <a:endParaRPr lang="en-US" sz="1700" dirty="0">
                        <a:latin typeface="Calibri" charset="0"/>
                        <a:ea typeface="Calibri" charset="0"/>
                        <a:cs typeface="Calibri" charset="0"/>
                      </a:endParaRPr>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1 Gbit/s</a:t>
                      </a:r>
                      <a:endParaRPr lang="en-US" sz="1700" dirty="0">
                        <a:latin typeface="Calibri" charset="0"/>
                        <a:ea typeface="Calibri" charset="0"/>
                        <a:cs typeface="Calibri" charset="0"/>
                      </a:endParaRPr>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Point-to-point; PAM3 + FEC</a:t>
                      </a:r>
                      <a:endParaRPr lang="en-US" sz="1700" dirty="0">
                        <a:latin typeface="Calibri" charset="0"/>
                        <a:ea typeface="Calibri" charset="0"/>
                        <a:cs typeface="Calibri" charset="0"/>
                      </a:endParaRPr>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15 m (40 m)</a:t>
                      </a:r>
                      <a:endParaRPr lang="en-US" sz="1700" dirty="0">
                        <a:latin typeface="Calibri" charset="0"/>
                        <a:ea typeface="Calibri" charset="0"/>
                        <a:cs typeface="Calibri" charset="0"/>
                      </a:endParaRPr>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HD cameras, backbone links</a:t>
                      </a:r>
                      <a:endParaRPr lang="en-US" sz="1700" dirty="0">
                        <a:latin typeface="Calibri" charset="0"/>
                        <a:ea typeface="Calibri" charset="0"/>
                        <a:cs typeface="Calibri" charset="0"/>
                      </a:endParaRPr>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r>
              <a:tr h="566928">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2.5/5/10GBASE-T1 (802.3ch)</a:t>
                      </a:r>
                      <a:endParaRPr lang="en-US" sz="1700" dirty="0">
                        <a:latin typeface="Calibri" charset="0"/>
                        <a:ea typeface="Calibri" charset="0"/>
                        <a:cs typeface="Calibri" charset="0"/>
                      </a:endParaRPr>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2.5–10 Gbit/s</a:t>
                      </a:r>
                      <a:endParaRPr lang="en-US" sz="1700" dirty="0">
                        <a:latin typeface="Calibri" charset="0"/>
                        <a:ea typeface="Calibri" charset="0"/>
                        <a:cs typeface="Calibri" charset="0"/>
                      </a:endParaRPr>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Point-to-point; PAM4</a:t>
                      </a:r>
                      <a:endParaRPr lang="en-US" sz="1700" dirty="0">
                        <a:latin typeface="Calibri" charset="0"/>
                        <a:ea typeface="Calibri" charset="0"/>
                        <a:cs typeface="Calibri" charset="0"/>
                      </a:endParaRPr>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15 m</a:t>
                      </a:r>
                      <a:endParaRPr lang="en-US" sz="1700" dirty="0">
                        <a:latin typeface="Calibri" charset="0"/>
                        <a:ea typeface="Calibri" charset="0"/>
                        <a:cs typeface="Calibri" charset="0"/>
                      </a:endParaRPr>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Zonal backbone, central computer</a:t>
                      </a:r>
                      <a:endParaRPr lang="en-US" sz="1700" dirty="0">
                        <a:latin typeface="Calibri" charset="0"/>
                        <a:ea typeface="Calibri" charset="0"/>
                        <a:cs typeface="Calibri" charset="0"/>
                      </a:endParaRPr>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r>
              <a:tr h="566928">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25GBASE-T1 (802.3cy)</a:t>
                      </a:r>
                      <a:endParaRPr lang="en-US" sz="1700" dirty="0">
                        <a:latin typeface="Calibri" charset="0"/>
                        <a:ea typeface="Calibri" charset="0"/>
                        <a:cs typeface="Calibri" charset="0"/>
                      </a:endParaRPr>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25 Gbit/s</a:t>
                      </a:r>
                      <a:endParaRPr lang="en-US" sz="1700" dirty="0">
                        <a:latin typeface="Calibri" charset="0"/>
                        <a:ea typeface="Calibri" charset="0"/>
                        <a:cs typeface="Calibri" charset="0"/>
                      </a:endParaRPr>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Point-to-point; PAM4</a:t>
                      </a:r>
                      <a:endParaRPr lang="en-US" sz="1700" dirty="0">
                        <a:latin typeface="Calibri" charset="0"/>
                        <a:ea typeface="Calibri" charset="0"/>
                        <a:cs typeface="Calibri" charset="0"/>
                      </a:endParaRPr>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Short in-car links</a:t>
                      </a:r>
                      <a:endParaRPr lang="en-US" sz="1700" dirty="0">
                        <a:latin typeface="Calibri" charset="0"/>
                        <a:ea typeface="Calibri" charset="0"/>
                        <a:cs typeface="Calibri" charset="0"/>
                      </a:endParaRPr>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High-resolution sensors, compute</a:t>
                      </a:r>
                      <a:endParaRPr lang="en-US" sz="1700" dirty="0">
                        <a:latin typeface="Calibri" charset="0"/>
                        <a:ea typeface="Calibri" charset="0"/>
                        <a:cs typeface="Calibri" charset="0"/>
                      </a:endParaRPr>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r>
            </a:tbl>
          </a:graphicData>
        </a:graphic>
      </p:graphicFrame>
      <p:sp>
        <p:nvSpPr>
          <p:cNvPr id="5" name="Text 2"/>
          <p:cNvSpPr txBox="1"/>
          <p:nvPr/>
        </p:nvSpPr>
        <p:spPr>
          <a:xfrm>
            <a:off x="548640" y="5257800"/>
            <a:ext cx="1106424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Reading the names: </a:t>
            </a:r>
            <a:pPr indent="0" marL="0">
              <a:buNone/>
            </a:pPr>
            <a:r>
              <a:rPr lang="en-US" sz="1800" dirty="0">
                <a:solidFill>
                  <a:schemeClr val="tx1"/>
                </a:solidFill>
                <a:latin typeface="Calibri" pitchFamily="34" charset="0"/>
                <a:ea typeface="Calibri" pitchFamily="34" charset="-122"/>
                <a:cs typeface="Calibri" pitchFamily="34" charset="-120"/>
              </a:rPr>
              <a:t>number = speed · BASE = baseband · T1 = one twisted pair · S = short reach</a:t>
            </a:r>
            <a:endParaRPr lang="en-US" sz="1800" dirty="0"/>
          </a:p>
        </p:txBody>
      </p:sp>
      <p:sp>
        <p:nvSpPr>
          <p:cNvPr id="6" name="Text 3"/>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200" dirty="0">
                <a:solidFill>
                  <a:schemeClr val="accent4"/>
                </a:solidFill>
                <a:latin typeface="Calibri" pitchFamily="34" charset="0"/>
                <a:ea typeface="Calibri" pitchFamily="34" charset="-122"/>
                <a:cs typeface="Calibri" pitchFamily="34" charset="-120"/>
              </a:rPr>
              <a:t>IEEE Std 802.3cg-2019, 802.3bw-2015, 802.3bp-2016, 802.3ch-2020, 802.3cy-2023. PLCA: Physical Layer Collision Avoidance; DME: differential Manchester encoding.</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8229600" cy="274320"/>
          </a:xfrm>
          <a:prstGeom prst="rect">
            <a:avLst/>
          </a:prstGeom>
          <a:noFill/>
          <a:ln/>
        </p:spPr>
        <p:txBody>
          <a:bodyPr wrap="square" lIns="0" tIns="0" rIns="0" bIns="0" rtlCol="0"/>
          <a:lstStyle/>
          <a:p>
            <a:pPr indent="0" marL="0">
              <a:buNone/>
            </a:pPr>
            <a:r>
              <a:rPr lang="en-US" sz="1200" b="1" spc="100" kern="0" dirty="0">
                <a:solidFill>
                  <a:schemeClr val="accent1"/>
                </a:solidFill>
              </a:rPr>
              <a:t>WORKING PRINCIPLE · PROTOCOL STACK</a:t>
            </a:r>
            <a:endParaRPr lang="en-US" sz="1200" dirty="0"/>
          </a:p>
        </p:txBody>
      </p:sp>
      <p:sp>
        <p:nvSpPr>
          <p:cNvPr id="3" name="Text 0"/>
          <p:cNvSpPr/>
          <p:nvPr>
            <p:ph idx="101" type="title" hasCustomPrompt="1"/>
          </p:nvPr>
        </p:nvSpPr>
        <p:spPr>
          <a:xfrm>
            <a:off x="548640" y="502920"/>
            <a:ext cx="11064240" cy="868680"/>
          </a:xfrm>
          <a:prstGeom prst="rect">
            <a:avLst/>
          </a:prstGeom>
          <a:noFill/>
          <a:ln/>
        </p:spPr>
        <p:txBody>
          <a:bodyPr wrap="square" lIns="0" tIns="0" rIns="0" bIns="0" rtlCol="0" anchor="t"/>
          <a:lstStyle/>
          <a:p>
            <a:pPr indent="0" marL="0">
              <a:buNone/>
            </a:pPr>
            <a:r>
              <a:rPr lang="en-US" sz="2800" b="1" dirty="0">
                <a:solidFill>
                  <a:schemeClr val="tx2"/>
                </a:solidFill>
              </a:rPr>
              <a:t>Only layer 1 is automotive-specific; every layer above reuses the IT networking ecosystem</a:t>
            </a:r>
            <a:endParaRPr lang="en-US" sz="2800" dirty="0"/>
          </a:p>
        </p:txBody>
      </p:sp>
      <p:sp>
        <p:nvSpPr>
          <p:cNvPr id="4" name="Shape 2"/>
          <p:cNvSpPr/>
          <p:nvPr/>
        </p:nvSpPr>
        <p:spPr>
          <a:xfrm>
            <a:off x="548640" y="1645920"/>
            <a:ext cx="2468880" cy="676656"/>
          </a:xfrm>
          <a:prstGeom prst="rect">
            <a:avLst/>
          </a:prstGeom>
          <a:solidFill>
            <a:schemeClr val="tx2"/>
          </a:solidFill>
          <a:ln w="12700">
            <a:solidFill>
              <a:schemeClr val="tx2"/>
            </a:solidFill>
            <a:prstDash val="solid"/>
          </a:ln>
        </p:spPr>
      </p:sp>
      <p:sp>
        <p:nvSpPr>
          <p:cNvPr id="5" name="Text 3"/>
          <p:cNvSpPr txBox="1"/>
          <p:nvPr/>
        </p:nvSpPr>
        <p:spPr>
          <a:xfrm>
            <a:off x="731520" y="1645920"/>
            <a:ext cx="2194560" cy="676656"/>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Application</a:t>
            </a:r>
            <a:endParaRPr lang="en-US" sz="1800" dirty="0"/>
          </a:p>
          <a:p>
            <a:pPr indent="0" marL="0">
              <a:buNone/>
            </a:pPr>
            <a:r>
              <a:rPr lang="en-US" sz="1300" dirty="0">
                <a:solidFill>
                  <a:srgbClr val="FFFFFF"/>
                </a:solidFill>
                <a:latin typeface="Calibri" pitchFamily="34" charset="0"/>
                <a:ea typeface="Calibri" pitchFamily="34" charset="-122"/>
                <a:cs typeface="Calibri" pitchFamily="34" charset="-120"/>
              </a:rPr>
              <a:t>Layers 5–7</a:t>
            </a:r>
            <a:endParaRPr lang="en-US" sz="1800" dirty="0"/>
          </a:p>
        </p:txBody>
      </p:sp>
      <p:sp>
        <p:nvSpPr>
          <p:cNvPr id="6" name="Shape 4"/>
          <p:cNvSpPr/>
          <p:nvPr/>
        </p:nvSpPr>
        <p:spPr>
          <a:xfrm>
            <a:off x="3108960" y="1645920"/>
            <a:ext cx="8503920" cy="676656"/>
          </a:xfrm>
          <a:prstGeom prst="rect">
            <a:avLst/>
          </a:prstGeom>
          <a:solidFill>
            <a:schemeClr val="bg2"/>
          </a:solidFill>
          <a:ln w="12700">
            <a:solidFill>
              <a:schemeClr val="bg2"/>
            </a:solidFill>
            <a:prstDash val="solid"/>
          </a:ln>
        </p:spPr>
      </p:sp>
      <p:sp>
        <p:nvSpPr>
          <p:cNvPr id="7" name="Text 5"/>
          <p:cNvSpPr txBox="1"/>
          <p:nvPr/>
        </p:nvSpPr>
        <p:spPr>
          <a:xfrm>
            <a:off x="3291840" y="1645920"/>
            <a:ext cx="8229600" cy="676656"/>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SOME/IP (services)  ·  DoIP, ISO 13400 (diagnostics)  ·  IEEE 1722 AVTP (audio/video)  ·  DDS / MQTT</a:t>
            </a:r>
            <a:endParaRPr lang="en-US" sz="1700" dirty="0"/>
          </a:p>
        </p:txBody>
      </p:sp>
      <p:sp>
        <p:nvSpPr>
          <p:cNvPr id="8" name="Shape 6"/>
          <p:cNvSpPr/>
          <p:nvPr/>
        </p:nvSpPr>
        <p:spPr>
          <a:xfrm>
            <a:off x="548640" y="2432304"/>
            <a:ext cx="2468880" cy="676656"/>
          </a:xfrm>
          <a:prstGeom prst="rect">
            <a:avLst/>
          </a:prstGeom>
          <a:solidFill>
            <a:schemeClr val="tx2"/>
          </a:solidFill>
          <a:ln w="12700">
            <a:solidFill>
              <a:schemeClr val="tx2"/>
            </a:solidFill>
            <a:prstDash val="solid"/>
          </a:ln>
        </p:spPr>
      </p:sp>
      <p:sp>
        <p:nvSpPr>
          <p:cNvPr id="9" name="Text 7"/>
          <p:cNvSpPr txBox="1"/>
          <p:nvPr/>
        </p:nvSpPr>
        <p:spPr>
          <a:xfrm>
            <a:off x="731520" y="2432304"/>
            <a:ext cx="2194560" cy="676656"/>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Transport</a:t>
            </a:r>
            <a:endParaRPr lang="en-US" sz="1800" dirty="0"/>
          </a:p>
          <a:p>
            <a:pPr indent="0" marL="0">
              <a:buNone/>
            </a:pPr>
            <a:r>
              <a:rPr lang="en-US" sz="1300" dirty="0">
                <a:solidFill>
                  <a:srgbClr val="FFFFFF"/>
                </a:solidFill>
                <a:latin typeface="Calibri" pitchFamily="34" charset="0"/>
                <a:ea typeface="Calibri" pitchFamily="34" charset="-122"/>
                <a:cs typeface="Calibri" pitchFamily="34" charset="-120"/>
              </a:rPr>
              <a:t>Layer 4</a:t>
            </a:r>
            <a:endParaRPr lang="en-US" sz="1800" dirty="0"/>
          </a:p>
        </p:txBody>
      </p:sp>
      <p:sp>
        <p:nvSpPr>
          <p:cNvPr id="10" name="Shape 8"/>
          <p:cNvSpPr/>
          <p:nvPr/>
        </p:nvSpPr>
        <p:spPr>
          <a:xfrm>
            <a:off x="3108960" y="2432304"/>
            <a:ext cx="8503920" cy="676656"/>
          </a:xfrm>
          <a:prstGeom prst="rect">
            <a:avLst/>
          </a:prstGeom>
          <a:solidFill>
            <a:schemeClr val="bg2"/>
          </a:solidFill>
          <a:ln w="12700">
            <a:solidFill>
              <a:schemeClr val="bg2"/>
            </a:solidFill>
            <a:prstDash val="solid"/>
          </a:ln>
        </p:spPr>
      </p:sp>
      <p:sp>
        <p:nvSpPr>
          <p:cNvPr id="11" name="Text 9"/>
          <p:cNvSpPr txBox="1"/>
          <p:nvPr/>
        </p:nvSpPr>
        <p:spPr>
          <a:xfrm>
            <a:off x="3291840" y="2432304"/>
            <a:ext cx="8229600" cy="676656"/>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TCP (reliable, e.g. software updates)  ·  UDP (fast, e.g. sensor streams)</a:t>
            </a:r>
            <a:endParaRPr lang="en-US" sz="1700" dirty="0"/>
          </a:p>
        </p:txBody>
      </p:sp>
      <p:sp>
        <p:nvSpPr>
          <p:cNvPr id="12" name="Shape 10"/>
          <p:cNvSpPr/>
          <p:nvPr/>
        </p:nvSpPr>
        <p:spPr>
          <a:xfrm>
            <a:off x="548640" y="3218688"/>
            <a:ext cx="2468880" cy="676656"/>
          </a:xfrm>
          <a:prstGeom prst="rect">
            <a:avLst/>
          </a:prstGeom>
          <a:solidFill>
            <a:schemeClr val="tx2"/>
          </a:solidFill>
          <a:ln w="12700">
            <a:solidFill>
              <a:schemeClr val="tx2"/>
            </a:solidFill>
            <a:prstDash val="solid"/>
          </a:ln>
        </p:spPr>
      </p:sp>
      <p:sp>
        <p:nvSpPr>
          <p:cNvPr id="13" name="Text 11"/>
          <p:cNvSpPr txBox="1"/>
          <p:nvPr/>
        </p:nvSpPr>
        <p:spPr>
          <a:xfrm>
            <a:off x="731520" y="3218688"/>
            <a:ext cx="2194560" cy="676656"/>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Network</a:t>
            </a:r>
            <a:endParaRPr lang="en-US" sz="1800" dirty="0"/>
          </a:p>
          <a:p>
            <a:pPr indent="0" marL="0">
              <a:buNone/>
            </a:pPr>
            <a:r>
              <a:rPr lang="en-US" sz="1300" dirty="0">
                <a:solidFill>
                  <a:srgbClr val="FFFFFF"/>
                </a:solidFill>
                <a:latin typeface="Calibri" pitchFamily="34" charset="0"/>
                <a:ea typeface="Calibri" pitchFamily="34" charset="-122"/>
                <a:cs typeface="Calibri" pitchFamily="34" charset="-120"/>
              </a:rPr>
              <a:t>Layer 3</a:t>
            </a:r>
            <a:endParaRPr lang="en-US" sz="1800" dirty="0"/>
          </a:p>
        </p:txBody>
      </p:sp>
      <p:sp>
        <p:nvSpPr>
          <p:cNvPr id="14" name="Shape 12"/>
          <p:cNvSpPr/>
          <p:nvPr/>
        </p:nvSpPr>
        <p:spPr>
          <a:xfrm>
            <a:off x="3108960" y="3218688"/>
            <a:ext cx="8503920" cy="676656"/>
          </a:xfrm>
          <a:prstGeom prst="rect">
            <a:avLst/>
          </a:prstGeom>
          <a:solidFill>
            <a:schemeClr val="bg2"/>
          </a:solidFill>
          <a:ln w="12700">
            <a:solidFill>
              <a:schemeClr val="bg2"/>
            </a:solidFill>
            <a:prstDash val="solid"/>
          </a:ln>
        </p:spPr>
      </p:sp>
      <p:sp>
        <p:nvSpPr>
          <p:cNvPr id="15" name="Text 13"/>
          <p:cNvSpPr txBox="1"/>
          <p:nvPr/>
        </p:nvSpPr>
        <p:spPr>
          <a:xfrm>
            <a:off x="3291840" y="3218688"/>
            <a:ext cx="8229600" cy="676656"/>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IPv4  ·  IPv6</a:t>
            </a:r>
            <a:endParaRPr lang="en-US" sz="1700" dirty="0"/>
          </a:p>
        </p:txBody>
      </p:sp>
      <p:sp>
        <p:nvSpPr>
          <p:cNvPr id="16" name="Shape 14"/>
          <p:cNvSpPr/>
          <p:nvPr/>
        </p:nvSpPr>
        <p:spPr>
          <a:xfrm>
            <a:off x="548640" y="4005072"/>
            <a:ext cx="2468880" cy="676656"/>
          </a:xfrm>
          <a:prstGeom prst="rect">
            <a:avLst/>
          </a:prstGeom>
          <a:solidFill>
            <a:schemeClr val="tx2"/>
          </a:solidFill>
          <a:ln w="12700">
            <a:solidFill>
              <a:schemeClr val="tx2"/>
            </a:solidFill>
            <a:prstDash val="solid"/>
          </a:ln>
        </p:spPr>
      </p:sp>
      <p:sp>
        <p:nvSpPr>
          <p:cNvPr id="17" name="Text 15"/>
          <p:cNvSpPr txBox="1"/>
          <p:nvPr/>
        </p:nvSpPr>
        <p:spPr>
          <a:xfrm>
            <a:off x="731520" y="4005072"/>
            <a:ext cx="2194560" cy="676656"/>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Data link</a:t>
            </a:r>
            <a:endParaRPr lang="en-US" sz="1800" dirty="0"/>
          </a:p>
          <a:p>
            <a:pPr indent="0" marL="0">
              <a:buNone/>
            </a:pPr>
            <a:r>
              <a:rPr lang="en-US" sz="1300" dirty="0">
                <a:solidFill>
                  <a:srgbClr val="FFFFFF"/>
                </a:solidFill>
                <a:latin typeface="Calibri" pitchFamily="34" charset="0"/>
                <a:ea typeface="Calibri" pitchFamily="34" charset="-122"/>
                <a:cs typeface="Calibri" pitchFamily="34" charset="-120"/>
              </a:rPr>
              <a:t>Layer 2</a:t>
            </a:r>
            <a:endParaRPr lang="en-US" sz="1800" dirty="0"/>
          </a:p>
        </p:txBody>
      </p:sp>
      <p:sp>
        <p:nvSpPr>
          <p:cNvPr id="18" name="Shape 16"/>
          <p:cNvSpPr/>
          <p:nvPr/>
        </p:nvSpPr>
        <p:spPr>
          <a:xfrm>
            <a:off x="3108960" y="4005072"/>
            <a:ext cx="8503920" cy="676656"/>
          </a:xfrm>
          <a:prstGeom prst="rect">
            <a:avLst/>
          </a:prstGeom>
          <a:solidFill>
            <a:schemeClr val="bg2"/>
          </a:solidFill>
          <a:ln w="12700">
            <a:solidFill>
              <a:schemeClr val="bg2"/>
            </a:solidFill>
            <a:prstDash val="solid"/>
          </a:ln>
        </p:spPr>
      </p:sp>
      <p:sp>
        <p:nvSpPr>
          <p:cNvPr id="19" name="Text 17"/>
          <p:cNvSpPr txBox="1"/>
          <p:nvPr/>
        </p:nvSpPr>
        <p:spPr>
          <a:xfrm>
            <a:off x="3291840" y="4005072"/>
            <a:ext cx="8229600" cy="676656"/>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IEEE 802.3 MAC  ·  802.1Q VLANs  ·  TSN (802.1AS, 802.1Qbv …)  ·  MACsec 802.1AE</a:t>
            </a:r>
            <a:endParaRPr lang="en-US" sz="1700" dirty="0"/>
          </a:p>
        </p:txBody>
      </p:sp>
      <p:sp>
        <p:nvSpPr>
          <p:cNvPr id="20" name="Shape 18"/>
          <p:cNvSpPr/>
          <p:nvPr/>
        </p:nvSpPr>
        <p:spPr>
          <a:xfrm>
            <a:off x="548640" y="4791456"/>
            <a:ext cx="2468880" cy="676656"/>
          </a:xfrm>
          <a:prstGeom prst="rect">
            <a:avLst/>
          </a:prstGeom>
          <a:solidFill>
            <a:schemeClr val="accent2"/>
          </a:solidFill>
          <a:ln w="12700">
            <a:solidFill>
              <a:schemeClr val="accent2"/>
            </a:solidFill>
            <a:prstDash val="solid"/>
          </a:ln>
        </p:spPr>
      </p:sp>
      <p:sp>
        <p:nvSpPr>
          <p:cNvPr id="21" name="Text 19"/>
          <p:cNvSpPr txBox="1"/>
          <p:nvPr/>
        </p:nvSpPr>
        <p:spPr>
          <a:xfrm>
            <a:off x="731520" y="4791456"/>
            <a:ext cx="2194560" cy="676656"/>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Physical</a:t>
            </a:r>
            <a:endParaRPr lang="en-US" sz="1800" dirty="0"/>
          </a:p>
          <a:p>
            <a:pPr indent="0" marL="0">
              <a:buNone/>
            </a:pPr>
            <a:r>
              <a:rPr lang="en-US" sz="1300" dirty="0">
                <a:solidFill>
                  <a:srgbClr val="FFFFFF"/>
                </a:solidFill>
                <a:latin typeface="Calibri" pitchFamily="34" charset="0"/>
                <a:ea typeface="Calibri" pitchFamily="34" charset="-122"/>
                <a:cs typeface="Calibri" pitchFamily="34" charset="-120"/>
              </a:rPr>
              <a:t>Layer 1</a:t>
            </a:r>
            <a:endParaRPr lang="en-US" sz="1800" dirty="0"/>
          </a:p>
        </p:txBody>
      </p:sp>
      <p:sp>
        <p:nvSpPr>
          <p:cNvPr id="22" name="Shape 20"/>
          <p:cNvSpPr/>
          <p:nvPr/>
        </p:nvSpPr>
        <p:spPr>
          <a:xfrm>
            <a:off x="3108960" y="4791456"/>
            <a:ext cx="8503920" cy="676656"/>
          </a:xfrm>
          <a:prstGeom prst="rect">
            <a:avLst/>
          </a:prstGeom>
          <a:solidFill>
            <a:schemeClr val="accent6"/>
          </a:solidFill>
          <a:ln w="19050">
            <a:solidFill>
              <a:schemeClr val="accent2"/>
            </a:solidFill>
            <a:prstDash val="solid"/>
          </a:ln>
        </p:spPr>
      </p:sp>
      <p:sp>
        <p:nvSpPr>
          <p:cNvPr id="23" name="Text 21"/>
          <p:cNvSpPr txBox="1"/>
          <p:nvPr/>
        </p:nvSpPr>
        <p:spPr>
          <a:xfrm>
            <a:off x="3291840" y="4791456"/>
            <a:ext cx="8229600" cy="676656"/>
          </a:xfrm>
          <a:prstGeom prst="rect">
            <a:avLst/>
          </a:prstGeom>
          <a:noFill/>
          <a:ln/>
        </p:spPr>
        <p:txBody>
          <a:bodyPr wrap="square" lIns="0" tIns="0" rIns="0" bIns="0" rtlCol="0" anchor="ctr"/>
          <a:lstStyle/>
          <a:p>
            <a:pPr indent="0" marL="0">
              <a:buNone/>
            </a:pPr>
            <a:r>
              <a:rPr lang="en-US" sz="1700" b="1" dirty="0">
                <a:solidFill>
                  <a:schemeClr val="accent2"/>
                </a:solidFill>
                <a:latin typeface="Calibri" pitchFamily="34" charset="0"/>
                <a:ea typeface="Calibri" pitchFamily="34" charset="-122"/>
                <a:cs typeface="Calibri" pitchFamily="34" charset="-120"/>
              </a:rPr>
              <a:t>10BASE-T1S  ·  100BASE-T1  ·  1000BASE-T1  ·  2.5–25GBASE-T1</a:t>
            </a:r>
            <a:endParaRPr lang="en-US" sz="1700" dirty="0"/>
          </a:p>
        </p:txBody>
      </p:sp>
      <p:sp>
        <p:nvSpPr>
          <p:cNvPr id="24" name="Text 22"/>
          <p:cNvSpPr txBox="1"/>
          <p:nvPr/>
        </p:nvSpPr>
        <p:spPr>
          <a:xfrm>
            <a:off x="548640" y="5623560"/>
            <a:ext cx="11064240" cy="36576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Orange = new for automotive.  </a:t>
            </a:r>
            <a:pPr indent="0" marL="0">
              <a:buNone/>
            </a:pPr>
            <a:r>
              <a:rPr lang="en-US" sz="1600" dirty="0">
                <a:solidFill>
                  <a:schemeClr val="tx1"/>
                </a:solidFill>
                <a:latin typeface="Calibri" pitchFamily="34" charset="0"/>
                <a:ea typeface="Calibri" pitchFamily="34" charset="-122"/>
                <a:cs typeface="Calibri" pitchFamily="34" charset="-120"/>
              </a:rPr>
              <a:t>Blue rows are standard Ethernet/IP, reused unchanged.</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8229600" cy="274320"/>
          </a:xfrm>
          <a:prstGeom prst="rect">
            <a:avLst/>
          </a:prstGeom>
          <a:noFill/>
          <a:ln/>
        </p:spPr>
        <p:txBody>
          <a:bodyPr wrap="square" lIns="0" tIns="0" rIns="0" bIns="0" rtlCol="0"/>
          <a:lstStyle/>
          <a:p>
            <a:pPr indent="0" marL="0">
              <a:buNone/>
            </a:pPr>
            <a:r>
              <a:rPr lang="en-US" sz="1200" b="1" spc="100" kern="0" dirty="0">
                <a:solidFill>
                  <a:schemeClr val="accent1"/>
                </a:solidFill>
              </a:rPr>
              <a:t>COMPONENTS AND ARCHITECTURE · MAJOR COMPONENTS</a:t>
            </a:r>
            <a:endParaRPr lang="en-US" sz="1200" dirty="0"/>
          </a:p>
        </p:txBody>
      </p:sp>
      <p:sp>
        <p:nvSpPr>
          <p:cNvPr id="3" name="Text 0"/>
          <p:cNvSpPr/>
          <p:nvPr>
            <p:ph idx="101" type="title" hasCustomPrompt="1"/>
          </p:nvPr>
        </p:nvSpPr>
        <p:spPr>
          <a:xfrm>
            <a:off x="548640" y="502920"/>
            <a:ext cx="11064240" cy="868680"/>
          </a:xfrm>
          <a:prstGeom prst="rect">
            <a:avLst/>
          </a:prstGeom>
          <a:noFill/>
          <a:ln/>
        </p:spPr>
        <p:txBody>
          <a:bodyPr wrap="square" lIns="0" tIns="0" rIns="0" bIns="0" rtlCol="0" anchor="t"/>
          <a:lstStyle/>
          <a:p>
            <a:pPr indent="0" marL="0">
              <a:buNone/>
            </a:pPr>
            <a:r>
              <a:rPr lang="en-US" sz="2800" b="1" dirty="0">
                <a:solidFill>
                  <a:schemeClr val="tx2"/>
                </a:solidFill>
              </a:rPr>
              <a:t>Six building blocks turn an ECU’s data into a robust signal on the wire</a:t>
            </a:r>
            <a:endParaRPr lang="en-US" sz="2800" dirty="0"/>
          </a:p>
        </p:txBody>
      </p:sp>
      <p:sp>
        <p:nvSpPr>
          <p:cNvPr id="4" name="Shape 2"/>
          <p:cNvSpPr/>
          <p:nvPr/>
        </p:nvSpPr>
        <p:spPr>
          <a:xfrm>
            <a:off x="548640" y="1645920"/>
            <a:ext cx="3566160" cy="1965960"/>
          </a:xfrm>
          <a:prstGeom prst="rect">
            <a:avLst/>
          </a:prstGeom>
          <a:solidFill>
            <a:schemeClr val="bg2"/>
          </a:solidFill>
          <a:ln w="12700">
            <a:solidFill>
              <a:schemeClr val="bg2"/>
            </a:solidFill>
            <a:prstDash val="solid"/>
          </a:ln>
        </p:spPr>
      </p:sp>
      <p:sp>
        <p:nvSpPr>
          <p:cNvPr id="5" name="Text 3"/>
          <p:cNvSpPr txBox="1"/>
          <p:nvPr/>
        </p:nvSpPr>
        <p:spPr>
          <a:xfrm>
            <a:off x="777240" y="1828800"/>
            <a:ext cx="548640" cy="457200"/>
          </a:xfrm>
          <a:prstGeom prst="rect">
            <a:avLst/>
          </a:prstGeom>
          <a:noFill/>
          <a:ln/>
        </p:spPr>
        <p:txBody>
          <a:bodyPr wrap="square" lIns="0" tIns="0" rIns="0" bIns="0" rtlCol="0" anchor="ctr"/>
          <a:lstStyle/>
          <a:p>
            <a:pPr indent="0" marL="0">
              <a:buNone/>
            </a:pPr>
            <a:r>
              <a:rPr lang="en-US" sz="2600" b="1" dirty="0">
                <a:solidFill>
                  <a:schemeClr val="accent1"/>
                </a:solidFill>
                <a:latin typeface="Calibri" pitchFamily="34" charset="0"/>
                <a:ea typeface="Calibri" pitchFamily="34" charset="-122"/>
                <a:cs typeface="Calibri" pitchFamily="34" charset="-120"/>
              </a:rPr>
              <a:t>1</a:t>
            </a:r>
            <a:endParaRPr lang="en-US" sz="2600" dirty="0"/>
          </a:p>
        </p:txBody>
      </p:sp>
      <p:sp>
        <p:nvSpPr>
          <p:cNvPr id="6" name="Text 4"/>
          <p:cNvSpPr txBox="1"/>
          <p:nvPr/>
        </p:nvSpPr>
        <p:spPr>
          <a:xfrm>
            <a:off x="777240" y="2304288"/>
            <a:ext cx="3108960" cy="411480"/>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Microcontroller / SoC</a:t>
            </a:r>
            <a:endParaRPr lang="en-US" sz="2000" dirty="0"/>
          </a:p>
        </p:txBody>
      </p:sp>
      <p:sp>
        <p:nvSpPr>
          <p:cNvPr id="7" name="Text 5"/>
          <p:cNvSpPr txBox="1"/>
          <p:nvPr/>
        </p:nvSpPr>
        <p:spPr>
          <a:xfrm>
            <a:off x="777240" y="2715768"/>
            <a:ext cx="3154680" cy="82296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Runs the application and TCP/IP stack; contains the Ethernet MAC</a:t>
            </a:r>
            <a:endParaRPr lang="en-US" sz="1600" dirty="0"/>
          </a:p>
        </p:txBody>
      </p:sp>
      <p:sp>
        <p:nvSpPr>
          <p:cNvPr id="8" name="Shape 6"/>
          <p:cNvSpPr/>
          <p:nvPr/>
        </p:nvSpPr>
        <p:spPr>
          <a:xfrm>
            <a:off x="4297680" y="1645920"/>
            <a:ext cx="3566160" cy="1965960"/>
          </a:xfrm>
          <a:prstGeom prst="rect">
            <a:avLst/>
          </a:prstGeom>
          <a:solidFill>
            <a:schemeClr val="bg2"/>
          </a:solidFill>
          <a:ln w="12700">
            <a:solidFill>
              <a:schemeClr val="bg2"/>
            </a:solidFill>
            <a:prstDash val="solid"/>
          </a:ln>
        </p:spPr>
      </p:sp>
      <p:sp>
        <p:nvSpPr>
          <p:cNvPr id="9" name="Text 7"/>
          <p:cNvSpPr txBox="1"/>
          <p:nvPr/>
        </p:nvSpPr>
        <p:spPr>
          <a:xfrm>
            <a:off x="4526280" y="1828800"/>
            <a:ext cx="548640" cy="457200"/>
          </a:xfrm>
          <a:prstGeom prst="rect">
            <a:avLst/>
          </a:prstGeom>
          <a:noFill/>
          <a:ln/>
        </p:spPr>
        <p:txBody>
          <a:bodyPr wrap="square" lIns="0" tIns="0" rIns="0" bIns="0" rtlCol="0" anchor="ctr"/>
          <a:lstStyle/>
          <a:p>
            <a:pPr indent="0" marL="0">
              <a:buNone/>
            </a:pPr>
            <a:r>
              <a:rPr lang="en-US" sz="2600" b="1" dirty="0">
                <a:solidFill>
                  <a:schemeClr val="accent1"/>
                </a:solidFill>
                <a:latin typeface="Calibri" pitchFamily="34" charset="0"/>
                <a:ea typeface="Calibri" pitchFamily="34" charset="-122"/>
                <a:cs typeface="Calibri" pitchFamily="34" charset="-120"/>
              </a:rPr>
              <a:t>2</a:t>
            </a:r>
            <a:endParaRPr lang="en-US" sz="2600" dirty="0"/>
          </a:p>
        </p:txBody>
      </p:sp>
      <p:sp>
        <p:nvSpPr>
          <p:cNvPr id="10" name="Text 8"/>
          <p:cNvSpPr txBox="1"/>
          <p:nvPr/>
        </p:nvSpPr>
        <p:spPr>
          <a:xfrm>
            <a:off x="4526280" y="2304288"/>
            <a:ext cx="3108960" cy="411480"/>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PHY transceiver</a:t>
            </a:r>
            <a:endParaRPr lang="en-US" sz="2000" dirty="0"/>
          </a:p>
        </p:txBody>
      </p:sp>
      <p:sp>
        <p:nvSpPr>
          <p:cNvPr id="11" name="Text 9"/>
          <p:cNvSpPr txBox="1"/>
          <p:nvPr/>
        </p:nvSpPr>
        <p:spPr>
          <a:xfrm>
            <a:off x="4526280" y="2715768"/>
            <a:ext cx="3154680" cy="82296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Converts digital frames to PAM signals and back; echo cancellation</a:t>
            </a:r>
            <a:endParaRPr lang="en-US" sz="1600" dirty="0"/>
          </a:p>
        </p:txBody>
      </p:sp>
      <p:sp>
        <p:nvSpPr>
          <p:cNvPr id="12" name="Shape 10"/>
          <p:cNvSpPr/>
          <p:nvPr/>
        </p:nvSpPr>
        <p:spPr>
          <a:xfrm>
            <a:off x="8046720" y="1645920"/>
            <a:ext cx="3566160" cy="1965960"/>
          </a:xfrm>
          <a:prstGeom prst="rect">
            <a:avLst/>
          </a:prstGeom>
          <a:solidFill>
            <a:schemeClr val="bg2"/>
          </a:solidFill>
          <a:ln w="12700">
            <a:solidFill>
              <a:schemeClr val="bg2"/>
            </a:solidFill>
            <a:prstDash val="solid"/>
          </a:ln>
        </p:spPr>
      </p:sp>
      <p:sp>
        <p:nvSpPr>
          <p:cNvPr id="13" name="Text 11"/>
          <p:cNvSpPr txBox="1"/>
          <p:nvPr/>
        </p:nvSpPr>
        <p:spPr>
          <a:xfrm>
            <a:off x="8275320" y="1828800"/>
            <a:ext cx="548640" cy="457200"/>
          </a:xfrm>
          <a:prstGeom prst="rect">
            <a:avLst/>
          </a:prstGeom>
          <a:noFill/>
          <a:ln/>
        </p:spPr>
        <p:txBody>
          <a:bodyPr wrap="square" lIns="0" tIns="0" rIns="0" bIns="0" rtlCol="0" anchor="ctr"/>
          <a:lstStyle/>
          <a:p>
            <a:pPr indent="0" marL="0">
              <a:buNone/>
            </a:pPr>
            <a:r>
              <a:rPr lang="en-US" sz="2600" b="1" dirty="0">
                <a:solidFill>
                  <a:schemeClr val="accent1"/>
                </a:solidFill>
                <a:latin typeface="Calibri" pitchFamily="34" charset="0"/>
                <a:ea typeface="Calibri" pitchFamily="34" charset="-122"/>
                <a:cs typeface="Calibri" pitchFamily="34" charset="-120"/>
              </a:rPr>
              <a:t>3</a:t>
            </a:r>
            <a:endParaRPr lang="en-US" sz="2600" dirty="0"/>
          </a:p>
        </p:txBody>
      </p:sp>
      <p:sp>
        <p:nvSpPr>
          <p:cNvPr id="14" name="Text 12"/>
          <p:cNvSpPr txBox="1"/>
          <p:nvPr/>
        </p:nvSpPr>
        <p:spPr>
          <a:xfrm>
            <a:off x="8275320" y="2304288"/>
            <a:ext cx="3108960" cy="411480"/>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MDI network</a:t>
            </a:r>
            <a:endParaRPr lang="en-US" sz="2000" dirty="0"/>
          </a:p>
        </p:txBody>
      </p:sp>
      <p:sp>
        <p:nvSpPr>
          <p:cNvPr id="15" name="Text 13"/>
          <p:cNvSpPr txBox="1"/>
          <p:nvPr/>
        </p:nvSpPr>
        <p:spPr>
          <a:xfrm>
            <a:off x="8275320" y="2715768"/>
            <a:ext cx="3154680" cy="82296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Common-mode choke, ESD protection, AC-coupling capacitors for EMC</a:t>
            </a:r>
            <a:endParaRPr lang="en-US" sz="1600" dirty="0"/>
          </a:p>
        </p:txBody>
      </p:sp>
      <p:sp>
        <p:nvSpPr>
          <p:cNvPr id="16" name="Shape 14"/>
          <p:cNvSpPr/>
          <p:nvPr/>
        </p:nvSpPr>
        <p:spPr>
          <a:xfrm>
            <a:off x="548640" y="3794760"/>
            <a:ext cx="3566160" cy="1965960"/>
          </a:xfrm>
          <a:prstGeom prst="rect">
            <a:avLst/>
          </a:prstGeom>
          <a:solidFill>
            <a:schemeClr val="bg2"/>
          </a:solidFill>
          <a:ln w="12700">
            <a:solidFill>
              <a:schemeClr val="bg2"/>
            </a:solidFill>
            <a:prstDash val="solid"/>
          </a:ln>
        </p:spPr>
      </p:sp>
      <p:sp>
        <p:nvSpPr>
          <p:cNvPr id="17" name="Text 15"/>
          <p:cNvSpPr txBox="1"/>
          <p:nvPr/>
        </p:nvSpPr>
        <p:spPr>
          <a:xfrm>
            <a:off x="777240" y="3977640"/>
            <a:ext cx="548640" cy="457200"/>
          </a:xfrm>
          <a:prstGeom prst="rect">
            <a:avLst/>
          </a:prstGeom>
          <a:noFill/>
          <a:ln/>
        </p:spPr>
        <p:txBody>
          <a:bodyPr wrap="square" lIns="0" tIns="0" rIns="0" bIns="0" rtlCol="0" anchor="ctr"/>
          <a:lstStyle/>
          <a:p>
            <a:pPr indent="0" marL="0">
              <a:buNone/>
            </a:pPr>
            <a:r>
              <a:rPr lang="en-US" sz="2600" b="1" dirty="0">
                <a:solidFill>
                  <a:schemeClr val="accent1"/>
                </a:solidFill>
                <a:latin typeface="Calibri" pitchFamily="34" charset="0"/>
                <a:ea typeface="Calibri" pitchFamily="34" charset="-122"/>
                <a:cs typeface="Calibri" pitchFamily="34" charset="-120"/>
              </a:rPr>
              <a:t>4</a:t>
            </a:r>
            <a:endParaRPr lang="en-US" sz="2600" dirty="0"/>
          </a:p>
        </p:txBody>
      </p:sp>
      <p:sp>
        <p:nvSpPr>
          <p:cNvPr id="18" name="Text 16"/>
          <p:cNvSpPr txBox="1"/>
          <p:nvPr/>
        </p:nvSpPr>
        <p:spPr>
          <a:xfrm>
            <a:off x="777240" y="4453128"/>
            <a:ext cx="3108960" cy="411480"/>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Cable and connector</a:t>
            </a:r>
            <a:endParaRPr lang="en-US" sz="2000" dirty="0"/>
          </a:p>
        </p:txBody>
      </p:sp>
      <p:sp>
        <p:nvSpPr>
          <p:cNvPr id="19" name="Text 17"/>
          <p:cNvSpPr txBox="1"/>
          <p:nvPr/>
        </p:nvSpPr>
        <p:spPr>
          <a:xfrm>
            <a:off x="777240" y="4864608"/>
            <a:ext cx="3154680" cy="82296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Unshielded twisted pair (shielded for multi-gig); compact automotive connectors</a:t>
            </a:r>
            <a:endParaRPr lang="en-US" sz="1600" dirty="0"/>
          </a:p>
        </p:txBody>
      </p:sp>
      <p:sp>
        <p:nvSpPr>
          <p:cNvPr id="20" name="Shape 18"/>
          <p:cNvSpPr/>
          <p:nvPr/>
        </p:nvSpPr>
        <p:spPr>
          <a:xfrm>
            <a:off x="4297680" y="3794760"/>
            <a:ext cx="3566160" cy="1965960"/>
          </a:xfrm>
          <a:prstGeom prst="rect">
            <a:avLst/>
          </a:prstGeom>
          <a:solidFill>
            <a:schemeClr val="bg2"/>
          </a:solidFill>
          <a:ln w="12700">
            <a:solidFill>
              <a:schemeClr val="bg2"/>
            </a:solidFill>
            <a:prstDash val="solid"/>
          </a:ln>
        </p:spPr>
      </p:sp>
      <p:sp>
        <p:nvSpPr>
          <p:cNvPr id="21" name="Text 19"/>
          <p:cNvSpPr txBox="1"/>
          <p:nvPr/>
        </p:nvSpPr>
        <p:spPr>
          <a:xfrm>
            <a:off x="4526280" y="3977640"/>
            <a:ext cx="548640" cy="457200"/>
          </a:xfrm>
          <a:prstGeom prst="rect">
            <a:avLst/>
          </a:prstGeom>
          <a:noFill/>
          <a:ln/>
        </p:spPr>
        <p:txBody>
          <a:bodyPr wrap="square" lIns="0" tIns="0" rIns="0" bIns="0" rtlCol="0" anchor="ctr"/>
          <a:lstStyle/>
          <a:p>
            <a:pPr indent="0" marL="0">
              <a:buNone/>
            </a:pPr>
            <a:r>
              <a:rPr lang="en-US" sz="2600" b="1" dirty="0">
                <a:solidFill>
                  <a:schemeClr val="accent1"/>
                </a:solidFill>
                <a:latin typeface="Calibri" pitchFamily="34" charset="0"/>
                <a:ea typeface="Calibri" pitchFamily="34" charset="-122"/>
                <a:cs typeface="Calibri" pitchFamily="34" charset="-120"/>
              </a:rPr>
              <a:t>5</a:t>
            </a:r>
            <a:endParaRPr lang="en-US" sz="2600" dirty="0"/>
          </a:p>
        </p:txBody>
      </p:sp>
      <p:sp>
        <p:nvSpPr>
          <p:cNvPr id="22" name="Text 20"/>
          <p:cNvSpPr txBox="1"/>
          <p:nvPr/>
        </p:nvSpPr>
        <p:spPr>
          <a:xfrm>
            <a:off x="4526280" y="4453128"/>
            <a:ext cx="3108960" cy="411480"/>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Ethernet switch</a:t>
            </a:r>
            <a:endParaRPr lang="en-US" sz="2000" dirty="0"/>
          </a:p>
        </p:txBody>
      </p:sp>
      <p:sp>
        <p:nvSpPr>
          <p:cNvPr id="23" name="Text 21"/>
          <p:cNvSpPr txBox="1"/>
          <p:nvPr/>
        </p:nvSpPr>
        <p:spPr>
          <a:xfrm>
            <a:off x="4526280" y="4864608"/>
            <a:ext cx="3154680" cy="82296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Forwards frames between ECUs; VLANs, TSN scheduling, filtering</a:t>
            </a:r>
            <a:endParaRPr lang="en-US" sz="1600" dirty="0"/>
          </a:p>
        </p:txBody>
      </p:sp>
      <p:sp>
        <p:nvSpPr>
          <p:cNvPr id="24" name="Shape 22"/>
          <p:cNvSpPr/>
          <p:nvPr/>
        </p:nvSpPr>
        <p:spPr>
          <a:xfrm>
            <a:off x="8046720" y="3794760"/>
            <a:ext cx="3566160" cy="1965960"/>
          </a:xfrm>
          <a:prstGeom prst="rect">
            <a:avLst/>
          </a:prstGeom>
          <a:solidFill>
            <a:schemeClr val="bg2"/>
          </a:solidFill>
          <a:ln w="12700">
            <a:solidFill>
              <a:schemeClr val="bg2"/>
            </a:solidFill>
            <a:prstDash val="solid"/>
          </a:ln>
        </p:spPr>
      </p:sp>
      <p:sp>
        <p:nvSpPr>
          <p:cNvPr id="25" name="Text 23"/>
          <p:cNvSpPr txBox="1"/>
          <p:nvPr/>
        </p:nvSpPr>
        <p:spPr>
          <a:xfrm>
            <a:off x="8275320" y="3977640"/>
            <a:ext cx="548640" cy="457200"/>
          </a:xfrm>
          <a:prstGeom prst="rect">
            <a:avLst/>
          </a:prstGeom>
          <a:noFill/>
          <a:ln/>
        </p:spPr>
        <p:txBody>
          <a:bodyPr wrap="square" lIns="0" tIns="0" rIns="0" bIns="0" rtlCol="0" anchor="ctr"/>
          <a:lstStyle/>
          <a:p>
            <a:pPr indent="0" marL="0">
              <a:buNone/>
            </a:pPr>
            <a:r>
              <a:rPr lang="en-US" sz="2600" b="1" dirty="0">
                <a:solidFill>
                  <a:schemeClr val="accent1"/>
                </a:solidFill>
                <a:latin typeface="Calibri" pitchFamily="34" charset="0"/>
                <a:ea typeface="Calibri" pitchFamily="34" charset="-122"/>
                <a:cs typeface="Calibri" pitchFamily="34" charset="-120"/>
              </a:rPr>
              <a:t>6</a:t>
            </a:r>
            <a:endParaRPr lang="en-US" sz="2600" dirty="0"/>
          </a:p>
        </p:txBody>
      </p:sp>
      <p:sp>
        <p:nvSpPr>
          <p:cNvPr id="26" name="Text 24"/>
          <p:cNvSpPr txBox="1"/>
          <p:nvPr/>
        </p:nvSpPr>
        <p:spPr>
          <a:xfrm>
            <a:off x="8275320" y="4453128"/>
            <a:ext cx="3108960" cy="411480"/>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Gateway / central computer</a:t>
            </a:r>
            <a:endParaRPr lang="en-US" sz="2000" dirty="0"/>
          </a:p>
        </p:txBody>
      </p:sp>
      <p:sp>
        <p:nvSpPr>
          <p:cNvPr id="27" name="Text 25"/>
          <p:cNvSpPr txBox="1"/>
          <p:nvPr/>
        </p:nvSpPr>
        <p:spPr>
          <a:xfrm>
            <a:off x="8275320" y="4864608"/>
            <a:ext cx="3154680" cy="82296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Bridges Ethernet with CAN, LIN, FlexRay; routing and firewall</a:t>
            </a:r>
            <a:endParaRPr lang="en-US" sz="1600" dirty="0"/>
          </a:p>
        </p:txBody>
      </p:sp>
      <p:sp>
        <p:nvSpPr>
          <p:cNvPr id="28" name="Text 26"/>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200" dirty="0">
                <a:solidFill>
                  <a:schemeClr val="accent4"/>
                </a:solidFill>
                <a:latin typeface="Calibri" pitchFamily="34" charset="0"/>
                <a:ea typeface="Calibri" pitchFamily="34" charset="-122"/>
                <a:cs typeface="Calibri" pitchFamily="34" charset="-120"/>
              </a:rPr>
              <a:t>Matheus &amp; Königseder (2021), ch. 4–6; OPEN Alliance TC1/TC9 channel and component specifications.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8229600" cy="274320"/>
          </a:xfrm>
          <a:prstGeom prst="rect">
            <a:avLst/>
          </a:prstGeom>
          <a:noFill/>
          <a:ln/>
        </p:spPr>
        <p:txBody>
          <a:bodyPr wrap="square" lIns="0" tIns="0" rIns="0" bIns="0" rtlCol="0"/>
          <a:lstStyle/>
          <a:p>
            <a:pPr indent="0" marL="0">
              <a:buNone/>
            </a:pPr>
            <a:r>
              <a:rPr lang="en-US" sz="1200" b="1" spc="100" kern="0" dirty="0">
                <a:solidFill>
                  <a:schemeClr val="accent1"/>
                </a:solidFill>
              </a:rPr>
              <a:t>COMPONENTS AND ARCHITECTURE · BLOCK DIAGRAM</a:t>
            </a:r>
            <a:endParaRPr lang="en-US" sz="1200" dirty="0"/>
          </a:p>
        </p:txBody>
      </p:sp>
      <p:sp>
        <p:nvSpPr>
          <p:cNvPr id="3" name="Text 0"/>
          <p:cNvSpPr/>
          <p:nvPr>
            <p:ph idx="101" type="title" hasCustomPrompt="1"/>
          </p:nvPr>
        </p:nvSpPr>
        <p:spPr>
          <a:xfrm>
            <a:off x="548640" y="502920"/>
            <a:ext cx="11064240" cy="868680"/>
          </a:xfrm>
          <a:prstGeom prst="rect">
            <a:avLst/>
          </a:prstGeom>
          <a:noFill/>
          <a:ln/>
        </p:spPr>
        <p:txBody>
          <a:bodyPr wrap="square" lIns="0" tIns="0" rIns="0" bIns="0" rtlCol="0" anchor="t"/>
          <a:lstStyle/>
          <a:p>
            <a:pPr indent="0" marL="0">
              <a:buNone/>
            </a:pPr>
            <a:r>
              <a:rPr lang="en-US" sz="2800" b="1" dirty="0">
                <a:solidFill>
                  <a:schemeClr val="tx2"/>
                </a:solidFill>
              </a:rPr>
              <a:t>In the signal path, the PHY converts frames to PAM symbols and the MDI network keeps EMC within limits</a:t>
            </a:r>
            <a:endParaRPr lang="en-US" sz="2800" dirty="0"/>
          </a:p>
        </p:txBody>
      </p:sp>
      <p:sp>
        <p:nvSpPr>
          <p:cNvPr id="4" name="Shape 2"/>
          <p:cNvSpPr/>
          <p:nvPr/>
        </p:nvSpPr>
        <p:spPr>
          <a:xfrm>
            <a:off x="548640" y="1691640"/>
            <a:ext cx="2743200" cy="3063240"/>
          </a:xfrm>
          <a:prstGeom prst="rect">
            <a:avLst/>
          </a:prstGeom>
          <a:solidFill>
            <a:schemeClr val="bg1"/>
          </a:solidFill>
          <a:ln w="19050">
            <a:solidFill>
              <a:schemeClr val="tx2"/>
            </a:solidFill>
            <a:prstDash val="dash"/>
          </a:ln>
        </p:spPr>
      </p:sp>
      <p:sp>
        <p:nvSpPr>
          <p:cNvPr id="5" name="Text 3"/>
          <p:cNvSpPr txBox="1"/>
          <p:nvPr/>
        </p:nvSpPr>
        <p:spPr>
          <a:xfrm>
            <a:off x="548640" y="1737360"/>
            <a:ext cx="2743200" cy="365760"/>
          </a:xfrm>
          <a:prstGeom prst="rect">
            <a:avLst/>
          </a:prstGeom>
          <a:noFill/>
          <a:ln/>
        </p:spPr>
        <p:txBody>
          <a:bodyPr wrap="square" lIns="0" tIns="0" rIns="0" bIns="0" rtlCol="0" anchor="ctr"/>
          <a:lstStyle/>
          <a:p>
            <a:pPr algn="ctr" indent="0" marL="0">
              <a:buNone/>
            </a:pPr>
            <a:r>
              <a:rPr lang="en-US" sz="1600" b="1" dirty="0">
                <a:solidFill>
                  <a:schemeClr val="tx2"/>
                </a:solidFill>
                <a:latin typeface="Calibri" pitchFamily="34" charset="0"/>
                <a:ea typeface="Calibri" pitchFamily="34" charset="-122"/>
                <a:cs typeface="Calibri" pitchFamily="34" charset="-120"/>
              </a:rPr>
              <a:t>Microcontroller / SoC</a:t>
            </a:r>
            <a:endParaRPr lang="en-US" sz="1600" dirty="0"/>
          </a:p>
        </p:txBody>
      </p:sp>
      <p:sp>
        <p:nvSpPr>
          <p:cNvPr id="6" name="Shape 4"/>
          <p:cNvSpPr/>
          <p:nvPr/>
        </p:nvSpPr>
        <p:spPr>
          <a:xfrm>
            <a:off x="731520" y="2194560"/>
            <a:ext cx="2377440" cy="658368"/>
          </a:xfrm>
          <a:prstGeom prst="rect">
            <a:avLst/>
          </a:prstGeom>
          <a:solidFill>
            <a:schemeClr val="bg2"/>
          </a:solidFill>
          <a:ln w="12700">
            <a:solidFill>
              <a:schemeClr val="bg2"/>
            </a:solidFill>
            <a:prstDash val="solid"/>
          </a:ln>
        </p:spPr>
      </p:sp>
      <p:sp>
        <p:nvSpPr>
          <p:cNvPr id="7" name="Text 5"/>
          <p:cNvSpPr txBox="1"/>
          <p:nvPr/>
        </p:nvSpPr>
        <p:spPr>
          <a:xfrm>
            <a:off x="777240" y="2194560"/>
            <a:ext cx="2286000" cy="658368"/>
          </a:xfrm>
          <a:prstGeom prst="rect">
            <a:avLst/>
          </a:prstGeom>
          <a:noFill/>
          <a:ln/>
        </p:spPr>
        <p:txBody>
          <a:bodyPr wrap="square" lIns="0" tIns="0" rIns="0" bIns="0" rtlCol="0" anchor="ctr"/>
          <a:lstStyle/>
          <a:p>
            <a:pPr algn="ctr" indent="0" marL="0">
              <a:buNone/>
            </a:pPr>
            <a:r>
              <a:rPr lang="en-US" sz="1500" dirty="0">
                <a:solidFill>
                  <a:schemeClr val="tx1"/>
                </a:solidFill>
                <a:latin typeface="Calibri" pitchFamily="34" charset="0"/>
                <a:ea typeface="Calibri" pitchFamily="34" charset="-122"/>
                <a:cs typeface="Calibri" pitchFamily="34" charset="-120"/>
              </a:rPr>
              <a:t>Application (SOME/IP, DoIP)</a:t>
            </a:r>
            <a:endParaRPr lang="en-US" sz="1500" dirty="0"/>
          </a:p>
        </p:txBody>
      </p:sp>
      <p:sp>
        <p:nvSpPr>
          <p:cNvPr id="8" name="Shape 6"/>
          <p:cNvSpPr/>
          <p:nvPr/>
        </p:nvSpPr>
        <p:spPr>
          <a:xfrm>
            <a:off x="731520" y="2990088"/>
            <a:ext cx="2377440" cy="658368"/>
          </a:xfrm>
          <a:prstGeom prst="rect">
            <a:avLst/>
          </a:prstGeom>
          <a:solidFill>
            <a:schemeClr val="bg2"/>
          </a:solidFill>
          <a:ln w="12700">
            <a:solidFill>
              <a:schemeClr val="bg2"/>
            </a:solidFill>
            <a:prstDash val="solid"/>
          </a:ln>
        </p:spPr>
      </p:sp>
      <p:sp>
        <p:nvSpPr>
          <p:cNvPr id="9" name="Text 7"/>
          <p:cNvSpPr txBox="1"/>
          <p:nvPr/>
        </p:nvSpPr>
        <p:spPr>
          <a:xfrm>
            <a:off x="777240" y="2990088"/>
            <a:ext cx="2286000" cy="658368"/>
          </a:xfrm>
          <a:prstGeom prst="rect">
            <a:avLst/>
          </a:prstGeom>
          <a:noFill/>
          <a:ln/>
        </p:spPr>
        <p:txBody>
          <a:bodyPr wrap="square" lIns="0" tIns="0" rIns="0" bIns="0" rtlCol="0" anchor="ctr"/>
          <a:lstStyle/>
          <a:p>
            <a:pPr algn="ctr" indent="0" marL="0">
              <a:buNone/>
            </a:pPr>
            <a:r>
              <a:rPr lang="en-US" sz="1500" dirty="0">
                <a:solidFill>
                  <a:schemeClr val="tx1"/>
                </a:solidFill>
                <a:latin typeface="Calibri" pitchFamily="34" charset="0"/>
                <a:ea typeface="Calibri" pitchFamily="34" charset="-122"/>
                <a:cs typeface="Calibri" pitchFamily="34" charset="-120"/>
              </a:rPr>
              <a:t>TCP / UDP · IP stack</a:t>
            </a:r>
            <a:endParaRPr lang="en-US" sz="1500" dirty="0"/>
          </a:p>
        </p:txBody>
      </p:sp>
      <p:sp>
        <p:nvSpPr>
          <p:cNvPr id="10" name="Shape 8"/>
          <p:cNvSpPr/>
          <p:nvPr/>
        </p:nvSpPr>
        <p:spPr>
          <a:xfrm>
            <a:off x="731520" y="3785616"/>
            <a:ext cx="2377440" cy="658368"/>
          </a:xfrm>
          <a:prstGeom prst="rect">
            <a:avLst/>
          </a:prstGeom>
          <a:solidFill>
            <a:schemeClr val="bg2"/>
          </a:solidFill>
          <a:ln w="12700">
            <a:solidFill>
              <a:schemeClr val="bg2"/>
            </a:solidFill>
            <a:prstDash val="solid"/>
          </a:ln>
        </p:spPr>
      </p:sp>
      <p:sp>
        <p:nvSpPr>
          <p:cNvPr id="11" name="Text 9"/>
          <p:cNvSpPr txBox="1"/>
          <p:nvPr/>
        </p:nvSpPr>
        <p:spPr>
          <a:xfrm>
            <a:off x="777240" y="3785616"/>
            <a:ext cx="2286000" cy="658368"/>
          </a:xfrm>
          <a:prstGeom prst="rect">
            <a:avLst/>
          </a:prstGeom>
          <a:noFill/>
          <a:ln/>
        </p:spPr>
        <p:txBody>
          <a:bodyPr wrap="square" lIns="0" tIns="0" rIns="0" bIns="0" rtlCol="0" anchor="ctr"/>
          <a:lstStyle/>
          <a:p>
            <a:pPr algn="ctr" indent="0" marL="0">
              <a:buNone/>
            </a:pPr>
            <a:r>
              <a:rPr lang="en-US" sz="1500" dirty="0">
                <a:solidFill>
                  <a:schemeClr val="tx1"/>
                </a:solidFill>
                <a:latin typeface="Calibri" pitchFamily="34" charset="0"/>
                <a:ea typeface="Calibri" pitchFamily="34" charset="-122"/>
                <a:cs typeface="Calibri" pitchFamily="34" charset="-120"/>
              </a:rPr>
              <a:t>Ethernet MAC</a:t>
            </a:r>
            <a:endParaRPr lang="en-US" sz="1500" dirty="0"/>
          </a:p>
        </p:txBody>
      </p:sp>
      <p:sp>
        <p:nvSpPr>
          <p:cNvPr id="12" name="Shape 10"/>
          <p:cNvSpPr/>
          <p:nvPr/>
        </p:nvSpPr>
        <p:spPr>
          <a:xfrm>
            <a:off x="3886200" y="2697480"/>
            <a:ext cx="1737360" cy="1143000"/>
          </a:xfrm>
          <a:prstGeom prst="rect">
            <a:avLst/>
          </a:prstGeom>
          <a:solidFill>
            <a:schemeClr val="bg2"/>
          </a:solidFill>
          <a:ln w="19050">
            <a:solidFill>
              <a:schemeClr val="accent1"/>
            </a:solidFill>
            <a:prstDash val="solid"/>
          </a:ln>
        </p:spPr>
      </p:sp>
      <p:sp>
        <p:nvSpPr>
          <p:cNvPr id="13" name="Text 11"/>
          <p:cNvSpPr txBox="1"/>
          <p:nvPr/>
        </p:nvSpPr>
        <p:spPr>
          <a:xfrm>
            <a:off x="3959352" y="2697480"/>
            <a:ext cx="1591056" cy="114300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PHY</a:t>
            </a:r>
            <a:endParaRPr lang="en-US" sz="1700" dirty="0"/>
          </a:p>
          <a:p>
            <a:pPr algn="ctr" indent="0" marL="0">
              <a:buNone/>
            </a:pPr>
            <a:r>
              <a:rPr lang="en-US" sz="1400" dirty="0">
                <a:solidFill>
                  <a:schemeClr val="accent4"/>
                </a:solidFill>
                <a:latin typeface="Calibri" pitchFamily="34" charset="0"/>
                <a:ea typeface="Calibri" pitchFamily="34" charset="-122"/>
                <a:cs typeface="Calibri" pitchFamily="34" charset="-120"/>
              </a:rPr>
              <a:t>transceiver</a:t>
            </a:r>
            <a:endParaRPr lang="en-US" sz="1700" dirty="0"/>
          </a:p>
        </p:txBody>
      </p:sp>
      <p:sp>
        <p:nvSpPr>
          <p:cNvPr id="14" name="Shape 12"/>
          <p:cNvSpPr/>
          <p:nvPr/>
        </p:nvSpPr>
        <p:spPr>
          <a:xfrm>
            <a:off x="6217920" y="2697480"/>
            <a:ext cx="1920240" cy="1143000"/>
          </a:xfrm>
          <a:prstGeom prst="rect">
            <a:avLst/>
          </a:prstGeom>
          <a:solidFill>
            <a:schemeClr val="bg2"/>
          </a:solidFill>
          <a:ln w="19050">
            <a:solidFill>
              <a:schemeClr val="accent1"/>
            </a:solidFill>
            <a:prstDash val="solid"/>
          </a:ln>
        </p:spPr>
      </p:sp>
      <p:sp>
        <p:nvSpPr>
          <p:cNvPr id="15" name="Text 13"/>
          <p:cNvSpPr txBox="1"/>
          <p:nvPr/>
        </p:nvSpPr>
        <p:spPr>
          <a:xfrm>
            <a:off x="6291072" y="2697480"/>
            <a:ext cx="1773936" cy="114300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MDI network</a:t>
            </a:r>
            <a:endParaRPr lang="en-US" sz="1700" dirty="0"/>
          </a:p>
          <a:p>
            <a:pPr algn="ctr" indent="0" marL="0">
              <a:buNone/>
            </a:pPr>
            <a:r>
              <a:rPr lang="en-US" sz="1400" dirty="0">
                <a:solidFill>
                  <a:schemeClr val="accent4"/>
                </a:solidFill>
                <a:latin typeface="Calibri" pitchFamily="34" charset="0"/>
                <a:ea typeface="Calibri" pitchFamily="34" charset="-122"/>
                <a:cs typeface="Calibri" pitchFamily="34" charset="-120"/>
              </a:rPr>
              <a:t>choke · ESD · caps</a:t>
            </a:r>
            <a:endParaRPr lang="en-US" sz="1700" dirty="0"/>
          </a:p>
        </p:txBody>
      </p:sp>
      <p:sp>
        <p:nvSpPr>
          <p:cNvPr id="16" name="Shape 14"/>
          <p:cNvSpPr/>
          <p:nvPr/>
        </p:nvSpPr>
        <p:spPr>
          <a:xfrm>
            <a:off x="9601200" y="2697480"/>
            <a:ext cx="2011680" cy="1143000"/>
          </a:xfrm>
          <a:prstGeom prst="rect">
            <a:avLst/>
          </a:prstGeom>
          <a:solidFill>
            <a:schemeClr val="bg2"/>
          </a:solidFill>
          <a:ln w="19050">
            <a:solidFill>
              <a:schemeClr val="accent1"/>
            </a:solidFill>
            <a:prstDash val="solid"/>
          </a:ln>
        </p:spPr>
      </p:sp>
      <p:sp>
        <p:nvSpPr>
          <p:cNvPr id="17" name="Text 15"/>
          <p:cNvSpPr txBox="1"/>
          <p:nvPr/>
        </p:nvSpPr>
        <p:spPr>
          <a:xfrm>
            <a:off x="9674352" y="2697480"/>
            <a:ext cx="1865376" cy="114300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Ethernet switch</a:t>
            </a:r>
            <a:endParaRPr lang="en-US" sz="1700" dirty="0"/>
          </a:p>
          <a:p>
            <a:pPr algn="ctr" indent="0" marL="0">
              <a:buNone/>
            </a:pPr>
            <a:r>
              <a:rPr lang="en-US" sz="1400" dirty="0">
                <a:solidFill>
                  <a:schemeClr val="accent4"/>
                </a:solidFill>
                <a:latin typeface="Calibri" pitchFamily="34" charset="0"/>
                <a:ea typeface="Calibri" pitchFamily="34" charset="-122"/>
                <a:cs typeface="Calibri" pitchFamily="34" charset="-120"/>
              </a:rPr>
              <a:t>to other ECUs</a:t>
            </a:r>
            <a:endParaRPr lang="en-US" sz="1700" dirty="0"/>
          </a:p>
        </p:txBody>
      </p:sp>
      <p:sp>
        <p:nvSpPr>
          <p:cNvPr id="18" name="Shape 16"/>
          <p:cNvSpPr/>
          <p:nvPr/>
        </p:nvSpPr>
        <p:spPr>
          <a:xfrm>
            <a:off x="3291840" y="3264408"/>
            <a:ext cx="594360" cy="0"/>
          </a:xfrm>
          <a:prstGeom prst="line">
            <a:avLst/>
          </a:prstGeom>
          <a:noFill/>
          <a:ln w="25400">
            <a:solidFill>
              <a:srgbClr val="1F4E79"/>
            </a:solidFill>
            <a:prstDash val="solid"/>
            <a:tailEnd type="triangle"/>
          </a:ln>
        </p:spPr>
      </p:sp>
      <p:sp>
        <p:nvSpPr>
          <p:cNvPr id="19" name="Text 17"/>
          <p:cNvSpPr txBox="1"/>
          <p:nvPr/>
        </p:nvSpPr>
        <p:spPr>
          <a:xfrm>
            <a:off x="3246120" y="2880360"/>
            <a:ext cx="685800" cy="320040"/>
          </a:xfrm>
          <a:prstGeom prst="rect">
            <a:avLst/>
          </a:prstGeom>
          <a:noFill/>
          <a:ln/>
        </p:spPr>
        <p:txBody>
          <a:bodyPr wrap="square" lIns="0" tIns="0" rIns="0" bIns="0" rtlCol="0" anchor="ctr"/>
          <a:lstStyle/>
          <a:p>
            <a:pPr algn="ctr" indent="0" marL="0">
              <a:buNone/>
            </a:pPr>
            <a:r>
              <a:rPr lang="en-US" sz="1300" dirty="0">
                <a:solidFill>
                  <a:schemeClr val="accent4"/>
                </a:solidFill>
                <a:latin typeface="Calibri" pitchFamily="34" charset="0"/>
                <a:ea typeface="Calibri" pitchFamily="34" charset="-122"/>
                <a:cs typeface="Calibri" pitchFamily="34" charset="-120"/>
              </a:rPr>
              <a:t>xMII</a:t>
            </a:r>
            <a:endParaRPr lang="en-US" sz="1300" dirty="0"/>
          </a:p>
        </p:txBody>
      </p:sp>
      <p:sp>
        <p:nvSpPr>
          <p:cNvPr id="20" name="Shape 18"/>
          <p:cNvSpPr/>
          <p:nvPr/>
        </p:nvSpPr>
        <p:spPr>
          <a:xfrm>
            <a:off x="5623560" y="3264408"/>
            <a:ext cx="594360" cy="0"/>
          </a:xfrm>
          <a:prstGeom prst="line">
            <a:avLst/>
          </a:prstGeom>
          <a:noFill/>
          <a:ln w="25400">
            <a:solidFill>
              <a:srgbClr val="1F4E79"/>
            </a:solidFill>
            <a:prstDash val="solid"/>
            <a:tailEnd type="triangle"/>
          </a:ln>
        </p:spPr>
      </p:sp>
      <p:sp>
        <p:nvSpPr>
          <p:cNvPr id="21" name="Shape 19"/>
          <p:cNvSpPr/>
          <p:nvPr/>
        </p:nvSpPr>
        <p:spPr>
          <a:xfrm>
            <a:off x="8138160" y="3154680"/>
            <a:ext cx="1463040" cy="0"/>
          </a:xfrm>
          <a:prstGeom prst="line">
            <a:avLst/>
          </a:prstGeom>
          <a:noFill/>
          <a:ln w="38100">
            <a:solidFill>
              <a:srgbClr val="2E75B6"/>
            </a:solidFill>
            <a:prstDash val="solid"/>
          </a:ln>
        </p:spPr>
      </p:sp>
      <p:sp>
        <p:nvSpPr>
          <p:cNvPr id="22" name="Shape 20"/>
          <p:cNvSpPr/>
          <p:nvPr/>
        </p:nvSpPr>
        <p:spPr>
          <a:xfrm>
            <a:off x="8138160" y="3374136"/>
            <a:ext cx="1463040" cy="0"/>
          </a:xfrm>
          <a:prstGeom prst="line">
            <a:avLst/>
          </a:prstGeom>
          <a:noFill/>
          <a:ln w="38100">
            <a:solidFill>
              <a:srgbClr val="C55A11"/>
            </a:solidFill>
            <a:prstDash val="solid"/>
          </a:ln>
        </p:spPr>
      </p:sp>
      <p:sp>
        <p:nvSpPr>
          <p:cNvPr id="23" name="Text 21"/>
          <p:cNvSpPr txBox="1"/>
          <p:nvPr/>
        </p:nvSpPr>
        <p:spPr>
          <a:xfrm>
            <a:off x="8092440" y="3520440"/>
            <a:ext cx="1554480" cy="548640"/>
          </a:xfrm>
          <a:prstGeom prst="rect">
            <a:avLst/>
          </a:prstGeom>
          <a:noFill/>
          <a:ln/>
        </p:spPr>
        <p:txBody>
          <a:bodyPr wrap="square" lIns="0" tIns="0" rIns="0" bIns="0" rtlCol="0" anchor="ctr"/>
          <a:lstStyle/>
          <a:p>
            <a:pPr algn="ctr" indent="0" marL="0">
              <a:buNone/>
            </a:pPr>
            <a:r>
              <a:rPr lang="en-US" sz="1300" dirty="0">
                <a:solidFill>
                  <a:schemeClr val="accent4"/>
                </a:solidFill>
                <a:latin typeface="Calibri" pitchFamily="34" charset="0"/>
                <a:ea typeface="Calibri" pitchFamily="34" charset="-122"/>
                <a:cs typeface="Calibri" pitchFamily="34" charset="-120"/>
              </a:rPr>
              <a:t>twisted pair ≤ 15 m</a:t>
            </a:r>
            <a:endParaRPr lang="en-US" sz="1300" dirty="0"/>
          </a:p>
        </p:txBody>
      </p:sp>
      <p:sp>
        <p:nvSpPr>
          <p:cNvPr id="24" name="Text 22"/>
          <p:cNvSpPr txBox="1"/>
          <p:nvPr/>
        </p:nvSpPr>
        <p:spPr>
          <a:xfrm>
            <a:off x="3749040" y="4023360"/>
            <a:ext cx="2011680" cy="822960"/>
          </a:xfrm>
          <a:prstGeom prst="rect">
            <a:avLst/>
          </a:prstGeom>
          <a:noFill/>
          <a:ln/>
        </p:spPr>
        <p:txBody>
          <a:bodyPr wrap="square" lIns="0" tIns="0" rIns="0" bIns="0" rtlCol="0" anchor="t"/>
          <a:lstStyle/>
          <a:p>
            <a:pPr algn="ctr" indent="0" marL="0">
              <a:buNone/>
            </a:pPr>
            <a:r>
              <a:rPr lang="en-US" sz="1500" dirty="0">
                <a:solidFill>
                  <a:schemeClr val="tx1"/>
                </a:solidFill>
                <a:latin typeface="Calibri" pitchFamily="34" charset="0"/>
                <a:ea typeface="Calibri" pitchFamily="34" charset="-122"/>
                <a:cs typeface="Calibri" pitchFamily="34" charset="-120"/>
              </a:rPr>
              <a:t>digital ↔ analog; PAM3 coding; echo cancel</a:t>
            </a:r>
            <a:endParaRPr lang="en-US" sz="1500" dirty="0"/>
          </a:p>
        </p:txBody>
      </p:sp>
      <p:sp>
        <p:nvSpPr>
          <p:cNvPr id="25" name="Text 23"/>
          <p:cNvSpPr txBox="1"/>
          <p:nvPr/>
        </p:nvSpPr>
        <p:spPr>
          <a:xfrm>
            <a:off x="6126480" y="4023360"/>
            <a:ext cx="2103120" cy="822960"/>
          </a:xfrm>
          <a:prstGeom prst="rect">
            <a:avLst/>
          </a:prstGeom>
          <a:noFill/>
          <a:ln/>
        </p:spPr>
        <p:txBody>
          <a:bodyPr wrap="square" lIns="0" tIns="0" rIns="0" bIns="0" rtlCol="0" anchor="t"/>
          <a:lstStyle/>
          <a:p>
            <a:pPr algn="ctr" indent="0" marL="0">
              <a:buNone/>
            </a:pPr>
            <a:r>
              <a:rPr lang="en-US" sz="1500" dirty="0">
                <a:solidFill>
                  <a:schemeClr val="tx1"/>
                </a:solidFill>
                <a:latin typeface="Calibri" pitchFamily="34" charset="0"/>
                <a:ea typeface="Calibri" pitchFamily="34" charset="-122"/>
                <a:cs typeface="Calibri" pitchFamily="34" charset="-120"/>
              </a:rPr>
              <a:t>filters noise, protects against ESD, blocks DC</a:t>
            </a:r>
            <a:endParaRPr lang="en-US" sz="1500" dirty="0"/>
          </a:p>
        </p:txBody>
      </p:sp>
      <p:sp>
        <p:nvSpPr>
          <p:cNvPr id="26" name="Text 24"/>
          <p:cNvSpPr txBox="1"/>
          <p:nvPr/>
        </p:nvSpPr>
        <p:spPr>
          <a:xfrm>
            <a:off x="9509760" y="4023360"/>
            <a:ext cx="2194560" cy="822960"/>
          </a:xfrm>
          <a:prstGeom prst="rect">
            <a:avLst/>
          </a:prstGeom>
          <a:noFill/>
          <a:ln/>
        </p:spPr>
        <p:txBody>
          <a:bodyPr wrap="square" lIns="0" tIns="0" rIns="0" bIns="0" rtlCol="0" anchor="t"/>
          <a:lstStyle/>
          <a:p>
            <a:pPr algn="ctr" indent="0" marL="0">
              <a:buNone/>
            </a:pPr>
            <a:r>
              <a:rPr lang="en-US" sz="1500" dirty="0">
                <a:solidFill>
                  <a:schemeClr val="tx1"/>
                </a:solidFill>
                <a:latin typeface="Calibri" pitchFamily="34" charset="0"/>
                <a:ea typeface="Calibri" pitchFamily="34" charset="-122"/>
                <a:cs typeface="Calibri" pitchFamily="34" charset="-120"/>
              </a:rPr>
              <a:t>forwards frames; VLAN and TSN scheduling</a:t>
            </a:r>
            <a:endParaRPr lang="en-US" sz="1500" dirty="0"/>
          </a:p>
        </p:txBody>
      </p:sp>
      <p:sp>
        <p:nvSpPr>
          <p:cNvPr id="27" name="Shape 25"/>
          <p:cNvSpPr/>
          <p:nvPr/>
        </p:nvSpPr>
        <p:spPr>
          <a:xfrm>
            <a:off x="548640" y="5074920"/>
            <a:ext cx="11064240" cy="731520"/>
          </a:xfrm>
          <a:prstGeom prst="rect">
            <a:avLst/>
          </a:prstGeom>
          <a:solidFill>
            <a:schemeClr val="bg2"/>
          </a:solidFill>
          <a:ln w="12700">
            <a:solidFill>
              <a:schemeClr val="bg2"/>
            </a:solidFill>
            <a:prstDash val="solid"/>
          </a:ln>
        </p:spPr>
      </p:sp>
      <p:sp>
        <p:nvSpPr>
          <p:cNvPr id="28" name="Text 26"/>
          <p:cNvSpPr txBox="1"/>
          <p:nvPr/>
        </p:nvSpPr>
        <p:spPr>
          <a:xfrm>
            <a:off x="777240" y="5074920"/>
            <a:ext cx="10607040" cy="73152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Data path: </a:t>
            </a:r>
            <a:pPr indent="0" marL="0">
              <a:buNone/>
            </a:pPr>
            <a:r>
              <a:rPr lang="en-US" sz="1800" dirty="0">
                <a:solidFill>
                  <a:schemeClr val="tx1"/>
                </a:solidFill>
                <a:latin typeface="Calibri" pitchFamily="34" charset="0"/>
                <a:ea typeface="Calibri" pitchFamily="34" charset="-122"/>
                <a:cs typeface="Calibri" pitchFamily="34" charset="-120"/>
              </a:rPr>
              <a:t>software → frame (MAC) → symbols (PHY) → filtered signal (MDI) → cable → switch → destination ECU</a:t>
            </a:r>
            <a:endParaRPr lang="en-US" sz="1800" dirty="0"/>
          </a:p>
        </p:txBody>
      </p:sp>
      <p:sp>
        <p:nvSpPr>
          <p:cNvPr id="29" name="Text 27"/>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200" dirty="0">
                <a:solidFill>
                  <a:schemeClr val="accent4"/>
                </a:solidFill>
                <a:latin typeface="Calibri" pitchFamily="34" charset="0"/>
                <a:ea typeface="Calibri" pitchFamily="34" charset="-122"/>
                <a:cs typeface="Calibri" pitchFamily="34" charset="-120"/>
              </a:rPr>
              <a:t>xMII: media-independent interface between MAC and PHY (e.g. RGMII, SGMII). Adapted from Matheus &amp; Königseder (2021).</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8229600" cy="274320"/>
          </a:xfrm>
          <a:prstGeom prst="rect">
            <a:avLst/>
          </a:prstGeom>
          <a:noFill/>
          <a:ln/>
        </p:spPr>
        <p:txBody>
          <a:bodyPr wrap="square" lIns="0" tIns="0" rIns="0" bIns="0" rtlCol="0"/>
          <a:lstStyle/>
          <a:p>
            <a:pPr indent="0" marL="0">
              <a:buNone/>
            </a:pPr>
            <a:r>
              <a:rPr lang="en-US" sz="1200" b="1" spc="100" kern="0" dirty="0">
                <a:solidFill>
                  <a:schemeClr val="accent1"/>
                </a:solidFill>
              </a:rPr>
              <a:t>COMPONENTS AND ARCHITECTURE · VEHICLE ARCHITECTURE</a:t>
            </a:r>
            <a:endParaRPr lang="en-US" sz="1200" dirty="0"/>
          </a:p>
        </p:txBody>
      </p:sp>
      <p:sp>
        <p:nvSpPr>
          <p:cNvPr id="3" name="Text 0"/>
          <p:cNvSpPr/>
          <p:nvPr>
            <p:ph idx="101" type="title" hasCustomPrompt="1"/>
          </p:nvPr>
        </p:nvSpPr>
        <p:spPr>
          <a:xfrm>
            <a:off x="548640" y="502920"/>
            <a:ext cx="11064240" cy="868680"/>
          </a:xfrm>
          <a:prstGeom prst="rect">
            <a:avLst/>
          </a:prstGeom>
          <a:noFill/>
          <a:ln/>
        </p:spPr>
        <p:txBody>
          <a:bodyPr wrap="square" lIns="0" tIns="0" rIns="0" bIns="0" rtlCol="0" anchor="t"/>
          <a:lstStyle/>
          <a:p>
            <a:pPr indent="0" marL="0">
              <a:buNone/>
            </a:pPr>
            <a:r>
              <a:rPr lang="en-US" sz="2800" b="1" dirty="0">
                <a:solidFill>
                  <a:schemeClr val="tx2"/>
                </a:solidFill>
              </a:rPr>
              <a:t>Cars are moving from domain to zonal architectures built around an Ethernet backbone</a:t>
            </a:r>
            <a:endParaRPr lang="en-US" sz="2800" dirty="0"/>
          </a:p>
        </p:txBody>
      </p:sp>
      <p:sp>
        <p:nvSpPr>
          <p:cNvPr id="4" name="Shape 2"/>
          <p:cNvSpPr/>
          <p:nvPr/>
        </p:nvSpPr>
        <p:spPr>
          <a:xfrm>
            <a:off x="548640" y="1600200"/>
            <a:ext cx="5349240" cy="3657600"/>
          </a:xfrm>
          <a:prstGeom prst="rect">
            <a:avLst/>
          </a:prstGeom>
          <a:solidFill>
            <a:srgbClr val="F7F9FB"/>
          </a:solidFill>
          <a:ln w="12700">
            <a:solidFill>
              <a:schemeClr val="accent5"/>
            </a:solidFill>
            <a:prstDash val="solid"/>
          </a:ln>
        </p:spPr>
      </p:sp>
      <p:sp>
        <p:nvSpPr>
          <p:cNvPr id="5" name="Text 3"/>
          <p:cNvSpPr txBox="1"/>
          <p:nvPr/>
        </p:nvSpPr>
        <p:spPr>
          <a:xfrm>
            <a:off x="777240" y="1691640"/>
            <a:ext cx="4937760" cy="36576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Domain architecture (today)</a:t>
            </a:r>
            <a:endParaRPr lang="en-US" sz="1800" dirty="0"/>
          </a:p>
        </p:txBody>
      </p:sp>
      <p:sp>
        <p:nvSpPr>
          <p:cNvPr id="6" name="Shape 4"/>
          <p:cNvSpPr/>
          <p:nvPr/>
        </p:nvSpPr>
        <p:spPr>
          <a:xfrm>
            <a:off x="6263640" y="1600200"/>
            <a:ext cx="5349240" cy="3657600"/>
          </a:xfrm>
          <a:prstGeom prst="rect">
            <a:avLst/>
          </a:prstGeom>
          <a:solidFill>
            <a:srgbClr val="F7F9FB"/>
          </a:solidFill>
          <a:ln w="12700">
            <a:solidFill>
              <a:schemeClr val="accent5"/>
            </a:solidFill>
            <a:prstDash val="solid"/>
          </a:ln>
        </p:spPr>
      </p:sp>
      <p:sp>
        <p:nvSpPr>
          <p:cNvPr id="7" name="Text 5"/>
          <p:cNvSpPr txBox="1"/>
          <p:nvPr/>
        </p:nvSpPr>
        <p:spPr>
          <a:xfrm>
            <a:off x="6492240" y="1691640"/>
            <a:ext cx="4937760" cy="36576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Zonal architecture (emerging)</a:t>
            </a:r>
            <a:endParaRPr lang="en-US" sz="1800" dirty="0"/>
          </a:p>
        </p:txBody>
      </p:sp>
      <p:sp>
        <p:nvSpPr>
          <p:cNvPr id="8" name="Shape 6"/>
          <p:cNvSpPr/>
          <p:nvPr/>
        </p:nvSpPr>
        <p:spPr>
          <a:xfrm>
            <a:off x="2377440" y="2240280"/>
            <a:ext cx="1600200" cy="640080"/>
          </a:xfrm>
          <a:prstGeom prst="rect">
            <a:avLst/>
          </a:prstGeom>
          <a:solidFill>
            <a:schemeClr val="tx2"/>
          </a:solidFill>
          <a:ln w="12700">
            <a:solidFill>
              <a:schemeClr val="tx2"/>
            </a:solidFill>
            <a:prstDash val="solid"/>
          </a:ln>
        </p:spPr>
      </p:sp>
      <p:sp>
        <p:nvSpPr>
          <p:cNvPr id="9" name="Text 7"/>
          <p:cNvSpPr txBox="1"/>
          <p:nvPr/>
        </p:nvSpPr>
        <p:spPr>
          <a:xfrm>
            <a:off x="2377440" y="2240280"/>
            <a:ext cx="160020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Central gateway</a:t>
            </a:r>
            <a:endParaRPr lang="en-US" sz="1400" dirty="0"/>
          </a:p>
        </p:txBody>
      </p:sp>
      <p:sp>
        <p:nvSpPr>
          <p:cNvPr id="10" name="Shape 8"/>
          <p:cNvSpPr/>
          <p:nvPr/>
        </p:nvSpPr>
        <p:spPr>
          <a:xfrm>
            <a:off x="3177540" y="2880360"/>
            <a:ext cx="0" cy="411480"/>
          </a:xfrm>
          <a:prstGeom prst="line">
            <a:avLst/>
          </a:prstGeom>
          <a:noFill/>
          <a:ln w="19050">
            <a:solidFill>
              <a:srgbClr val="666666"/>
            </a:solidFill>
            <a:prstDash val="solid"/>
          </a:ln>
        </p:spPr>
      </p:sp>
      <p:sp>
        <p:nvSpPr>
          <p:cNvPr id="11" name="Shape 9"/>
          <p:cNvSpPr/>
          <p:nvPr/>
        </p:nvSpPr>
        <p:spPr>
          <a:xfrm>
            <a:off x="1280160" y="3291840"/>
            <a:ext cx="3794760" cy="0"/>
          </a:xfrm>
          <a:prstGeom prst="line">
            <a:avLst/>
          </a:prstGeom>
          <a:noFill/>
          <a:ln w="19050">
            <a:solidFill>
              <a:srgbClr val="666666"/>
            </a:solidFill>
            <a:prstDash val="solid"/>
          </a:ln>
        </p:spPr>
      </p:sp>
      <p:sp>
        <p:nvSpPr>
          <p:cNvPr id="12" name="Shape 10"/>
          <p:cNvSpPr/>
          <p:nvPr/>
        </p:nvSpPr>
        <p:spPr>
          <a:xfrm>
            <a:off x="1280160" y="3291840"/>
            <a:ext cx="0" cy="320040"/>
          </a:xfrm>
          <a:prstGeom prst="line">
            <a:avLst/>
          </a:prstGeom>
          <a:noFill/>
          <a:ln w="19050">
            <a:solidFill>
              <a:srgbClr val="666666"/>
            </a:solidFill>
            <a:prstDash val="solid"/>
          </a:ln>
        </p:spPr>
      </p:sp>
      <p:sp>
        <p:nvSpPr>
          <p:cNvPr id="13" name="Shape 11"/>
          <p:cNvSpPr/>
          <p:nvPr/>
        </p:nvSpPr>
        <p:spPr>
          <a:xfrm>
            <a:off x="676656" y="3611880"/>
            <a:ext cx="1207008" cy="640080"/>
          </a:xfrm>
          <a:prstGeom prst="rect">
            <a:avLst/>
          </a:prstGeom>
          <a:solidFill>
            <a:schemeClr val="bg1"/>
          </a:solidFill>
          <a:ln w="12700">
            <a:solidFill>
              <a:schemeClr val="tx2"/>
            </a:solidFill>
            <a:prstDash val="solid"/>
          </a:ln>
        </p:spPr>
      </p:sp>
      <p:sp>
        <p:nvSpPr>
          <p:cNvPr id="14" name="Text 12"/>
          <p:cNvSpPr txBox="1"/>
          <p:nvPr/>
        </p:nvSpPr>
        <p:spPr>
          <a:xfrm>
            <a:off x="676656" y="3611880"/>
            <a:ext cx="1207008" cy="64008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Powertrain</a:t>
            </a:r>
            <a:endParaRPr lang="en-US" sz="1300" dirty="0"/>
          </a:p>
        </p:txBody>
      </p:sp>
      <p:sp>
        <p:nvSpPr>
          <p:cNvPr id="15" name="Text 13"/>
          <p:cNvSpPr txBox="1"/>
          <p:nvPr/>
        </p:nvSpPr>
        <p:spPr>
          <a:xfrm>
            <a:off x="676656" y="4297680"/>
            <a:ext cx="1207008" cy="320040"/>
          </a:xfrm>
          <a:prstGeom prst="rect">
            <a:avLst/>
          </a:prstGeom>
          <a:noFill/>
          <a:ln/>
        </p:spPr>
        <p:txBody>
          <a:bodyPr wrap="square" lIns="0" tIns="0" rIns="0" bIns="0" rtlCol="0" anchor="ctr"/>
          <a:lstStyle/>
          <a:p>
            <a:pPr algn="ctr" indent="0" marL="0">
              <a:buNone/>
            </a:pPr>
            <a:r>
              <a:rPr lang="en-US" sz="1300" dirty="0">
                <a:solidFill>
                  <a:schemeClr val="accent4"/>
                </a:solidFill>
                <a:latin typeface="Calibri" pitchFamily="34" charset="0"/>
                <a:ea typeface="Calibri" pitchFamily="34" charset="-122"/>
                <a:cs typeface="Calibri" pitchFamily="34" charset="-120"/>
              </a:rPr>
              <a:t>CAN</a:t>
            </a:r>
            <a:endParaRPr lang="en-US" sz="1300" dirty="0"/>
          </a:p>
        </p:txBody>
      </p:sp>
      <p:sp>
        <p:nvSpPr>
          <p:cNvPr id="16" name="Shape 14"/>
          <p:cNvSpPr/>
          <p:nvPr/>
        </p:nvSpPr>
        <p:spPr>
          <a:xfrm>
            <a:off x="2544775" y="3291840"/>
            <a:ext cx="0" cy="320040"/>
          </a:xfrm>
          <a:prstGeom prst="line">
            <a:avLst/>
          </a:prstGeom>
          <a:noFill/>
          <a:ln w="19050">
            <a:solidFill>
              <a:srgbClr val="666666"/>
            </a:solidFill>
            <a:prstDash val="solid"/>
          </a:ln>
        </p:spPr>
      </p:sp>
      <p:sp>
        <p:nvSpPr>
          <p:cNvPr id="17" name="Shape 15"/>
          <p:cNvSpPr/>
          <p:nvPr/>
        </p:nvSpPr>
        <p:spPr>
          <a:xfrm>
            <a:off x="1941271" y="3611880"/>
            <a:ext cx="1207008" cy="640080"/>
          </a:xfrm>
          <a:prstGeom prst="rect">
            <a:avLst/>
          </a:prstGeom>
          <a:solidFill>
            <a:schemeClr val="bg1"/>
          </a:solidFill>
          <a:ln w="12700">
            <a:solidFill>
              <a:schemeClr val="tx2"/>
            </a:solidFill>
            <a:prstDash val="solid"/>
          </a:ln>
        </p:spPr>
      </p:sp>
      <p:sp>
        <p:nvSpPr>
          <p:cNvPr id="18" name="Text 16"/>
          <p:cNvSpPr txBox="1"/>
          <p:nvPr/>
        </p:nvSpPr>
        <p:spPr>
          <a:xfrm>
            <a:off x="1941271" y="3611880"/>
            <a:ext cx="1207008" cy="64008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Chassis</a:t>
            </a:r>
            <a:endParaRPr lang="en-US" sz="1300" dirty="0"/>
          </a:p>
        </p:txBody>
      </p:sp>
      <p:sp>
        <p:nvSpPr>
          <p:cNvPr id="19" name="Text 17"/>
          <p:cNvSpPr txBox="1"/>
          <p:nvPr/>
        </p:nvSpPr>
        <p:spPr>
          <a:xfrm>
            <a:off x="1941271" y="4297680"/>
            <a:ext cx="1207008" cy="320040"/>
          </a:xfrm>
          <a:prstGeom prst="rect">
            <a:avLst/>
          </a:prstGeom>
          <a:noFill/>
          <a:ln/>
        </p:spPr>
        <p:txBody>
          <a:bodyPr wrap="square" lIns="0" tIns="0" rIns="0" bIns="0" rtlCol="0" anchor="ctr"/>
          <a:lstStyle/>
          <a:p>
            <a:pPr algn="ctr" indent="0" marL="0">
              <a:buNone/>
            </a:pPr>
            <a:r>
              <a:rPr lang="en-US" sz="1300" dirty="0">
                <a:solidFill>
                  <a:schemeClr val="accent4"/>
                </a:solidFill>
                <a:latin typeface="Calibri" pitchFamily="34" charset="0"/>
                <a:ea typeface="Calibri" pitchFamily="34" charset="-122"/>
                <a:cs typeface="Calibri" pitchFamily="34" charset="-120"/>
              </a:rPr>
              <a:t>FlexRay</a:t>
            </a:r>
            <a:endParaRPr lang="en-US" sz="1300" dirty="0"/>
          </a:p>
        </p:txBody>
      </p:sp>
      <p:sp>
        <p:nvSpPr>
          <p:cNvPr id="20" name="Shape 18"/>
          <p:cNvSpPr/>
          <p:nvPr/>
        </p:nvSpPr>
        <p:spPr>
          <a:xfrm>
            <a:off x="3809390" y="3291840"/>
            <a:ext cx="0" cy="320040"/>
          </a:xfrm>
          <a:prstGeom prst="line">
            <a:avLst/>
          </a:prstGeom>
          <a:noFill/>
          <a:ln w="19050">
            <a:solidFill>
              <a:srgbClr val="666666"/>
            </a:solidFill>
            <a:prstDash val="solid"/>
          </a:ln>
        </p:spPr>
      </p:sp>
      <p:sp>
        <p:nvSpPr>
          <p:cNvPr id="21" name="Shape 19"/>
          <p:cNvSpPr/>
          <p:nvPr/>
        </p:nvSpPr>
        <p:spPr>
          <a:xfrm>
            <a:off x="3205886" y="3611880"/>
            <a:ext cx="1207008" cy="640080"/>
          </a:xfrm>
          <a:prstGeom prst="rect">
            <a:avLst/>
          </a:prstGeom>
          <a:solidFill>
            <a:schemeClr val="bg1"/>
          </a:solidFill>
          <a:ln w="12700">
            <a:solidFill>
              <a:schemeClr val="tx2"/>
            </a:solidFill>
            <a:prstDash val="solid"/>
          </a:ln>
        </p:spPr>
      </p:sp>
      <p:sp>
        <p:nvSpPr>
          <p:cNvPr id="22" name="Text 20"/>
          <p:cNvSpPr txBox="1"/>
          <p:nvPr/>
        </p:nvSpPr>
        <p:spPr>
          <a:xfrm>
            <a:off x="3205886" y="3611880"/>
            <a:ext cx="1207008" cy="64008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Body</a:t>
            </a:r>
            <a:endParaRPr lang="en-US" sz="1300" dirty="0"/>
          </a:p>
        </p:txBody>
      </p:sp>
      <p:sp>
        <p:nvSpPr>
          <p:cNvPr id="23" name="Text 21"/>
          <p:cNvSpPr txBox="1"/>
          <p:nvPr/>
        </p:nvSpPr>
        <p:spPr>
          <a:xfrm>
            <a:off x="3205886" y="4297680"/>
            <a:ext cx="1207008" cy="320040"/>
          </a:xfrm>
          <a:prstGeom prst="rect">
            <a:avLst/>
          </a:prstGeom>
          <a:noFill/>
          <a:ln/>
        </p:spPr>
        <p:txBody>
          <a:bodyPr wrap="square" lIns="0" tIns="0" rIns="0" bIns="0" rtlCol="0" anchor="ctr"/>
          <a:lstStyle/>
          <a:p>
            <a:pPr algn="ctr" indent="0" marL="0">
              <a:buNone/>
            </a:pPr>
            <a:r>
              <a:rPr lang="en-US" sz="1300" dirty="0">
                <a:solidFill>
                  <a:schemeClr val="accent4"/>
                </a:solidFill>
                <a:latin typeface="Calibri" pitchFamily="34" charset="0"/>
                <a:ea typeface="Calibri" pitchFamily="34" charset="-122"/>
                <a:cs typeface="Calibri" pitchFamily="34" charset="-120"/>
              </a:rPr>
              <a:t>CAN / LIN</a:t>
            </a:r>
            <a:endParaRPr lang="en-US" sz="1300" dirty="0"/>
          </a:p>
        </p:txBody>
      </p:sp>
      <p:sp>
        <p:nvSpPr>
          <p:cNvPr id="24" name="Shape 22"/>
          <p:cNvSpPr/>
          <p:nvPr/>
        </p:nvSpPr>
        <p:spPr>
          <a:xfrm>
            <a:off x="5074006" y="3291840"/>
            <a:ext cx="0" cy="320040"/>
          </a:xfrm>
          <a:prstGeom prst="line">
            <a:avLst/>
          </a:prstGeom>
          <a:noFill/>
          <a:ln w="19050">
            <a:solidFill>
              <a:srgbClr val="666666"/>
            </a:solidFill>
            <a:prstDash val="solid"/>
          </a:ln>
        </p:spPr>
      </p:sp>
      <p:sp>
        <p:nvSpPr>
          <p:cNvPr id="25" name="Shape 23"/>
          <p:cNvSpPr/>
          <p:nvPr/>
        </p:nvSpPr>
        <p:spPr>
          <a:xfrm>
            <a:off x="4470502" y="3611880"/>
            <a:ext cx="1207008" cy="640080"/>
          </a:xfrm>
          <a:prstGeom prst="rect">
            <a:avLst/>
          </a:prstGeom>
          <a:solidFill>
            <a:schemeClr val="bg1"/>
          </a:solidFill>
          <a:ln w="12700">
            <a:solidFill>
              <a:schemeClr val="tx2"/>
            </a:solidFill>
            <a:prstDash val="solid"/>
          </a:ln>
        </p:spPr>
      </p:sp>
      <p:sp>
        <p:nvSpPr>
          <p:cNvPr id="26" name="Text 24"/>
          <p:cNvSpPr txBox="1"/>
          <p:nvPr/>
        </p:nvSpPr>
        <p:spPr>
          <a:xfrm>
            <a:off x="4470502" y="3611880"/>
            <a:ext cx="1207008" cy="64008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Infotainment</a:t>
            </a:r>
            <a:endParaRPr lang="en-US" sz="1300" dirty="0"/>
          </a:p>
        </p:txBody>
      </p:sp>
      <p:sp>
        <p:nvSpPr>
          <p:cNvPr id="27" name="Text 25"/>
          <p:cNvSpPr txBox="1"/>
          <p:nvPr/>
        </p:nvSpPr>
        <p:spPr>
          <a:xfrm>
            <a:off x="4470502" y="4297680"/>
            <a:ext cx="1207008" cy="320040"/>
          </a:xfrm>
          <a:prstGeom prst="rect">
            <a:avLst/>
          </a:prstGeom>
          <a:noFill/>
          <a:ln/>
        </p:spPr>
        <p:txBody>
          <a:bodyPr wrap="square" lIns="0" tIns="0" rIns="0" bIns="0" rtlCol="0" anchor="ctr"/>
          <a:lstStyle/>
          <a:p>
            <a:pPr algn="ctr" indent="0" marL="0">
              <a:buNone/>
            </a:pPr>
            <a:r>
              <a:rPr lang="en-US" sz="1300" dirty="0">
                <a:solidFill>
                  <a:schemeClr val="accent4"/>
                </a:solidFill>
                <a:latin typeface="Calibri" pitchFamily="34" charset="0"/>
                <a:ea typeface="Calibri" pitchFamily="34" charset="-122"/>
                <a:cs typeface="Calibri" pitchFamily="34" charset="-120"/>
              </a:rPr>
              <a:t>MOST</a:t>
            </a:r>
            <a:endParaRPr lang="en-US" sz="1300" dirty="0"/>
          </a:p>
        </p:txBody>
      </p:sp>
      <p:sp>
        <p:nvSpPr>
          <p:cNvPr id="28" name="Text 26"/>
          <p:cNvSpPr txBox="1"/>
          <p:nvPr/>
        </p:nvSpPr>
        <p:spPr>
          <a:xfrm>
            <a:off x="777240" y="4663440"/>
            <a:ext cx="4937760" cy="50292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Grouped by function; many ECUs, mixed buses, gateway bottleneck</a:t>
            </a:r>
            <a:endParaRPr lang="en-US" sz="1400" dirty="0"/>
          </a:p>
        </p:txBody>
      </p:sp>
      <p:sp>
        <p:nvSpPr>
          <p:cNvPr id="29" name="Shape 27"/>
          <p:cNvSpPr/>
          <p:nvPr/>
        </p:nvSpPr>
        <p:spPr>
          <a:xfrm>
            <a:off x="8092440" y="2971800"/>
            <a:ext cx="1691640" cy="777240"/>
          </a:xfrm>
          <a:prstGeom prst="rect">
            <a:avLst/>
          </a:prstGeom>
          <a:solidFill>
            <a:schemeClr val="tx2"/>
          </a:solidFill>
          <a:ln w="12700">
            <a:solidFill>
              <a:schemeClr val="tx2"/>
            </a:solidFill>
            <a:prstDash val="solid"/>
          </a:ln>
        </p:spPr>
      </p:sp>
      <p:sp>
        <p:nvSpPr>
          <p:cNvPr id="30" name="Text 28"/>
          <p:cNvSpPr txBox="1"/>
          <p:nvPr/>
        </p:nvSpPr>
        <p:spPr>
          <a:xfrm>
            <a:off x="8092440" y="2971800"/>
            <a:ext cx="1691640"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Central computer</a:t>
            </a:r>
            <a:endParaRPr lang="en-US" sz="1400" dirty="0"/>
          </a:p>
        </p:txBody>
      </p:sp>
      <p:sp>
        <p:nvSpPr>
          <p:cNvPr id="31" name="Shape 29"/>
          <p:cNvSpPr/>
          <p:nvPr/>
        </p:nvSpPr>
        <p:spPr>
          <a:xfrm>
            <a:off x="6492240" y="2194560"/>
            <a:ext cx="1143000" cy="640080"/>
          </a:xfrm>
          <a:prstGeom prst="rect">
            <a:avLst/>
          </a:prstGeom>
          <a:solidFill>
            <a:schemeClr val="bg1"/>
          </a:solidFill>
          <a:ln w="19050">
            <a:solidFill>
              <a:schemeClr val="accent1"/>
            </a:solidFill>
            <a:prstDash val="solid"/>
          </a:ln>
        </p:spPr>
      </p:sp>
      <p:sp>
        <p:nvSpPr>
          <p:cNvPr id="32" name="Text 30"/>
          <p:cNvSpPr txBox="1"/>
          <p:nvPr/>
        </p:nvSpPr>
        <p:spPr>
          <a:xfrm>
            <a:off x="6492240" y="2194560"/>
            <a:ext cx="1143000" cy="64008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Zone front-left</a:t>
            </a:r>
            <a:endParaRPr lang="en-US" sz="1300" dirty="0"/>
          </a:p>
        </p:txBody>
      </p:sp>
      <p:sp>
        <p:nvSpPr>
          <p:cNvPr id="33" name="Shape 31"/>
          <p:cNvSpPr/>
          <p:nvPr/>
        </p:nvSpPr>
        <p:spPr>
          <a:xfrm>
            <a:off x="6492240" y="3794760"/>
            <a:ext cx="1143000" cy="640080"/>
          </a:xfrm>
          <a:prstGeom prst="rect">
            <a:avLst/>
          </a:prstGeom>
          <a:solidFill>
            <a:schemeClr val="bg1"/>
          </a:solidFill>
          <a:ln w="19050">
            <a:solidFill>
              <a:schemeClr val="accent1"/>
            </a:solidFill>
            <a:prstDash val="solid"/>
          </a:ln>
        </p:spPr>
      </p:sp>
      <p:sp>
        <p:nvSpPr>
          <p:cNvPr id="34" name="Text 32"/>
          <p:cNvSpPr txBox="1"/>
          <p:nvPr/>
        </p:nvSpPr>
        <p:spPr>
          <a:xfrm>
            <a:off x="6492240" y="3794760"/>
            <a:ext cx="1143000" cy="64008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Zone rear-left</a:t>
            </a:r>
            <a:endParaRPr lang="en-US" sz="1300" dirty="0"/>
          </a:p>
        </p:txBody>
      </p:sp>
      <p:sp>
        <p:nvSpPr>
          <p:cNvPr id="35" name="Shape 33"/>
          <p:cNvSpPr/>
          <p:nvPr/>
        </p:nvSpPr>
        <p:spPr>
          <a:xfrm>
            <a:off x="10058400" y="2194560"/>
            <a:ext cx="1143000" cy="640080"/>
          </a:xfrm>
          <a:prstGeom prst="rect">
            <a:avLst/>
          </a:prstGeom>
          <a:solidFill>
            <a:schemeClr val="bg1"/>
          </a:solidFill>
          <a:ln w="19050">
            <a:solidFill>
              <a:schemeClr val="accent1"/>
            </a:solidFill>
            <a:prstDash val="solid"/>
          </a:ln>
        </p:spPr>
      </p:sp>
      <p:sp>
        <p:nvSpPr>
          <p:cNvPr id="36" name="Text 34"/>
          <p:cNvSpPr txBox="1"/>
          <p:nvPr/>
        </p:nvSpPr>
        <p:spPr>
          <a:xfrm>
            <a:off x="10058400" y="2194560"/>
            <a:ext cx="1143000" cy="64008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Zone front-right</a:t>
            </a:r>
            <a:endParaRPr lang="en-US" sz="1300" dirty="0"/>
          </a:p>
        </p:txBody>
      </p:sp>
      <p:sp>
        <p:nvSpPr>
          <p:cNvPr id="37" name="Shape 35"/>
          <p:cNvSpPr/>
          <p:nvPr/>
        </p:nvSpPr>
        <p:spPr>
          <a:xfrm>
            <a:off x="10058400" y="3794760"/>
            <a:ext cx="1143000" cy="640080"/>
          </a:xfrm>
          <a:prstGeom prst="rect">
            <a:avLst/>
          </a:prstGeom>
          <a:solidFill>
            <a:schemeClr val="bg1"/>
          </a:solidFill>
          <a:ln w="19050">
            <a:solidFill>
              <a:schemeClr val="accent1"/>
            </a:solidFill>
            <a:prstDash val="solid"/>
          </a:ln>
        </p:spPr>
      </p:sp>
      <p:sp>
        <p:nvSpPr>
          <p:cNvPr id="38" name="Text 36"/>
          <p:cNvSpPr txBox="1"/>
          <p:nvPr/>
        </p:nvSpPr>
        <p:spPr>
          <a:xfrm>
            <a:off x="10058400" y="3794760"/>
            <a:ext cx="1143000" cy="64008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Zone rear-right</a:t>
            </a:r>
            <a:endParaRPr lang="en-US" sz="1300" dirty="0"/>
          </a:p>
        </p:txBody>
      </p:sp>
      <p:sp>
        <p:nvSpPr>
          <p:cNvPr id="39" name="Shape 37"/>
          <p:cNvSpPr/>
          <p:nvPr/>
        </p:nvSpPr>
        <p:spPr>
          <a:xfrm>
            <a:off x="7063740" y="3360420"/>
            <a:ext cx="1028700" cy="0"/>
          </a:xfrm>
          <a:prstGeom prst="line">
            <a:avLst/>
          </a:prstGeom>
          <a:noFill/>
          <a:ln w="44450">
            <a:solidFill>
              <a:srgbClr val="2E75B6"/>
            </a:solidFill>
            <a:prstDash val="solid"/>
          </a:ln>
        </p:spPr>
      </p:sp>
      <p:sp>
        <p:nvSpPr>
          <p:cNvPr id="40" name="Shape 38"/>
          <p:cNvSpPr/>
          <p:nvPr/>
        </p:nvSpPr>
        <p:spPr>
          <a:xfrm>
            <a:off x="7063740" y="2834640"/>
            <a:ext cx="0" cy="960120"/>
          </a:xfrm>
          <a:prstGeom prst="line">
            <a:avLst/>
          </a:prstGeom>
          <a:noFill/>
          <a:ln w="44450">
            <a:solidFill>
              <a:srgbClr val="2E75B6"/>
            </a:solidFill>
            <a:prstDash val="solid"/>
          </a:ln>
        </p:spPr>
      </p:sp>
      <p:sp>
        <p:nvSpPr>
          <p:cNvPr id="41" name="Shape 39"/>
          <p:cNvSpPr/>
          <p:nvPr/>
        </p:nvSpPr>
        <p:spPr>
          <a:xfrm>
            <a:off x="9784080" y="3360420"/>
            <a:ext cx="845820" cy="0"/>
          </a:xfrm>
          <a:prstGeom prst="line">
            <a:avLst/>
          </a:prstGeom>
          <a:noFill/>
          <a:ln w="44450">
            <a:solidFill>
              <a:srgbClr val="2E75B6"/>
            </a:solidFill>
            <a:prstDash val="solid"/>
          </a:ln>
        </p:spPr>
      </p:sp>
      <p:sp>
        <p:nvSpPr>
          <p:cNvPr id="42" name="Shape 40"/>
          <p:cNvSpPr/>
          <p:nvPr/>
        </p:nvSpPr>
        <p:spPr>
          <a:xfrm>
            <a:off x="10629900" y="2834640"/>
            <a:ext cx="0" cy="960120"/>
          </a:xfrm>
          <a:prstGeom prst="line">
            <a:avLst/>
          </a:prstGeom>
          <a:noFill/>
          <a:ln w="44450">
            <a:solidFill>
              <a:srgbClr val="2E75B6"/>
            </a:solidFill>
            <a:prstDash val="solid"/>
          </a:ln>
        </p:spPr>
      </p:sp>
      <p:sp>
        <p:nvSpPr>
          <p:cNvPr id="43" name="Text 41"/>
          <p:cNvSpPr txBox="1"/>
          <p:nvPr/>
        </p:nvSpPr>
        <p:spPr>
          <a:xfrm>
            <a:off x="8001000" y="2514600"/>
            <a:ext cx="1874520" cy="365760"/>
          </a:xfrm>
          <a:prstGeom prst="rect">
            <a:avLst/>
          </a:prstGeom>
          <a:noFill/>
          <a:ln/>
        </p:spPr>
        <p:txBody>
          <a:bodyPr wrap="square" lIns="0" tIns="0" rIns="0" bIns="0" rtlCol="0" anchor="ctr"/>
          <a:lstStyle/>
          <a:p>
            <a:pPr algn="ctr" indent="0" marL="0">
              <a:buNone/>
            </a:pPr>
            <a:r>
              <a:rPr lang="en-US" sz="1300" b="1" dirty="0">
                <a:solidFill>
                  <a:schemeClr val="accent1"/>
                </a:solidFill>
                <a:latin typeface="Calibri" pitchFamily="34" charset="0"/>
                <a:ea typeface="Calibri" pitchFamily="34" charset="-122"/>
                <a:cs typeface="Calibri" pitchFamily="34" charset="-120"/>
              </a:rPr>
              <a:t>multi-gig Ethernet</a:t>
            </a:r>
            <a:endParaRPr lang="en-US" sz="1300" dirty="0"/>
          </a:p>
        </p:txBody>
      </p:sp>
      <p:sp>
        <p:nvSpPr>
          <p:cNvPr id="44" name="Text 42"/>
          <p:cNvSpPr txBox="1"/>
          <p:nvPr/>
        </p:nvSpPr>
        <p:spPr>
          <a:xfrm>
            <a:off x="6492240" y="4663440"/>
            <a:ext cx="4937760" cy="50292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Grouped by location; zones bridge local CAN, LIN, 10BASE-T1S</a:t>
            </a:r>
            <a:endParaRPr lang="en-US" sz="1400" dirty="0"/>
          </a:p>
        </p:txBody>
      </p:sp>
      <p:sp>
        <p:nvSpPr>
          <p:cNvPr id="45" name="Text 43"/>
          <p:cNvSpPr txBox="1"/>
          <p:nvPr/>
        </p:nvSpPr>
        <p:spPr>
          <a:xfrm>
            <a:off x="548640" y="5440680"/>
            <a:ext cx="11064240" cy="411480"/>
          </a:xfrm>
          <a:prstGeom prst="rect">
            <a:avLst/>
          </a:prstGeom>
          <a:noFill/>
          <a:ln/>
        </p:spPr>
        <p:txBody>
          <a:bodyPr wrap="square" lIns="0" tIns="0" rIns="0" bIns="0" rtlCol="0" anchor="ctr"/>
          <a:lstStyle/>
          <a:p>
            <a:pPr indent="0" marL="0">
              <a:buNone/>
            </a:pPr>
            <a:r>
              <a:rPr lang="en-US" sz="1800" b="1" dirty="0">
                <a:solidFill>
                  <a:schemeClr val="accent2"/>
                </a:solidFill>
                <a:latin typeface="Calibri" pitchFamily="34" charset="0"/>
                <a:ea typeface="Calibri" pitchFamily="34" charset="-122"/>
                <a:cs typeface="Calibri" pitchFamily="34" charset="-120"/>
              </a:rPr>
              <a:t>Effect: </a:t>
            </a:r>
            <a:pPr indent="0" marL="0">
              <a:buNone/>
            </a:pPr>
            <a:r>
              <a:rPr lang="en-US" sz="1800" dirty="0">
                <a:solidFill>
                  <a:schemeClr val="tx1"/>
                </a:solidFill>
                <a:latin typeface="Calibri" pitchFamily="34" charset="0"/>
                <a:ea typeface="Calibri" pitchFamily="34" charset="-122"/>
                <a:cs typeface="Calibri" pitchFamily="34" charset="-120"/>
              </a:rPr>
              <a:t>fewer ECUs, shorter harness, software centralised and updatable over the air</a:t>
            </a:r>
            <a:endParaRPr lang="en-US" sz="1800" dirty="0"/>
          </a:p>
        </p:txBody>
      </p:sp>
      <p:sp>
        <p:nvSpPr>
          <p:cNvPr id="46" name="Text 44"/>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200" dirty="0">
                <a:solidFill>
                  <a:schemeClr val="accent4"/>
                </a:solidFill>
                <a:latin typeface="Calibri" pitchFamily="34" charset="0"/>
                <a:ea typeface="Calibri" pitchFamily="34" charset="-122"/>
                <a:cs typeface="Calibri" pitchFamily="34" charset="-120"/>
              </a:rPr>
              <a:t>Schematic, adapted from industry descriptions of zonal E/E architectures (e.g. Matheus &amp; Königseder, 2021).</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8229600" cy="274320"/>
          </a:xfrm>
          <a:prstGeom prst="rect">
            <a:avLst/>
          </a:prstGeom>
          <a:noFill/>
          <a:ln/>
        </p:spPr>
        <p:txBody>
          <a:bodyPr wrap="square" lIns="0" tIns="0" rIns="0" bIns="0" rtlCol="0"/>
          <a:lstStyle/>
          <a:p>
            <a:pPr indent="0" marL="0">
              <a:buNone/>
            </a:pPr>
            <a:r>
              <a:rPr lang="en-US" sz="1200" b="1" spc="100" kern="0" dirty="0">
                <a:solidFill>
                  <a:schemeClr val="accent1"/>
                </a:solidFill>
              </a:rPr>
              <a:t>COMPONENTS AND ARCHITECTURE · REAL-TIME BEHAVIOUR</a:t>
            </a:r>
            <a:endParaRPr lang="en-US" sz="1200" dirty="0"/>
          </a:p>
        </p:txBody>
      </p:sp>
      <p:sp>
        <p:nvSpPr>
          <p:cNvPr id="3" name="Text 0"/>
          <p:cNvSpPr/>
          <p:nvPr>
            <p:ph idx="101" type="title" hasCustomPrompt="1"/>
          </p:nvPr>
        </p:nvSpPr>
        <p:spPr>
          <a:xfrm>
            <a:off x="548640" y="502920"/>
            <a:ext cx="11064240" cy="868680"/>
          </a:xfrm>
          <a:prstGeom prst="rect">
            <a:avLst/>
          </a:prstGeom>
          <a:noFill/>
          <a:ln/>
        </p:spPr>
        <p:txBody>
          <a:bodyPr wrap="square" lIns="0" tIns="0" rIns="0" bIns="0" rtlCol="0" anchor="t"/>
          <a:lstStyle/>
          <a:p>
            <a:pPr indent="0" marL="0">
              <a:buNone/>
            </a:pPr>
            <a:r>
              <a:rPr lang="en-US" sz="2800" b="1" dirty="0">
                <a:solidFill>
                  <a:schemeClr val="tx2"/>
                </a:solidFill>
              </a:rPr>
              <a:t>Time-Sensitive Networking adds the determinism that safety-related traffic requires</a:t>
            </a:r>
            <a:endParaRPr lang="en-US" sz="2800" dirty="0"/>
          </a:p>
        </p:txBody>
      </p:sp>
      <p:sp>
        <p:nvSpPr>
          <p:cNvPr id="4" name="Text 2"/>
          <p:cNvSpPr txBox="1"/>
          <p:nvPr/>
        </p:nvSpPr>
        <p:spPr>
          <a:xfrm>
            <a:off x="548640" y="1600200"/>
            <a:ext cx="11064240" cy="457200"/>
          </a:xfrm>
          <a:prstGeom prst="rect">
            <a:avLst/>
          </a:prstGeom>
          <a:noFill/>
          <a:ln/>
        </p:spPr>
        <p:txBody>
          <a:bodyPr wrap="square" lIns="0" tIns="0" rIns="0" bIns="0" rtlCol="0" anchor="ctr"/>
          <a:lstStyle/>
          <a:p>
            <a:pPr indent="0" marL="0">
              <a:buNone/>
            </a:pPr>
            <a:r>
              <a:rPr lang="en-US" sz="1900" b="1" dirty="0">
                <a:solidFill>
                  <a:schemeClr val="accent2"/>
                </a:solidFill>
                <a:latin typeface="Calibri" pitchFamily="34" charset="0"/>
                <a:ea typeface="Calibri" pitchFamily="34" charset="-122"/>
                <a:cs typeface="Calibri" pitchFamily="34" charset="-120"/>
              </a:rPr>
              <a:t>Problem: </a:t>
            </a:r>
            <a:pPr indent="0" marL="0">
              <a:buNone/>
            </a:pPr>
            <a:r>
              <a:rPr lang="en-US" sz="1900" dirty="0">
                <a:solidFill>
                  <a:schemeClr val="tx1"/>
                </a:solidFill>
                <a:latin typeface="Calibri" pitchFamily="34" charset="0"/>
                <a:ea typeface="Calibri" pitchFamily="34" charset="-122"/>
                <a:cs typeface="Calibri" pitchFamily="34" charset="-120"/>
              </a:rPr>
              <a:t>standard Ethernet is best effort — a brake or steering frame can wait behind a large video frame.</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1064240" cy="914400"/>
        </p:xfrm>
        <a:graphic>
          <a:graphicData uri="http://schemas.openxmlformats.org/drawingml/2006/table">
            <a:tbl>
              <a:tblPr/>
              <a:tblGrid>
                <a:gridCol w="2560320"/>
                <a:gridCol w="3840480"/>
                <a:gridCol w="4663440"/>
              </a:tblGrid>
              <a:tr h="475488">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IEEE standard</a:t>
                      </a:r>
                      <a:endParaRPr lang="en-US" sz="17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4E79"/>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Mechanism</a:t>
                      </a:r>
                      <a:endParaRPr lang="en-US" sz="17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4E79"/>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What it guarantees</a:t>
                      </a:r>
                      <a:endParaRPr lang="en-US" sz="17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4E79"/>
                    </a:solidFill>
                  </a:tcPr>
                </a:tc>
              </a:tr>
              <a:tr h="475488">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802.1AS (gPTP)</a:t>
                      </a:r>
                      <a:endParaRPr lang="en-US" sz="17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Precise time synchronisation</a:t>
                      </a:r>
                      <a:endParaRPr lang="en-US" sz="17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All nodes share one clock (sub-µs accuracy)</a:t>
                      </a:r>
                      <a:endParaRPr lang="en-US" sz="17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r>
              <a:tr h="475488">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802.1Qav</a:t>
                      </a:r>
                      <a:endParaRPr lang="en-US" sz="17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Credit-based shaper</a:t>
                      </a:r>
                      <a:endParaRPr lang="en-US" sz="17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Smooth bandwidth for audio/video streams</a:t>
                      </a:r>
                      <a:endParaRPr lang="en-US" sz="17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r>
              <a:tr h="475488">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802.1Qbv</a:t>
                      </a:r>
                      <a:endParaRPr lang="en-US" sz="17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Time-aware shaper</a:t>
                      </a:r>
                      <a:endParaRPr lang="en-US" sz="17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Reserved time slots for critical traffic</a:t>
                      </a:r>
                      <a:endParaRPr lang="en-US" sz="17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r>
              <a:tr h="475488">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802.1Qbu / 802.3br</a:t>
                      </a:r>
                      <a:endParaRPr lang="en-US" sz="17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Frame preemption</a:t>
                      </a:r>
                      <a:endParaRPr lang="en-US" sz="17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Urgent frames interrupt long frames</a:t>
                      </a:r>
                      <a:endParaRPr lang="en-US" sz="17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r>
              <a:tr h="475488">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802.1CB</a:t>
                      </a:r>
                      <a:endParaRPr lang="en-US" sz="17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Frame replication and elimination</a:t>
                      </a:r>
                      <a:endParaRPr lang="en-US" sz="17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Redundant paths survive a link failure</a:t>
                      </a:r>
                      <a:endParaRPr lang="en-US" sz="17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r>
              <a:tr h="475488">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802.1Qci</a:t>
                      </a:r>
                      <a:endParaRPr lang="en-US" sz="17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Per-stream filtering and policing</a:t>
                      </a:r>
                      <a:endParaRPr lang="en-US" sz="17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700" dirty="0">
                          <a:solidFill>
                            <a:srgbClr val="2D2D2D"/>
                          </a:solidFill>
                          <a:latin typeface="Calibri" pitchFamily="34" charset="0"/>
                          <a:ea typeface="Calibri" pitchFamily="34" charset="-122"/>
                          <a:cs typeface="Calibri" pitchFamily="34" charset="-120"/>
                        </a:rPr>
                        <a:t>A faulty node cannot flood the network</a:t>
                      </a:r>
                      <a:endParaRPr lang="en-US" sz="17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r>
            </a:tbl>
          </a:graphicData>
        </a:graphic>
      </p:graphicFrame>
      <p:sp>
        <p:nvSpPr>
          <p:cNvPr id="6" name="Text 3"/>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200" dirty="0">
                <a:solidFill>
                  <a:schemeClr val="accent4"/>
                </a:solidFill>
                <a:latin typeface="Calibri" pitchFamily="34" charset="0"/>
                <a:ea typeface="Calibri" pitchFamily="34" charset="-122"/>
                <a:cs typeface="Calibri" pitchFamily="34" charset="-120"/>
              </a:rPr>
              <a:t>IEEE 802.1 Time-Sensitive Networking Task Group: IEEE Std 802.1AS, 802.1Q (Qav, Qbv, Qbu, Qci), 802.1CB; IEEE Std 802.3br.</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8229600" cy="274320"/>
          </a:xfrm>
          <a:prstGeom prst="rect">
            <a:avLst/>
          </a:prstGeom>
          <a:noFill/>
          <a:ln/>
        </p:spPr>
        <p:txBody>
          <a:bodyPr wrap="square" lIns="0" tIns="0" rIns="0" bIns="0" rtlCol="0"/>
          <a:lstStyle/>
          <a:p>
            <a:pPr indent="0" marL="0">
              <a:buNone/>
            </a:pPr>
            <a:r>
              <a:rPr lang="en-US" sz="1200" b="1" spc="100" kern="0" dirty="0">
                <a:solidFill>
                  <a:schemeClr val="accent1"/>
                </a:solidFill>
              </a:rPr>
              <a:t>APPLICATIONS</a:t>
            </a:r>
            <a:endParaRPr lang="en-US" sz="1200" dirty="0"/>
          </a:p>
        </p:txBody>
      </p:sp>
      <p:sp>
        <p:nvSpPr>
          <p:cNvPr id="3" name="Text 0"/>
          <p:cNvSpPr/>
          <p:nvPr>
            <p:ph idx="101" type="title" hasCustomPrompt="1"/>
          </p:nvPr>
        </p:nvSpPr>
        <p:spPr>
          <a:xfrm>
            <a:off x="548640" y="502920"/>
            <a:ext cx="11064240" cy="868680"/>
          </a:xfrm>
          <a:prstGeom prst="rect">
            <a:avLst/>
          </a:prstGeom>
          <a:noFill/>
          <a:ln/>
        </p:spPr>
        <p:txBody>
          <a:bodyPr wrap="square" lIns="0" tIns="0" rIns="0" bIns="0" rtlCol="0" anchor="t"/>
          <a:lstStyle/>
          <a:p>
            <a:pPr indent="0" marL="0">
              <a:buNone/>
            </a:pPr>
            <a:r>
              <a:rPr lang="en-US" sz="2800" b="1" dirty="0">
                <a:solidFill>
                  <a:schemeClr val="tx2"/>
                </a:solidFill>
              </a:rPr>
              <a:t>Ethernet now carries the car’s highest-bandwidth and most software-intensive functions</a:t>
            </a:r>
            <a:endParaRPr lang="en-US" sz="2800" dirty="0"/>
          </a:p>
        </p:txBody>
      </p:sp>
      <p:sp>
        <p:nvSpPr>
          <p:cNvPr id="4" name="Shape 2"/>
          <p:cNvSpPr/>
          <p:nvPr/>
        </p:nvSpPr>
        <p:spPr>
          <a:xfrm>
            <a:off x="548640" y="1645920"/>
            <a:ext cx="3566160" cy="2011680"/>
          </a:xfrm>
          <a:prstGeom prst="rect">
            <a:avLst/>
          </a:prstGeom>
          <a:solidFill>
            <a:schemeClr val="bg2"/>
          </a:solidFill>
          <a:ln w="12700">
            <a:solidFill>
              <a:schemeClr val="bg2"/>
            </a:solidFill>
            <a:prstDash val="solid"/>
          </a:ln>
        </p:spPr>
      </p:sp>
      <p:sp>
        <p:nvSpPr>
          <p:cNvPr id="5" name="Text 3"/>
          <p:cNvSpPr txBox="1"/>
          <p:nvPr/>
        </p:nvSpPr>
        <p:spPr>
          <a:xfrm>
            <a:off x="777240" y="1828800"/>
            <a:ext cx="3154680" cy="457200"/>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ADAS and automated driving</a:t>
            </a:r>
            <a:endParaRPr lang="en-US" sz="2000" dirty="0"/>
          </a:p>
        </p:txBody>
      </p:sp>
      <p:sp>
        <p:nvSpPr>
          <p:cNvPr id="6" name="Text 4"/>
          <p:cNvSpPr txBox="1"/>
          <p:nvPr/>
        </p:nvSpPr>
        <p:spPr>
          <a:xfrm>
            <a:off x="777240" y="2331720"/>
            <a:ext cx="3154680" cy="8686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Cameras, radar and lidar stream to the central computer for sensor fusion</a:t>
            </a:r>
            <a:endParaRPr lang="en-US" sz="1600" dirty="0"/>
          </a:p>
        </p:txBody>
      </p:sp>
      <p:sp>
        <p:nvSpPr>
          <p:cNvPr id="7" name="Text 5"/>
          <p:cNvSpPr txBox="1"/>
          <p:nvPr/>
        </p:nvSpPr>
        <p:spPr>
          <a:xfrm>
            <a:off x="777240" y="3200400"/>
            <a:ext cx="3154680" cy="320040"/>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1000BASE-T1, multi-gig</a:t>
            </a:r>
            <a:endParaRPr lang="en-US" sz="1500" dirty="0"/>
          </a:p>
        </p:txBody>
      </p:sp>
      <p:sp>
        <p:nvSpPr>
          <p:cNvPr id="8" name="Shape 6"/>
          <p:cNvSpPr/>
          <p:nvPr/>
        </p:nvSpPr>
        <p:spPr>
          <a:xfrm>
            <a:off x="4297680" y="1645920"/>
            <a:ext cx="3566160" cy="2011680"/>
          </a:xfrm>
          <a:prstGeom prst="rect">
            <a:avLst/>
          </a:prstGeom>
          <a:solidFill>
            <a:schemeClr val="bg2"/>
          </a:solidFill>
          <a:ln w="12700">
            <a:solidFill>
              <a:schemeClr val="bg2"/>
            </a:solidFill>
            <a:prstDash val="solid"/>
          </a:ln>
        </p:spPr>
      </p:sp>
      <p:sp>
        <p:nvSpPr>
          <p:cNvPr id="9" name="Text 7"/>
          <p:cNvSpPr txBox="1"/>
          <p:nvPr/>
        </p:nvSpPr>
        <p:spPr>
          <a:xfrm>
            <a:off x="4526280" y="1828800"/>
            <a:ext cx="3154680" cy="457200"/>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Infotainment and displays</a:t>
            </a:r>
            <a:endParaRPr lang="en-US" sz="2000" dirty="0"/>
          </a:p>
        </p:txBody>
      </p:sp>
      <p:sp>
        <p:nvSpPr>
          <p:cNvPr id="10" name="Text 8"/>
          <p:cNvSpPr txBox="1"/>
          <p:nvPr/>
        </p:nvSpPr>
        <p:spPr>
          <a:xfrm>
            <a:off x="4526280" y="2331720"/>
            <a:ext cx="3154680" cy="8686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Multiple HD screens, audio and video streaming (AVB/TSN)</a:t>
            </a:r>
            <a:endParaRPr lang="en-US" sz="1600" dirty="0"/>
          </a:p>
        </p:txBody>
      </p:sp>
      <p:sp>
        <p:nvSpPr>
          <p:cNvPr id="11" name="Text 9"/>
          <p:cNvSpPr txBox="1"/>
          <p:nvPr/>
        </p:nvSpPr>
        <p:spPr>
          <a:xfrm>
            <a:off x="4526280" y="3200400"/>
            <a:ext cx="3154680" cy="320040"/>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100/1000BASE-T1</a:t>
            </a:r>
            <a:endParaRPr lang="en-US" sz="1500" dirty="0"/>
          </a:p>
        </p:txBody>
      </p:sp>
      <p:sp>
        <p:nvSpPr>
          <p:cNvPr id="12" name="Shape 10"/>
          <p:cNvSpPr/>
          <p:nvPr/>
        </p:nvSpPr>
        <p:spPr>
          <a:xfrm>
            <a:off x="8046720" y="1645920"/>
            <a:ext cx="3566160" cy="2011680"/>
          </a:xfrm>
          <a:prstGeom prst="rect">
            <a:avLst/>
          </a:prstGeom>
          <a:solidFill>
            <a:schemeClr val="bg2"/>
          </a:solidFill>
          <a:ln w="12700">
            <a:solidFill>
              <a:schemeClr val="bg2"/>
            </a:solidFill>
            <a:prstDash val="solid"/>
          </a:ln>
        </p:spPr>
      </p:sp>
      <p:sp>
        <p:nvSpPr>
          <p:cNvPr id="13" name="Text 11"/>
          <p:cNvSpPr txBox="1"/>
          <p:nvPr/>
        </p:nvSpPr>
        <p:spPr>
          <a:xfrm>
            <a:off x="8275320" y="1828800"/>
            <a:ext cx="3154680" cy="457200"/>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Diagnostics and OTA updates</a:t>
            </a:r>
            <a:endParaRPr lang="en-US" sz="2000" dirty="0"/>
          </a:p>
        </p:txBody>
      </p:sp>
      <p:sp>
        <p:nvSpPr>
          <p:cNvPr id="14" name="Text 12"/>
          <p:cNvSpPr txBox="1"/>
          <p:nvPr/>
        </p:nvSpPr>
        <p:spPr>
          <a:xfrm>
            <a:off x="8275320" y="2331720"/>
            <a:ext cx="3154680" cy="8686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DoIP (ISO 13400) for fast flashing; gigabyte software updates</a:t>
            </a:r>
            <a:endParaRPr lang="en-US" sz="1600" dirty="0"/>
          </a:p>
        </p:txBody>
      </p:sp>
      <p:sp>
        <p:nvSpPr>
          <p:cNvPr id="15" name="Text 13"/>
          <p:cNvSpPr txBox="1"/>
          <p:nvPr/>
        </p:nvSpPr>
        <p:spPr>
          <a:xfrm>
            <a:off x="8275320" y="3200400"/>
            <a:ext cx="3154680" cy="320040"/>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100BASE-T1, 1000BASE-T1</a:t>
            </a:r>
            <a:endParaRPr lang="en-US" sz="1500" dirty="0"/>
          </a:p>
        </p:txBody>
      </p:sp>
      <p:sp>
        <p:nvSpPr>
          <p:cNvPr id="16" name="Shape 14"/>
          <p:cNvSpPr/>
          <p:nvPr/>
        </p:nvSpPr>
        <p:spPr>
          <a:xfrm>
            <a:off x="548640" y="3840480"/>
            <a:ext cx="3566160" cy="2011680"/>
          </a:xfrm>
          <a:prstGeom prst="rect">
            <a:avLst/>
          </a:prstGeom>
          <a:solidFill>
            <a:schemeClr val="bg2"/>
          </a:solidFill>
          <a:ln w="12700">
            <a:solidFill>
              <a:schemeClr val="bg2"/>
            </a:solidFill>
            <a:prstDash val="solid"/>
          </a:ln>
        </p:spPr>
      </p:sp>
      <p:sp>
        <p:nvSpPr>
          <p:cNvPr id="17" name="Text 15"/>
          <p:cNvSpPr txBox="1"/>
          <p:nvPr/>
        </p:nvSpPr>
        <p:spPr>
          <a:xfrm>
            <a:off x="777240" y="4023360"/>
            <a:ext cx="3154680" cy="457200"/>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Vehicle backbone</a:t>
            </a:r>
            <a:endParaRPr lang="en-US" sz="2000" dirty="0"/>
          </a:p>
        </p:txBody>
      </p:sp>
      <p:sp>
        <p:nvSpPr>
          <p:cNvPr id="18" name="Text 16"/>
          <p:cNvSpPr txBox="1"/>
          <p:nvPr/>
        </p:nvSpPr>
        <p:spPr>
          <a:xfrm>
            <a:off x="777240" y="4526280"/>
            <a:ext cx="3154680" cy="8686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Links zonal controllers, gateway and central compute</a:t>
            </a:r>
            <a:endParaRPr lang="en-US" sz="1600" dirty="0"/>
          </a:p>
        </p:txBody>
      </p:sp>
      <p:sp>
        <p:nvSpPr>
          <p:cNvPr id="19" name="Text 17"/>
          <p:cNvSpPr txBox="1"/>
          <p:nvPr/>
        </p:nvSpPr>
        <p:spPr>
          <a:xfrm>
            <a:off x="777240" y="5394960"/>
            <a:ext cx="3154680" cy="320040"/>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2.5–10GBASE-T1</a:t>
            </a:r>
            <a:endParaRPr lang="en-US" sz="1500" dirty="0"/>
          </a:p>
        </p:txBody>
      </p:sp>
      <p:sp>
        <p:nvSpPr>
          <p:cNvPr id="20" name="Shape 18"/>
          <p:cNvSpPr/>
          <p:nvPr/>
        </p:nvSpPr>
        <p:spPr>
          <a:xfrm>
            <a:off x="4297680" y="3840480"/>
            <a:ext cx="3566160" cy="2011680"/>
          </a:xfrm>
          <a:prstGeom prst="rect">
            <a:avLst/>
          </a:prstGeom>
          <a:solidFill>
            <a:schemeClr val="bg2"/>
          </a:solidFill>
          <a:ln w="12700">
            <a:solidFill>
              <a:schemeClr val="bg2"/>
            </a:solidFill>
            <a:prstDash val="solid"/>
          </a:ln>
        </p:spPr>
      </p:sp>
      <p:sp>
        <p:nvSpPr>
          <p:cNvPr id="21" name="Text 19"/>
          <p:cNvSpPr txBox="1"/>
          <p:nvPr/>
        </p:nvSpPr>
        <p:spPr>
          <a:xfrm>
            <a:off x="4526280" y="4023360"/>
            <a:ext cx="3154680" cy="457200"/>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Connectivity and telematics</a:t>
            </a:r>
            <a:endParaRPr lang="en-US" sz="2000" dirty="0"/>
          </a:p>
        </p:txBody>
      </p:sp>
      <p:sp>
        <p:nvSpPr>
          <p:cNvPr id="22" name="Text 20"/>
          <p:cNvSpPr txBox="1"/>
          <p:nvPr/>
        </p:nvSpPr>
        <p:spPr>
          <a:xfrm>
            <a:off x="4526280" y="4526280"/>
            <a:ext cx="3154680" cy="8686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Telematics unit, V2X and cloud services over IP</a:t>
            </a:r>
            <a:endParaRPr lang="en-US" sz="1600" dirty="0"/>
          </a:p>
        </p:txBody>
      </p:sp>
      <p:sp>
        <p:nvSpPr>
          <p:cNvPr id="23" name="Text 21"/>
          <p:cNvSpPr txBox="1"/>
          <p:nvPr/>
        </p:nvSpPr>
        <p:spPr>
          <a:xfrm>
            <a:off x="4526280" y="5394960"/>
            <a:ext cx="3154680" cy="320040"/>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100/1000BASE-T1</a:t>
            </a:r>
            <a:endParaRPr lang="en-US" sz="1500" dirty="0"/>
          </a:p>
        </p:txBody>
      </p:sp>
      <p:sp>
        <p:nvSpPr>
          <p:cNvPr id="24" name="Shape 22"/>
          <p:cNvSpPr/>
          <p:nvPr/>
        </p:nvSpPr>
        <p:spPr>
          <a:xfrm>
            <a:off x="8046720" y="3840480"/>
            <a:ext cx="3566160" cy="2011680"/>
          </a:xfrm>
          <a:prstGeom prst="rect">
            <a:avLst/>
          </a:prstGeom>
          <a:solidFill>
            <a:schemeClr val="bg2"/>
          </a:solidFill>
          <a:ln w="12700">
            <a:solidFill>
              <a:schemeClr val="bg2"/>
            </a:solidFill>
            <a:prstDash val="solid"/>
          </a:ln>
        </p:spPr>
      </p:sp>
      <p:sp>
        <p:nvSpPr>
          <p:cNvPr id="25" name="Text 23"/>
          <p:cNvSpPr txBox="1"/>
          <p:nvPr/>
        </p:nvSpPr>
        <p:spPr>
          <a:xfrm>
            <a:off x="8275320" y="4023360"/>
            <a:ext cx="3154680" cy="457200"/>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Body and edge devices</a:t>
            </a:r>
            <a:endParaRPr lang="en-US" sz="2000" dirty="0"/>
          </a:p>
        </p:txBody>
      </p:sp>
      <p:sp>
        <p:nvSpPr>
          <p:cNvPr id="26" name="Text 24"/>
          <p:cNvSpPr txBox="1"/>
          <p:nvPr/>
        </p:nvSpPr>
        <p:spPr>
          <a:xfrm>
            <a:off x="8275320" y="4526280"/>
            <a:ext cx="3154680" cy="8686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Lights, switches, small sensors on one shared bus</a:t>
            </a:r>
            <a:endParaRPr lang="en-US" sz="1600" dirty="0"/>
          </a:p>
        </p:txBody>
      </p:sp>
      <p:sp>
        <p:nvSpPr>
          <p:cNvPr id="27" name="Text 25"/>
          <p:cNvSpPr txBox="1"/>
          <p:nvPr/>
        </p:nvSpPr>
        <p:spPr>
          <a:xfrm>
            <a:off x="8275320" y="5394960"/>
            <a:ext cx="3154680" cy="320040"/>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10BASE-T1S</a:t>
            </a:r>
            <a:endParaRPr lang="en-US" sz="1500" dirty="0"/>
          </a:p>
        </p:txBody>
      </p:sp>
      <p:sp>
        <p:nvSpPr>
          <p:cNvPr id="28" name="Text 26"/>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200" dirty="0">
                <a:solidFill>
                  <a:schemeClr val="accent4"/>
                </a:solidFill>
                <a:latin typeface="Calibri" pitchFamily="34" charset="0"/>
                <a:ea typeface="Calibri" pitchFamily="34" charset="-122"/>
                <a:cs typeface="Calibri" pitchFamily="34" charset="-120"/>
              </a:rPr>
              <a:t>Link types are typical choices, not fixed rules; they vary by manufacturer and vehicle platform.</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8229600" cy="274320"/>
          </a:xfrm>
          <a:prstGeom prst="rect">
            <a:avLst/>
          </a:prstGeom>
          <a:noFill/>
          <a:ln/>
        </p:spPr>
        <p:txBody>
          <a:bodyPr wrap="square" lIns="0" tIns="0" rIns="0" bIns="0" rtlCol="0"/>
          <a:lstStyle/>
          <a:p>
            <a:pPr indent="0" marL="0">
              <a:buNone/>
            </a:pPr>
            <a:r>
              <a:rPr lang="en-US" sz="1200" b="1" spc="100" kern="0" dirty="0">
                <a:solidFill>
                  <a:schemeClr val="accent1"/>
                </a:solidFill>
              </a:rPr>
              <a:t>ASSESSMENT · ADVANTAGES AND LIMITATIONS</a:t>
            </a:r>
            <a:endParaRPr lang="en-US" sz="1200" dirty="0"/>
          </a:p>
        </p:txBody>
      </p:sp>
      <p:sp>
        <p:nvSpPr>
          <p:cNvPr id="3" name="Text 0"/>
          <p:cNvSpPr/>
          <p:nvPr>
            <p:ph idx="101" type="title" hasCustomPrompt="1"/>
          </p:nvPr>
        </p:nvSpPr>
        <p:spPr>
          <a:xfrm>
            <a:off x="548640" y="502920"/>
            <a:ext cx="11064240" cy="868680"/>
          </a:xfrm>
          <a:prstGeom prst="rect">
            <a:avLst/>
          </a:prstGeom>
          <a:noFill/>
          <a:ln/>
        </p:spPr>
        <p:txBody>
          <a:bodyPr wrap="square" lIns="0" tIns="0" rIns="0" bIns="0" rtlCol="0" anchor="t"/>
          <a:lstStyle/>
          <a:p>
            <a:pPr indent="0" marL="0">
              <a:buNone/>
            </a:pPr>
            <a:r>
              <a:rPr lang="en-US" sz="2800" b="1" dirty="0">
                <a:solidFill>
                  <a:schemeClr val="tx2"/>
                </a:solidFill>
              </a:rPr>
              <a:t>Ethernet wins on bandwidth and ecosystem, but adds cost, complexity and attack surface</a:t>
            </a:r>
            <a:endParaRPr lang="en-US" sz="2800" dirty="0"/>
          </a:p>
        </p:txBody>
      </p:sp>
      <p:sp>
        <p:nvSpPr>
          <p:cNvPr id="4" name="Shape 2"/>
          <p:cNvSpPr/>
          <p:nvPr/>
        </p:nvSpPr>
        <p:spPr>
          <a:xfrm>
            <a:off x="548640" y="1645920"/>
            <a:ext cx="5394960" cy="4160520"/>
          </a:xfrm>
          <a:prstGeom prst="rect">
            <a:avLst/>
          </a:prstGeom>
          <a:solidFill>
            <a:schemeClr val="bg2"/>
          </a:solidFill>
          <a:ln w="12700">
            <a:solidFill>
              <a:schemeClr val="bg2"/>
            </a:solidFill>
            <a:prstDash val="solid"/>
          </a:ln>
        </p:spPr>
      </p:sp>
      <p:sp>
        <p:nvSpPr>
          <p:cNvPr id="5" name="Text 3"/>
          <p:cNvSpPr txBox="1"/>
          <p:nvPr/>
        </p:nvSpPr>
        <p:spPr>
          <a:xfrm>
            <a:off x="822960" y="1783080"/>
            <a:ext cx="4846320" cy="457200"/>
          </a:xfrm>
          <a:prstGeom prst="rect">
            <a:avLst/>
          </a:prstGeom>
          <a:noFill/>
          <a:ln/>
        </p:spPr>
        <p:txBody>
          <a:bodyPr wrap="square" lIns="0" tIns="0" rIns="0" bIns="0" rtlCol="0" anchor="ctr"/>
          <a:lstStyle/>
          <a:p>
            <a:pPr indent="0" marL="0">
              <a:buNone/>
            </a:pPr>
            <a:r>
              <a:rPr lang="en-US" sz="2200" b="1" dirty="0">
                <a:solidFill>
                  <a:schemeClr val="accent1"/>
                </a:solidFill>
                <a:latin typeface="Calibri" pitchFamily="34" charset="0"/>
                <a:ea typeface="Calibri" pitchFamily="34" charset="-122"/>
                <a:cs typeface="Calibri" pitchFamily="34" charset="-120"/>
              </a:rPr>
              <a:t>Advantages</a:t>
            </a:r>
            <a:endParaRPr lang="en-US" sz="2200" dirty="0"/>
          </a:p>
        </p:txBody>
      </p:sp>
      <p:sp>
        <p:nvSpPr>
          <p:cNvPr id="6" name="Text 4"/>
          <p:cNvSpPr txBox="1"/>
          <p:nvPr/>
        </p:nvSpPr>
        <p:spPr>
          <a:xfrm>
            <a:off x="822960" y="2331720"/>
            <a:ext cx="4892040" cy="3383280"/>
          </a:xfrm>
          <a:prstGeom prst="rect">
            <a:avLst/>
          </a:prstGeom>
          <a:noFill/>
          <a:ln/>
        </p:spPr>
        <p:txBody>
          <a:bodyPr wrap="square" lIns="0" tIns="0" rIns="0" bIns="0" rtlCol="0" anchor="t"/>
          <a:lstStyle/>
          <a:p>
            <a:pPr marL="228600" indent="-228600">
              <a:spcAft>
                <a:spcPts val="1000"/>
              </a:spcAft>
              <a:buSzPct val="100000"/>
              <a:buChar char="•"/>
            </a:pPr>
            <a:r>
              <a:rPr lang="en-US" sz="1800" b="1" dirty="0">
                <a:solidFill>
                  <a:schemeClr val="tx1"/>
                </a:solidFill>
                <a:latin typeface="Calibri" pitchFamily="34" charset="0"/>
                <a:ea typeface="Calibri" pitchFamily="34" charset="-122"/>
                <a:cs typeface="Calibri" pitchFamily="34" charset="-120"/>
              </a:rPr>
              <a:t>Scalable speed: </a:t>
            </a:r>
            <a:pPr indent="0" marL="0">
              <a:spcAft>
                <a:spcPts val="1000"/>
              </a:spcAft>
              <a:buNone/>
            </a:pPr>
            <a:r>
              <a:rPr lang="en-US" sz="1800" dirty="0">
                <a:solidFill>
                  <a:schemeClr val="tx1"/>
                </a:solidFill>
                <a:latin typeface="Calibri" pitchFamily="34" charset="0"/>
                <a:ea typeface="Calibri" pitchFamily="34" charset="-122"/>
                <a:cs typeface="Calibri" pitchFamily="34" charset="-120"/>
              </a:rPr>
              <a:t>10 Mbit/s to 25 Gbit/s</a:t>
            </a:r>
            <a:endParaRPr lang="en-US" sz="1800" dirty="0"/>
          </a:p>
          <a:p>
            <a:pPr marL="228600" indent="-228600">
              <a:spcAft>
                <a:spcPts val="1000"/>
              </a:spcAft>
              <a:buSzPct val="100000"/>
              <a:buChar char="•"/>
            </a:pPr>
            <a:r>
              <a:rPr lang="en-US" sz="1800" b="1" dirty="0">
                <a:solidFill>
                  <a:schemeClr val="tx1"/>
                </a:solidFill>
                <a:latin typeface="Calibri" pitchFamily="34" charset="0"/>
                <a:ea typeface="Calibri" pitchFamily="34" charset="-122"/>
                <a:cs typeface="Calibri" pitchFamily="34" charset="-120"/>
              </a:rPr>
              <a:t>Light wiring: </a:t>
            </a:r>
            <a:pPr indent="0" marL="0">
              <a:spcAft>
                <a:spcPts val="1000"/>
              </a:spcAft>
              <a:buNone/>
            </a:pPr>
            <a:r>
              <a:rPr lang="en-US" sz="1800" dirty="0">
                <a:solidFill>
                  <a:schemeClr val="tx1"/>
                </a:solidFill>
                <a:latin typeface="Calibri" pitchFamily="34" charset="0"/>
                <a:ea typeface="Calibri" pitchFamily="34" charset="-122"/>
                <a:cs typeface="Calibri" pitchFamily="34" charset="-120"/>
              </a:rPr>
              <a:t>one unshielded pair, small connectors</a:t>
            </a:r>
            <a:endParaRPr lang="en-US" sz="1800" dirty="0"/>
          </a:p>
          <a:p>
            <a:pPr marL="228600" indent="-228600">
              <a:spcAft>
                <a:spcPts val="1000"/>
              </a:spcAft>
              <a:buSzPct val="100000"/>
              <a:buChar char="•"/>
            </a:pPr>
            <a:r>
              <a:rPr lang="en-US" sz="1800" b="1" dirty="0">
                <a:solidFill>
                  <a:schemeClr val="tx1"/>
                </a:solidFill>
                <a:latin typeface="Calibri" pitchFamily="34" charset="0"/>
                <a:ea typeface="Calibri" pitchFamily="34" charset="-122"/>
                <a:cs typeface="Calibri" pitchFamily="34" charset="-120"/>
              </a:rPr>
              <a:t>Mature ecosystem: </a:t>
            </a:r>
            <a:pPr indent="0" marL="0">
              <a:spcAft>
                <a:spcPts val="1000"/>
              </a:spcAft>
              <a:buNone/>
            </a:pPr>
            <a:r>
              <a:rPr lang="en-US" sz="1800" dirty="0">
                <a:solidFill>
                  <a:schemeClr val="tx1"/>
                </a:solidFill>
                <a:latin typeface="Calibri" pitchFamily="34" charset="0"/>
                <a:ea typeface="Calibri" pitchFamily="34" charset="-122"/>
                <a:cs typeface="Calibri" pitchFamily="34" charset="-120"/>
              </a:rPr>
              <a:t>IP, tools, skilled engineers</a:t>
            </a:r>
            <a:endParaRPr lang="en-US" sz="1800" dirty="0"/>
          </a:p>
          <a:p>
            <a:pPr marL="228600" indent="-228600">
              <a:spcAft>
                <a:spcPts val="1000"/>
              </a:spcAft>
              <a:buSzPct val="100000"/>
              <a:buChar char="•"/>
            </a:pPr>
            <a:r>
              <a:rPr lang="en-US" sz="1800" b="1" dirty="0">
                <a:solidFill>
                  <a:schemeClr val="tx1"/>
                </a:solidFill>
                <a:latin typeface="Calibri" pitchFamily="34" charset="0"/>
                <a:ea typeface="Calibri" pitchFamily="34" charset="-122"/>
                <a:cs typeface="Calibri" pitchFamily="34" charset="-120"/>
              </a:rPr>
              <a:t>Service-oriented: </a:t>
            </a:r>
            <a:pPr indent="0" marL="0">
              <a:spcAft>
                <a:spcPts val="1000"/>
              </a:spcAft>
              <a:buNone/>
            </a:pPr>
            <a:r>
              <a:rPr lang="en-US" sz="1800" dirty="0">
                <a:solidFill>
                  <a:schemeClr val="tx1"/>
                </a:solidFill>
                <a:latin typeface="Calibri" pitchFamily="34" charset="0"/>
                <a:ea typeface="Calibri" pitchFamily="34" charset="-122"/>
                <a:cs typeface="Calibri" pitchFamily="34" charset="-120"/>
              </a:rPr>
              <a:t>SOME/IP; enables OTA updates</a:t>
            </a:r>
            <a:endParaRPr lang="en-US" sz="1800" dirty="0"/>
          </a:p>
          <a:p>
            <a:pPr marL="228600" indent="-228600">
              <a:spcAft>
                <a:spcPts val="1000"/>
              </a:spcAft>
              <a:buSzPct val="100000"/>
              <a:buChar char="•"/>
            </a:pPr>
            <a:r>
              <a:rPr lang="en-US" sz="1800" b="1" dirty="0">
                <a:solidFill>
                  <a:schemeClr val="tx1"/>
                </a:solidFill>
                <a:latin typeface="Calibri" pitchFamily="34" charset="0"/>
                <a:ea typeface="Calibri" pitchFamily="34" charset="-122"/>
                <a:cs typeface="Calibri" pitchFamily="34" charset="-120"/>
              </a:rPr>
              <a:t>Security options: </a:t>
            </a:r>
            <a:pPr indent="0" marL="0">
              <a:spcAft>
                <a:spcPts val="1000"/>
              </a:spcAft>
              <a:buNone/>
            </a:pPr>
            <a:r>
              <a:rPr lang="en-US" sz="1800" dirty="0">
                <a:solidFill>
                  <a:schemeClr val="tx1"/>
                </a:solidFill>
                <a:latin typeface="Calibri" pitchFamily="34" charset="0"/>
                <a:ea typeface="Calibri" pitchFamily="34" charset="-122"/>
                <a:cs typeface="Calibri" pitchFamily="34" charset="-120"/>
              </a:rPr>
              <a:t>VLANs, firewalls, MACsec, TLS</a:t>
            </a:r>
            <a:endParaRPr lang="en-US" sz="1800" dirty="0"/>
          </a:p>
        </p:txBody>
      </p:sp>
      <p:sp>
        <p:nvSpPr>
          <p:cNvPr id="7" name="Shape 5"/>
          <p:cNvSpPr/>
          <p:nvPr/>
        </p:nvSpPr>
        <p:spPr>
          <a:xfrm>
            <a:off x="6217920" y="1645920"/>
            <a:ext cx="5394960" cy="4160520"/>
          </a:xfrm>
          <a:prstGeom prst="rect">
            <a:avLst/>
          </a:prstGeom>
          <a:solidFill>
            <a:schemeClr val="accent6"/>
          </a:solidFill>
          <a:ln w="12700">
            <a:solidFill>
              <a:schemeClr val="accent6"/>
            </a:solidFill>
            <a:prstDash val="solid"/>
          </a:ln>
        </p:spPr>
      </p:sp>
      <p:sp>
        <p:nvSpPr>
          <p:cNvPr id="8" name="Text 6"/>
          <p:cNvSpPr txBox="1"/>
          <p:nvPr/>
        </p:nvSpPr>
        <p:spPr>
          <a:xfrm>
            <a:off x="6492240" y="1783080"/>
            <a:ext cx="4846320" cy="457200"/>
          </a:xfrm>
          <a:prstGeom prst="rect">
            <a:avLst/>
          </a:prstGeom>
          <a:noFill/>
          <a:ln/>
        </p:spPr>
        <p:txBody>
          <a:bodyPr wrap="square" lIns="0" tIns="0" rIns="0" bIns="0" rtlCol="0" anchor="ctr"/>
          <a:lstStyle/>
          <a:p>
            <a:pPr indent="0" marL="0">
              <a:buNone/>
            </a:pPr>
            <a:r>
              <a:rPr lang="en-US" sz="2200" b="1" dirty="0">
                <a:solidFill>
                  <a:schemeClr val="accent2"/>
                </a:solidFill>
                <a:latin typeface="Calibri" pitchFamily="34" charset="0"/>
                <a:ea typeface="Calibri" pitchFamily="34" charset="-122"/>
                <a:cs typeface="Calibri" pitchFamily="34" charset="-120"/>
              </a:rPr>
              <a:t>Limitations</a:t>
            </a:r>
            <a:endParaRPr lang="en-US" sz="2200" dirty="0"/>
          </a:p>
        </p:txBody>
      </p:sp>
      <p:sp>
        <p:nvSpPr>
          <p:cNvPr id="9" name="Text 7"/>
          <p:cNvSpPr txBox="1"/>
          <p:nvPr/>
        </p:nvSpPr>
        <p:spPr>
          <a:xfrm>
            <a:off x="6492240" y="2331720"/>
            <a:ext cx="4892040" cy="3383280"/>
          </a:xfrm>
          <a:prstGeom prst="rect">
            <a:avLst/>
          </a:prstGeom>
          <a:noFill/>
          <a:ln/>
        </p:spPr>
        <p:txBody>
          <a:bodyPr wrap="square" lIns="0" tIns="0" rIns="0" bIns="0" rtlCol="0" anchor="t"/>
          <a:lstStyle/>
          <a:p>
            <a:pPr marL="228600" indent="-228600">
              <a:spcAft>
                <a:spcPts val="1000"/>
              </a:spcAft>
              <a:buSzPct val="100000"/>
              <a:buChar char="•"/>
            </a:pPr>
            <a:r>
              <a:rPr lang="en-US" sz="1800" b="1" dirty="0">
                <a:solidFill>
                  <a:schemeClr val="tx1"/>
                </a:solidFill>
                <a:latin typeface="Calibri" pitchFamily="34" charset="0"/>
                <a:ea typeface="Calibri" pitchFamily="34" charset="-122"/>
                <a:cs typeface="Calibri" pitchFamily="34" charset="-120"/>
              </a:rPr>
              <a:t>Not deterministic by default: </a:t>
            </a:r>
            <a:pPr indent="0" marL="0">
              <a:spcAft>
                <a:spcPts val="1000"/>
              </a:spcAft>
              <a:buNone/>
            </a:pPr>
            <a:r>
              <a:rPr lang="en-US" sz="1800" dirty="0">
                <a:solidFill>
                  <a:schemeClr val="tx1"/>
                </a:solidFill>
                <a:latin typeface="Calibri" pitchFamily="34" charset="0"/>
                <a:ea typeface="Calibri" pitchFamily="34" charset="-122"/>
                <a:cs typeface="Calibri" pitchFamily="34" charset="-120"/>
              </a:rPr>
              <a:t>needs TSN</a:t>
            </a:r>
            <a:endParaRPr lang="en-US" sz="1800" dirty="0"/>
          </a:p>
          <a:p>
            <a:pPr marL="228600" indent="-228600">
              <a:spcAft>
                <a:spcPts val="1000"/>
              </a:spcAft>
              <a:buSzPct val="100000"/>
              <a:buChar char="•"/>
            </a:pPr>
            <a:r>
              <a:rPr lang="en-US" sz="1800" b="1" dirty="0">
                <a:solidFill>
                  <a:schemeClr val="tx1"/>
                </a:solidFill>
                <a:latin typeface="Calibri" pitchFamily="34" charset="0"/>
                <a:ea typeface="Calibri" pitchFamily="34" charset="-122"/>
                <a:cs typeface="Calibri" pitchFamily="34" charset="-120"/>
              </a:rPr>
              <a:t>Cost per node: </a:t>
            </a:r>
            <a:pPr indent="0" marL="0">
              <a:spcAft>
                <a:spcPts val="1000"/>
              </a:spcAft>
              <a:buNone/>
            </a:pPr>
            <a:r>
              <a:rPr lang="en-US" sz="1800" dirty="0">
                <a:solidFill>
                  <a:schemeClr val="tx1"/>
                </a:solidFill>
                <a:latin typeface="Calibri" pitchFamily="34" charset="0"/>
                <a:ea typeface="Calibri" pitchFamily="34" charset="-122"/>
                <a:cs typeface="Calibri" pitchFamily="34" charset="-120"/>
              </a:rPr>
              <a:t>PHY and switch ports cost more than CAN</a:t>
            </a:r>
            <a:endParaRPr lang="en-US" sz="1800" dirty="0"/>
          </a:p>
          <a:p>
            <a:pPr marL="228600" indent="-228600">
              <a:spcAft>
                <a:spcPts val="1000"/>
              </a:spcAft>
              <a:buSzPct val="100000"/>
              <a:buChar char="•"/>
            </a:pPr>
            <a:r>
              <a:rPr lang="en-US" sz="1800" b="1" dirty="0">
                <a:solidFill>
                  <a:schemeClr val="tx1"/>
                </a:solidFill>
                <a:latin typeface="Calibri" pitchFamily="34" charset="0"/>
                <a:ea typeface="Calibri" pitchFamily="34" charset="-122"/>
                <a:cs typeface="Calibri" pitchFamily="34" charset="-120"/>
              </a:rPr>
              <a:t>EMC: </a:t>
            </a:r>
            <a:pPr indent="0" marL="0">
              <a:spcAft>
                <a:spcPts val="1000"/>
              </a:spcAft>
              <a:buNone/>
            </a:pPr>
            <a:r>
              <a:rPr lang="en-US" sz="1800" dirty="0">
                <a:solidFill>
                  <a:schemeClr val="tx1"/>
                </a:solidFill>
                <a:latin typeface="Calibri" pitchFamily="34" charset="0"/>
                <a:ea typeface="Calibri" pitchFamily="34" charset="-122"/>
                <a:cs typeface="Calibri" pitchFamily="34" charset="-120"/>
              </a:rPr>
              <a:t>hard at multi-gig on unshielded cable</a:t>
            </a:r>
            <a:endParaRPr lang="en-US" sz="1800" dirty="0"/>
          </a:p>
          <a:p>
            <a:pPr marL="228600" indent="-228600">
              <a:spcAft>
                <a:spcPts val="1000"/>
              </a:spcAft>
              <a:buSzPct val="100000"/>
              <a:buChar char="•"/>
            </a:pPr>
            <a:r>
              <a:rPr lang="en-US" sz="1800" b="1" dirty="0">
                <a:solidFill>
                  <a:schemeClr val="tx1"/>
                </a:solidFill>
                <a:latin typeface="Calibri" pitchFamily="34" charset="0"/>
                <a:ea typeface="Calibri" pitchFamily="34" charset="-122"/>
                <a:cs typeface="Calibri" pitchFamily="34" charset="-120"/>
              </a:rPr>
              <a:t>Attack surface: </a:t>
            </a:r>
            <a:pPr indent="0" marL="0">
              <a:spcAft>
                <a:spcPts val="1000"/>
              </a:spcAft>
              <a:buNone/>
            </a:pPr>
            <a:r>
              <a:rPr lang="en-US" sz="1800" dirty="0">
                <a:solidFill>
                  <a:schemeClr val="tx1"/>
                </a:solidFill>
                <a:latin typeface="Calibri" pitchFamily="34" charset="0"/>
                <a:ea typeface="Calibri" pitchFamily="34" charset="-122"/>
                <a:cs typeface="Calibri" pitchFamily="34" charset="-120"/>
              </a:rPr>
              <a:t>IP networks invite cyber attacks</a:t>
            </a:r>
            <a:endParaRPr lang="en-US" sz="1800" dirty="0"/>
          </a:p>
          <a:p>
            <a:pPr marL="228600" indent="-228600">
              <a:spcAft>
                <a:spcPts val="1000"/>
              </a:spcAft>
              <a:buSzPct val="100000"/>
              <a:buChar char="•"/>
            </a:pPr>
            <a:r>
              <a:rPr lang="en-US" sz="1800" b="1" dirty="0">
                <a:solidFill>
                  <a:schemeClr val="tx1"/>
                </a:solidFill>
                <a:latin typeface="Calibri" pitchFamily="34" charset="0"/>
                <a:ea typeface="Calibri" pitchFamily="34" charset="-122"/>
                <a:cs typeface="Calibri" pitchFamily="34" charset="-120"/>
              </a:rPr>
              <a:t>Power and complexity: </a:t>
            </a:r>
            <a:pPr indent="0" marL="0">
              <a:spcAft>
                <a:spcPts val="1000"/>
              </a:spcAft>
              <a:buNone/>
            </a:pPr>
            <a:r>
              <a:rPr lang="en-US" sz="1800" dirty="0">
                <a:solidFill>
                  <a:schemeClr val="tx1"/>
                </a:solidFill>
                <a:latin typeface="Calibri" pitchFamily="34" charset="0"/>
                <a:ea typeface="Calibri" pitchFamily="34" charset="-122"/>
                <a:cs typeface="Calibri" pitchFamily="34" charset="-120"/>
              </a:rPr>
              <a:t>sleep/wake (TC10), configuration, testing</a:t>
            </a:r>
            <a:endParaRPr lang="en-US" sz="1800" dirty="0"/>
          </a:p>
        </p:txBody>
      </p:sp>
      <p:sp>
        <p:nvSpPr>
          <p:cNvPr id="10" name="Text 8"/>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200" dirty="0">
                <a:solidFill>
                  <a:schemeClr val="accent4"/>
                </a:solidFill>
                <a:latin typeface="Calibri" pitchFamily="34" charset="0"/>
                <a:ea typeface="Calibri" pitchFamily="34" charset="-122"/>
                <a:cs typeface="Calibri" pitchFamily="34" charset="-120"/>
              </a:rPr>
              <a:t>OPEN Alliance TC10 (sleep/wake-up); IEEE 802.1AE (MACsec); ISO/SAE 21434 (vehicle cybersecurity engineering).</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8229600" cy="274320"/>
          </a:xfrm>
          <a:prstGeom prst="rect">
            <a:avLst/>
          </a:prstGeom>
          <a:noFill/>
          <a:ln/>
        </p:spPr>
        <p:txBody>
          <a:bodyPr wrap="square" lIns="0" tIns="0" rIns="0" bIns="0" rtlCol="0"/>
          <a:lstStyle/>
          <a:p>
            <a:pPr indent="0" marL="0">
              <a:buNone/>
            </a:pPr>
            <a:r>
              <a:rPr lang="en-US" sz="1200" b="1" spc="100" kern="0" dirty="0">
                <a:solidFill>
                  <a:schemeClr val="accent1"/>
                </a:solidFill>
              </a:rPr>
              <a:t>ASSESSMENT · COMPARISON</a:t>
            </a:r>
            <a:endParaRPr lang="en-US" sz="1200" dirty="0"/>
          </a:p>
        </p:txBody>
      </p:sp>
      <p:sp>
        <p:nvSpPr>
          <p:cNvPr id="3" name="Text 0"/>
          <p:cNvSpPr/>
          <p:nvPr>
            <p:ph idx="101" type="title" hasCustomPrompt="1"/>
          </p:nvPr>
        </p:nvSpPr>
        <p:spPr>
          <a:xfrm>
            <a:off x="548640" y="502920"/>
            <a:ext cx="11064240" cy="868680"/>
          </a:xfrm>
          <a:prstGeom prst="rect">
            <a:avLst/>
          </a:prstGeom>
          <a:noFill/>
          <a:ln/>
        </p:spPr>
        <p:txBody>
          <a:bodyPr wrap="square" lIns="0" tIns="0" rIns="0" bIns="0" rtlCol="0" anchor="t"/>
          <a:lstStyle/>
          <a:p>
            <a:pPr indent="0" marL="0">
              <a:buNone/>
            </a:pPr>
            <a:r>
              <a:rPr lang="en-US" sz="2800" b="1" dirty="0">
                <a:solidFill>
                  <a:schemeClr val="tx2"/>
                </a:solidFill>
              </a:rPr>
              <a:t>Ethernet complements CAN and LIN rather than replacing them</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468880"/>
                <a:gridCol w="2926080"/>
                <a:gridCol w="2743200"/>
                <a:gridCol w="2926080"/>
              </a:tblGrid>
              <a:tr h="50292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Network</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4E79"/>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Max data rate</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4E79"/>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Medium / topology</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4E79"/>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Typical use</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4E79"/>
                    </a:solidFill>
                  </a:tcPr>
                </a:tc>
              </a:tr>
              <a:tr h="502920">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LIN</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20 kbit/s</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Single wire, bus</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Windows, seats, mirrors</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r>
              <a:tr h="502920">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CAN</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1 Mbit/s</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Twisted pair, bus</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Engine, chassis, body control</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r>
              <a:tr h="502920">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CAN FD</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 5 Mbit/s (data phase, typical)</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Twisted pair, bus</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Powertrain, gateway traffic</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r>
              <a:tr h="502920">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FlexRay</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10 Mbit/s</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Twisted pair, time-triggered</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Chassis, x-by-wire</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r>
              <a:tr h="502920">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MOST150</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150 Mbit/s</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Optical / coax ring</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800" dirty="0">
                          <a:solidFill>
                            <a:srgbClr val="2D2D2D"/>
                          </a:solidFill>
                          <a:latin typeface="Calibri" pitchFamily="34" charset="0"/>
                          <a:ea typeface="Calibri" pitchFamily="34" charset="-122"/>
                          <a:cs typeface="Calibri" pitchFamily="34" charset="-120"/>
                        </a:rPr>
                        <a:t>Older infotainment systems</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r>
              <a:tr h="502920">
                <a:tc>
                  <a:txBody>
                    <a:bodyPr/>
                    <a:lstStyle/>
                    <a:p>
                      <a:pPr indent="0" marL="0">
                        <a:buNone/>
                      </a:pPr>
                      <a:r>
                        <a:rPr lang="en-US" sz="1800" b="1" dirty="0">
                          <a:solidFill>
                            <a:srgbClr val="1F4E79"/>
                          </a:solidFill>
                          <a:latin typeface="Calibri" pitchFamily="34" charset="0"/>
                          <a:ea typeface="Calibri" pitchFamily="34" charset="-122"/>
                          <a:cs typeface="Calibri" pitchFamily="34" charset="-120"/>
                        </a:rPr>
                        <a:t>Automotive Ethernet</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BF3FA"/>
                    </a:solidFill>
                  </a:tcPr>
                </a:tc>
                <a:tc>
                  <a:txBody>
                    <a:bodyPr/>
                    <a:lstStyle/>
                    <a:p>
                      <a:pPr indent="0" marL="0">
                        <a:buNone/>
                      </a:pPr>
                      <a:r>
                        <a:rPr lang="en-US" sz="1800" b="1" dirty="0">
                          <a:solidFill>
                            <a:srgbClr val="1F4E79"/>
                          </a:solidFill>
                          <a:latin typeface="Calibri" pitchFamily="34" charset="0"/>
                          <a:ea typeface="Calibri" pitchFamily="34" charset="-122"/>
                          <a:cs typeface="Calibri" pitchFamily="34" charset="-120"/>
                        </a:rPr>
                        <a:t>10 Mbit/s – 25 Gbit/s</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BF3FA"/>
                    </a:solidFill>
                  </a:tcPr>
                </a:tc>
                <a:tc>
                  <a:txBody>
                    <a:bodyPr/>
                    <a:lstStyle/>
                    <a:p>
                      <a:pPr indent="0" marL="0">
                        <a:buNone/>
                      </a:pPr>
                      <a:r>
                        <a:rPr lang="en-US" sz="1800" b="1" dirty="0">
                          <a:solidFill>
                            <a:srgbClr val="1F4E79"/>
                          </a:solidFill>
                          <a:latin typeface="Calibri" pitchFamily="34" charset="0"/>
                          <a:ea typeface="Calibri" pitchFamily="34" charset="-122"/>
                          <a:cs typeface="Calibri" pitchFamily="34" charset="-120"/>
                        </a:rPr>
                        <a:t>One twisted pair, switched</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BF3FA"/>
                    </a:solidFill>
                  </a:tcPr>
                </a:tc>
                <a:tc>
                  <a:txBody>
                    <a:bodyPr/>
                    <a:lstStyle/>
                    <a:p>
                      <a:pPr indent="0" marL="0">
                        <a:buNone/>
                      </a:pPr>
                      <a:r>
                        <a:rPr lang="en-US" sz="1800" b="1" dirty="0">
                          <a:solidFill>
                            <a:srgbClr val="1F4E79"/>
                          </a:solidFill>
                          <a:latin typeface="Calibri" pitchFamily="34" charset="0"/>
                          <a:ea typeface="Calibri" pitchFamily="34" charset="-122"/>
                          <a:cs typeface="Calibri" pitchFamily="34" charset="-120"/>
                        </a:rPr>
                        <a:t>ADAS, backbone, infotainment, OTA</a:t>
                      </a:r>
                      <a:endParaRPr lang="en-US" sz="1800" dirty="0">
                        <a:latin typeface="Calibri" charset="0"/>
                        <a:ea typeface="Calibri" charset="0"/>
                        <a:cs typeface="Calibri" charset="0"/>
                      </a:endParaRPr>
                    </a:p>
                  </a:txBody>
                  <a:tcPr marL="109728" marR="109728"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EBF3FA"/>
                    </a:solidFill>
                  </a:tcPr>
                </a:tc>
              </a:tr>
            </a:tbl>
          </a:graphicData>
        </a:graphic>
      </p:graphicFrame>
      <p:sp>
        <p:nvSpPr>
          <p:cNvPr id="5" name="Text 2"/>
          <p:cNvSpPr txBox="1"/>
          <p:nvPr/>
        </p:nvSpPr>
        <p:spPr>
          <a:xfrm>
            <a:off x="548640" y="5349240"/>
            <a:ext cx="1106424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Takeaway: </a:t>
            </a:r>
            <a:pPr indent="0" marL="0">
              <a:buNone/>
            </a:pPr>
            <a:r>
              <a:rPr lang="en-US" sz="1800" dirty="0">
                <a:solidFill>
                  <a:schemeClr val="tx1"/>
                </a:solidFill>
                <a:latin typeface="Calibri" pitchFamily="34" charset="0"/>
                <a:ea typeface="Calibri" pitchFamily="34" charset="-122"/>
                <a:cs typeface="Calibri" pitchFamily="34" charset="-120"/>
              </a:rPr>
              <a:t>each network keeps the job it is cheapest for; Ethernet takes the high-bandwidth backbone.</a:t>
            </a:r>
            <a:endParaRPr lang="en-US" sz="1800" dirty="0"/>
          </a:p>
        </p:txBody>
      </p:sp>
      <p:sp>
        <p:nvSpPr>
          <p:cNvPr id="6" name="Text 3"/>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200" dirty="0">
                <a:solidFill>
                  <a:schemeClr val="accent4"/>
                </a:solidFill>
                <a:latin typeface="Calibri" pitchFamily="34" charset="0"/>
                <a:ea typeface="Calibri" pitchFamily="34" charset="-122"/>
                <a:cs typeface="Calibri" pitchFamily="34" charset="-120"/>
              </a:rPr>
              <a:t>ISO 17987 (LIN), ISO 11898 (CAN, CAN FD), ISO 17458 (FlexRay), MOST Cooperation (MOST150), IEEE 802.3.</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8229600" cy="274320"/>
          </a:xfrm>
          <a:prstGeom prst="rect">
            <a:avLst/>
          </a:prstGeom>
          <a:noFill/>
          <a:ln/>
        </p:spPr>
        <p:txBody>
          <a:bodyPr wrap="square" lIns="0" tIns="0" rIns="0" bIns="0" rtlCol="0"/>
          <a:lstStyle/>
          <a:p>
            <a:pPr indent="0" marL="0">
              <a:buNone/>
            </a:pPr>
            <a:r>
              <a:rPr lang="en-US" sz="1200" b="1" spc="100" kern="0" dirty="0">
                <a:solidFill>
                  <a:schemeClr val="accent1"/>
                </a:solidFill>
              </a:rPr>
              <a:t>OUTLOOK · RECENT DEVELOPMENTS</a:t>
            </a:r>
            <a:endParaRPr lang="en-US" sz="1200" dirty="0"/>
          </a:p>
        </p:txBody>
      </p:sp>
      <p:sp>
        <p:nvSpPr>
          <p:cNvPr id="3" name="Text 0"/>
          <p:cNvSpPr/>
          <p:nvPr>
            <p:ph idx="101" type="title" hasCustomPrompt="1"/>
          </p:nvPr>
        </p:nvSpPr>
        <p:spPr>
          <a:xfrm>
            <a:off x="548640" y="502920"/>
            <a:ext cx="11064240" cy="868680"/>
          </a:xfrm>
          <a:prstGeom prst="rect">
            <a:avLst/>
          </a:prstGeom>
          <a:noFill/>
          <a:ln/>
        </p:spPr>
        <p:txBody>
          <a:bodyPr wrap="square" lIns="0" tIns="0" rIns="0" bIns="0" rtlCol="0" anchor="t"/>
          <a:lstStyle/>
          <a:p>
            <a:pPr indent="0" marL="0">
              <a:buNone/>
            </a:pPr>
            <a:r>
              <a:rPr lang="en-US" sz="2800" b="1" dirty="0">
                <a:solidFill>
                  <a:schemeClr val="tx2"/>
                </a:solidFill>
              </a:rPr>
              <a:t>Current work pushes Ethernet to the edge, to higher speeds, and deeper into safety and security</a:t>
            </a:r>
            <a:endParaRPr lang="en-US" sz="2800" dirty="0"/>
          </a:p>
        </p:txBody>
      </p:sp>
      <p:sp>
        <p:nvSpPr>
          <p:cNvPr id="4" name="Shape 2"/>
          <p:cNvSpPr/>
          <p:nvPr/>
        </p:nvSpPr>
        <p:spPr>
          <a:xfrm>
            <a:off x="548640" y="1645920"/>
            <a:ext cx="5440680" cy="1280160"/>
          </a:xfrm>
          <a:prstGeom prst="rect">
            <a:avLst/>
          </a:prstGeom>
          <a:solidFill>
            <a:schemeClr val="bg2"/>
          </a:solidFill>
          <a:ln w="12700">
            <a:solidFill>
              <a:schemeClr val="bg2"/>
            </a:solidFill>
            <a:prstDash val="solid"/>
          </a:ln>
        </p:spPr>
      </p:sp>
      <p:sp>
        <p:nvSpPr>
          <p:cNvPr id="5" name="Text 3"/>
          <p:cNvSpPr txBox="1"/>
          <p:nvPr/>
        </p:nvSpPr>
        <p:spPr>
          <a:xfrm>
            <a:off x="777240" y="1645920"/>
            <a:ext cx="457200" cy="1280160"/>
          </a:xfrm>
          <a:prstGeom prst="rect">
            <a:avLst/>
          </a:prstGeom>
          <a:noFill/>
          <a:ln/>
        </p:spPr>
        <p:txBody>
          <a:bodyPr wrap="square" lIns="0" tIns="0" rIns="0" bIns="0" rtlCol="0" anchor="ctr"/>
          <a:lstStyle/>
          <a:p>
            <a:pPr indent="0" marL="0">
              <a:buNone/>
            </a:pPr>
            <a:r>
              <a:rPr lang="en-US" sz="2600" b="1" dirty="0">
                <a:solidFill>
                  <a:schemeClr val="accent1"/>
                </a:solidFill>
                <a:latin typeface="Calibri" pitchFamily="34" charset="0"/>
                <a:ea typeface="Calibri" pitchFamily="34" charset="-122"/>
                <a:cs typeface="Calibri" pitchFamily="34" charset="-120"/>
              </a:rPr>
              <a:t>1</a:t>
            </a:r>
            <a:endParaRPr lang="en-US" sz="2600" dirty="0"/>
          </a:p>
        </p:txBody>
      </p:sp>
      <p:sp>
        <p:nvSpPr>
          <p:cNvPr id="6" name="Text 4"/>
          <p:cNvSpPr txBox="1"/>
          <p:nvPr/>
        </p:nvSpPr>
        <p:spPr>
          <a:xfrm>
            <a:off x="1280160" y="1737360"/>
            <a:ext cx="4526280" cy="1097280"/>
          </a:xfrm>
          <a:prstGeom prst="rect">
            <a:avLst/>
          </a:prstGeom>
          <a:noFill/>
          <a:ln/>
        </p:spPr>
        <p:txBody>
          <a:bodyPr wrap="square" lIns="0" tIns="0" rIns="0" bIns="0" rtlCol="0" anchor="ctr"/>
          <a:lstStyle/>
          <a:p>
            <a:pPr indent="0" marL="0">
              <a:buNone/>
            </a:pPr>
            <a:r>
              <a:rPr lang="en-US" sz="1900" b="1" dirty="0">
                <a:solidFill>
                  <a:schemeClr val="tx2"/>
                </a:solidFill>
                <a:latin typeface="Calibri" pitchFamily="34" charset="0"/>
                <a:ea typeface="Calibri" pitchFamily="34" charset="-122"/>
                <a:cs typeface="Calibri" pitchFamily="34" charset="-120"/>
              </a:rPr>
              <a:t>Zonal, software-defined vehicles</a:t>
            </a:r>
            <a:endParaRPr lang="en-US" sz="1900" dirty="0"/>
          </a:p>
          <a:p>
            <a:pPr indent="0" marL="0">
              <a:buNone/>
            </a:pPr>
            <a:r>
              <a:rPr lang="en-US" sz="1600" dirty="0">
                <a:solidFill>
                  <a:schemeClr val="tx1"/>
                </a:solidFill>
                <a:latin typeface="Calibri" pitchFamily="34" charset="0"/>
                <a:ea typeface="Calibri" pitchFamily="34" charset="-122"/>
                <a:cs typeface="Calibri" pitchFamily="34" charset="-120"/>
              </a:rPr>
              <a:t>Ethernet backbone plus central computers; features added by OTA updates</a:t>
            </a:r>
            <a:endParaRPr lang="en-US" sz="1900" dirty="0"/>
          </a:p>
        </p:txBody>
      </p:sp>
      <p:sp>
        <p:nvSpPr>
          <p:cNvPr id="7" name="Shape 5"/>
          <p:cNvSpPr/>
          <p:nvPr/>
        </p:nvSpPr>
        <p:spPr>
          <a:xfrm>
            <a:off x="6172200" y="1645920"/>
            <a:ext cx="5440680" cy="1280160"/>
          </a:xfrm>
          <a:prstGeom prst="rect">
            <a:avLst/>
          </a:prstGeom>
          <a:solidFill>
            <a:schemeClr val="bg2"/>
          </a:solidFill>
          <a:ln w="12700">
            <a:solidFill>
              <a:schemeClr val="bg2"/>
            </a:solidFill>
            <a:prstDash val="solid"/>
          </a:ln>
        </p:spPr>
      </p:sp>
      <p:sp>
        <p:nvSpPr>
          <p:cNvPr id="8" name="Text 6"/>
          <p:cNvSpPr txBox="1"/>
          <p:nvPr/>
        </p:nvSpPr>
        <p:spPr>
          <a:xfrm>
            <a:off x="6400800" y="1645920"/>
            <a:ext cx="457200" cy="1280160"/>
          </a:xfrm>
          <a:prstGeom prst="rect">
            <a:avLst/>
          </a:prstGeom>
          <a:noFill/>
          <a:ln/>
        </p:spPr>
        <p:txBody>
          <a:bodyPr wrap="square" lIns="0" tIns="0" rIns="0" bIns="0" rtlCol="0" anchor="ctr"/>
          <a:lstStyle/>
          <a:p>
            <a:pPr indent="0" marL="0">
              <a:buNone/>
            </a:pPr>
            <a:r>
              <a:rPr lang="en-US" sz="2600" b="1" dirty="0">
                <a:solidFill>
                  <a:schemeClr val="accent1"/>
                </a:solidFill>
                <a:latin typeface="Calibri" pitchFamily="34" charset="0"/>
                <a:ea typeface="Calibri" pitchFamily="34" charset="-122"/>
                <a:cs typeface="Calibri" pitchFamily="34" charset="-120"/>
              </a:rPr>
              <a:t>2</a:t>
            </a:r>
            <a:endParaRPr lang="en-US" sz="2600" dirty="0"/>
          </a:p>
        </p:txBody>
      </p:sp>
      <p:sp>
        <p:nvSpPr>
          <p:cNvPr id="9" name="Text 7"/>
          <p:cNvSpPr txBox="1"/>
          <p:nvPr/>
        </p:nvSpPr>
        <p:spPr>
          <a:xfrm>
            <a:off x="6903720" y="1737360"/>
            <a:ext cx="4526280" cy="1097280"/>
          </a:xfrm>
          <a:prstGeom prst="rect">
            <a:avLst/>
          </a:prstGeom>
          <a:noFill/>
          <a:ln/>
        </p:spPr>
        <p:txBody>
          <a:bodyPr wrap="square" lIns="0" tIns="0" rIns="0" bIns="0" rtlCol="0" anchor="ctr"/>
          <a:lstStyle/>
          <a:p>
            <a:pPr indent="0" marL="0">
              <a:buNone/>
            </a:pPr>
            <a:r>
              <a:rPr lang="en-US" sz="1900" b="1" dirty="0">
                <a:solidFill>
                  <a:schemeClr val="tx2"/>
                </a:solidFill>
                <a:latin typeface="Calibri" pitchFamily="34" charset="0"/>
                <a:ea typeface="Calibri" pitchFamily="34" charset="-122"/>
                <a:cs typeface="Calibri" pitchFamily="34" charset="-120"/>
              </a:rPr>
              <a:t>10BASE-T1S at the edge</a:t>
            </a:r>
            <a:endParaRPr lang="en-US" sz="1900" dirty="0"/>
          </a:p>
          <a:p>
            <a:pPr indent="0" marL="0">
              <a:buNone/>
            </a:pPr>
            <a:r>
              <a:rPr lang="en-US" sz="1600" dirty="0">
                <a:solidFill>
                  <a:schemeClr val="tx1"/>
                </a:solidFill>
                <a:latin typeface="Calibri" pitchFamily="34" charset="0"/>
                <a:ea typeface="Calibri" pitchFamily="34" charset="-122"/>
                <a:cs typeface="Calibri" pitchFamily="34" charset="-120"/>
              </a:rPr>
              <a:t>Multidrop Ethernet for sensors and actuators; one protocol end to end</a:t>
            </a:r>
            <a:endParaRPr lang="en-US" sz="1900" dirty="0"/>
          </a:p>
        </p:txBody>
      </p:sp>
      <p:sp>
        <p:nvSpPr>
          <p:cNvPr id="10" name="Shape 8"/>
          <p:cNvSpPr/>
          <p:nvPr/>
        </p:nvSpPr>
        <p:spPr>
          <a:xfrm>
            <a:off x="548640" y="3063240"/>
            <a:ext cx="5440680" cy="1280160"/>
          </a:xfrm>
          <a:prstGeom prst="rect">
            <a:avLst/>
          </a:prstGeom>
          <a:solidFill>
            <a:schemeClr val="bg2"/>
          </a:solidFill>
          <a:ln w="12700">
            <a:solidFill>
              <a:schemeClr val="bg2"/>
            </a:solidFill>
            <a:prstDash val="solid"/>
          </a:ln>
        </p:spPr>
      </p:sp>
      <p:sp>
        <p:nvSpPr>
          <p:cNvPr id="11" name="Text 9"/>
          <p:cNvSpPr txBox="1"/>
          <p:nvPr/>
        </p:nvSpPr>
        <p:spPr>
          <a:xfrm>
            <a:off x="777240" y="3063240"/>
            <a:ext cx="457200" cy="1280160"/>
          </a:xfrm>
          <a:prstGeom prst="rect">
            <a:avLst/>
          </a:prstGeom>
          <a:noFill/>
          <a:ln/>
        </p:spPr>
        <p:txBody>
          <a:bodyPr wrap="square" lIns="0" tIns="0" rIns="0" bIns="0" rtlCol="0" anchor="ctr"/>
          <a:lstStyle/>
          <a:p>
            <a:pPr indent="0" marL="0">
              <a:buNone/>
            </a:pPr>
            <a:r>
              <a:rPr lang="en-US" sz="2600" b="1" dirty="0">
                <a:solidFill>
                  <a:schemeClr val="accent1"/>
                </a:solidFill>
                <a:latin typeface="Calibri" pitchFamily="34" charset="0"/>
                <a:ea typeface="Calibri" pitchFamily="34" charset="-122"/>
                <a:cs typeface="Calibri" pitchFamily="34" charset="-120"/>
              </a:rPr>
              <a:t>3</a:t>
            </a:r>
            <a:endParaRPr lang="en-US" sz="2600" dirty="0"/>
          </a:p>
        </p:txBody>
      </p:sp>
      <p:sp>
        <p:nvSpPr>
          <p:cNvPr id="12" name="Text 10"/>
          <p:cNvSpPr txBox="1"/>
          <p:nvPr/>
        </p:nvSpPr>
        <p:spPr>
          <a:xfrm>
            <a:off x="1280160" y="3154680"/>
            <a:ext cx="4526280" cy="1097280"/>
          </a:xfrm>
          <a:prstGeom prst="rect">
            <a:avLst/>
          </a:prstGeom>
          <a:noFill/>
          <a:ln/>
        </p:spPr>
        <p:txBody>
          <a:bodyPr wrap="square" lIns="0" tIns="0" rIns="0" bIns="0" rtlCol="0" anchor="ctr"/>
          <a:lstStyle/>
          <a:p>
            <a:pPr indent="0" marL="0">
              <a:buNone/>
            </a:pPr>
            <a:r>
              <a:rPr lang="en-US" sz="1900" b="1" dirty="0">
                <a:solidFill>
                  <a:schemeClr val="tx2"/>
                </a:solidFill>
                <a:latin typeface="Calibri" pitchFamily="34" charset="0"/>
                <a:ea typeface="Calibri" pitchFamily="34" charset="-122"/>
                <a:cs typeface="Calibri" pitchFamily="34" charset="-120"/>
              </a:rPr>
              <a:t>Multi-gig and 25 Gbit/s</a:t>
            </a:r>
            <a:endParaRPr lang="en-US" sz="1900" dirty="0"/>
          </a:p>
          <a:p>
            <a:pPr indent="0" marL="0">
              <a:buNone/>
            </a:pPr>
            <a:r>
              <a:rPr lang="en-US" sz="1600" dirty="0">
                <a:solidFill>
                  <a:schemeClr val="tx1"/>
                </a:solidFill>
                <a:latin typeface="Calibri" pitchFamily="34" charset="0"/>
                <a:ea typeface="Calibri" pitchFamily="34" charset="-122"/>
                <a:cs typeface="Calibri" pitchFamily="34" charset="-120"/>
              </a:rPr>
              <a:t>802.3ch and 802.3cy for high-resolution cameras and central compute</a:t>
            </a:r>
            <a:endParaRPr lang="en-US" sz="1900" dirty="0"/>
          </a:p>
        </p:txBody>
      </p:sp>
      <p:sp>
        <p:nvSpPr>
          <p:cNvPr id="13" name="Shape 11"/>
          <p:cNvSpPr/>
          <p:nvPr/>
        </p:nvSpPr>
        <p:spPr>
          <a:xfrm>
            <a:off x="6172200" y="3063240"/>
            <a:ext cx="5440680" cy="1280160"/>
          </a:xfrm>
          <a:prstGeom prst="rect">
            <a:avLst/>
          </a:prstGeom>
          <a:solidFill>
            <a:schemeClr val="bg2"/>
          </a:solidFill>
          <a:ln w="12700">
            <a:solidFill>
              <a:schemeClr val="bg2"/>
            </a:solidFill>
            <a:prstDash val="solid"/>
          </a:ln>
        </p:spPr>
      </p:sp>
      <p:sp>
        <p:nvSpPr>
          <p:cNvPr id="14" name="Text 12"/>
          <p:cNvSpPr txBox="1"/>
          <p:nvPr/>
        </p:nvSpPr>
        <p:spPr>
          <a:xfrm>
            <a:off x="6400800" y="3063240"/>
            <a:ext cx="457200" cy="1280160"/>
          </a:xfrm>
          <a:prstGeom prst="rect">
            <a:avLst/>
          </a:prstGeom>
          <a:noFill/>
          <a:ln/>
        </p:spPr>
        <p:txBody>
          <a:bodyPr wrap="square" lIns="0" tIns="0" rIns="0" bIns="0" rtlCol="0" anchor="ctr"/>
          <a:lstStyle/>
          <a:p>
            <a:pPr indent="0" marL="0">
              <a:buNone/>
            </a:pPr>
            <a:r>
              <a:rPr lang="en-US" sz="2600" b="1" dirty="0">
                <a:solidFill>
                  <a:schemeClr val="accent1"/>
                </a:solidFill>
                <a:latin typeface="Calibri" pitchFamily="34" charset="0"/>
                <a:ea typeface="Calibri" pitchFamily="34" charset="-122"/>
                <a:cs typeface="Calibri" pitchFamily="34" charset="-120"/>
              </a:rPr>
              <a:t>4</a:t>
            </a:r>
            <a:endParaRPr lang="en-US" sz="2600" dirty="0"/>
          </a:p>
        </p:txBody>
      </p:sp>
      <p:sp>
        <p:nvSpPr>
          <p:cNvPr id="15" name="Text 13"/>
          <p:cNvSpPr txBox="1"/>
          <p:nvPr/>
        </p:nvSpPr>
        <p:spPr>
          <a:xfrm>
            <a:off x="6903720" y="3154680"/>
            <a:ext cx="4526280" cy="1097280"/>
          </a:xfrm>
          <a:prstGeom prst="rect">
            <a:avLst/>
          </a:prstGeom>
          <a:noFill/>
          <a:ln/>
        </p:spPr>
        <p:txBody>
          <a:bodyPr wrap="square" lIns="0" tIns="0" rIns="0" bIns="0" rtlCol="0" anchor="ctr"/>
          <a:lstStyle/>
          <a:p>
            <a:pPr indent="0" marL="0">
              <a:buNone/>
            </a:pPr>
            <a:r>
              <a:rPr lang="en-US" sz="1900" b="1" dirty="0">
                <a:solidFill>
                  <a:schemeClr val="tx2"/>
                </a:solidFill>
                <a:latin typeface="Calibri" pitchFamily="34" charset="0"/>
                <a:ea typeface="Calibri" pitchFamily="34" charset="-122"/>
                <a:cs typeface="Calibri" pitchFamily="34" charset="-120"/>
              </a:rPr>
              <a:t>Optical automotive Ethernet</a:t>
            </a:r>
            <a:endParaRPr lang="en-US" sz="1900" dirty="0"/>
          </a:p>
          <a:p>
            <a:pPr indent="0" marL="0">
              <a:buNone/>
            </a:pPr>
            <a:r>
              <a:rPr lang="en-US" sz="1600" dirty="0">
                <a:solidFill>
                  <a:schemeClr val="tx1"/>
                </a:solidFill>
                <a:latin typeface="Calibri" pitchFamily="34" charset="0"/>
                <a:ea typeface="Calibri" pitchFamily="34" charset="-122"/>
                <a:cs typeface="Calibri" pitchFamily="34" charset="-120"/>
              </a:rPr>
              <a:t>IEEE 802.3dh: multi-gigabit over optical fibre, immune to EMI</a:t>
            </a:r>
            <a:endParaRPr lang="en-US" sz="1900" dirty="0"/>
          </a:p>
        </p:txBody>
      </p:sp>
      <p:sp>
        <p:nvSpPr>
          <p:cNvPr id="16" name="Shape 14"/>
          <p:cNvSpPr/>
          <p:nvPr/>
        </p:nvSpPr>
        <p:spPr>
          <a:xfrm>
            <a:off x="548640" y="4480560"/>
            <a:ext cx="5440680" cy="1280160"/>
          </a:xfrm>
          <a:prstGeom prst="rect">
            <a:avLst/>
          </a:prstGeom>
          <a:solidFill>
            <a:schemeClr val="bg2"/>
          </a:solidFill>
          <a:ln w="12700">
            <a:solidFill>
              <a:schemeClr val="bg2"/>
            </a:solidFill>
            <a:prstDash val="solid"/>
          </a:ln>
        </p:spPr>
      </p:sp>
      <p:sp>
        <p:nvSpPr>
          <p:cNvPr id="17" name="Text 15"/>
          <p:cNvSpPr txBox="1"/>
          <p:nvPr/>
        </p:nvSpPr>
        <p:spPr>
          <a:xfrm>
            <a:off x="777240" y="4480560"/>
            <a:ext cx="457200" cy="1280160"/>
          </a:xfrm>
          <a:prstGeom prst="rect">
            <a:avLst/>
          </a:prstGeom>
          <a:noFill/>
          <a:ln/>
        </p:spPr>
        <p:txBody>
          <a:bodyPr wrap="square" lIns="0" tIns="0" rIns="0" bIns="0" rtlCol="0" anchor="ctr"/>
          <a:lstStyle/>
          <a:p>
            <a:pPr indent="0" marL="0">
              <a:buNone/>
            </a:pPr>
            <a:r>
              <a:rPr lang="en-US" sz="2600" b="1" dirty="0">
                <a:solidFill>
                  <a:schemeClr val="accent1"/>
                </a:solidFill>
                <a:latin typeface="Calibri" pitchFamily="34" charset="0"/>
                <a:ea typeface="Calibri" pitchFamily="34" charset="-122"/>
                <a:cs typeface="Calibri" pitchFamily="34" charset="-120"/>
              </a:rPr>
              <a:t>5</a:t>
            </a:r>
            <a:endParaRPr lang="en-US" sz="2600" dirty="0"/>
          </a:p>
        </p:txBody>
      </p:sp>
      <p:sp>
        <p:nvSpPr>
          <p:cNvPr id="18" name="Text 16"/>
          <p:cNvSpPr txBox="1"/>
          <p:nvPr/>
        </p:nvSpPr>
        <p:spPr>
          <a:xfrm>
            <a:off x="1280160" y="4572000"/>
            <a:ext cx="4526280" cy="1097280"/>
          </a:xfrm>
          <a:prstGeom prst="rect">
            <a:avLst/>
          </a:prstGeom>
          <a:noFill/>
          <a:ln/>
        </p:spPr>
        <p:txBody>
          <a:bodyPr wrap="square" lIns="0" tIns="0" rIns="0" bIns="0" rtlCol="0" anchor="ctr"/>
          <a:lstStyle/>
          <a:p>
            <a:pPr indent="0" marL="0">
              <a:buNone/>
            </a:pPr>
            <a:r>
              <a:rPr lang="en-US" sz="1900" b="1" dirty="0">
                <a:solidFill>
                  <a:schemeClr val="tx2"/>
                </a:solidFill>
                <a:latin typeface="Calibri" pitchFamily="34" charset="0"/>
                <a:ea typeface="Calibri" pitchFamily="34" charset="-122"/>
                <a:cs typeface="Calibri" pitchFamily="34" charset="-120"/>
              </a:rPr>
              <a:t>In-vehicle security</a:t>
            </a:r>
            <a:endParaRPr lang="en-US" sz="1900" dirty="0"/>
          </a:p>
          <a:p>
            <a:pPr indent="0" marL="0">
              <a:buNone/>
            </a:pPr>
            <a:r>
              <a:rPr lang="en-US" sz="1600" dirty="0">
                <a:solidFill>
                  <a:schemeClr val="tx1"/>
                </a:solidFill>
                <a:latin typeface="Calibri" pitchFamily="34" charset="0"/>
                <a:ea typeface="Calibri" pitchFamily="34" charset="-122"/>
                <a:cs typeface="Calibri" pitchFamily="34" charset="-120"/>
              </a:rPr>
              <a:t>MACsec (802.1AE) encrypts and authenticates frames on every link</a:t>
            </a:r>
            <a:endParaRPr lang="en-US" sz="1900" dirty="0"/>
          </a:p>
        </p:txBody>
      </p:sp>
      <p:sp>
        <p:nvSpPr>
          <p:cNvPr id="19" name="Shape 17"/>
          <p:cNvSpPr/>
          <p:nvPr/>
        </p:nvSpPr>
        <p:spPr>
          <a:xfrm>
            <a:off x="6172200" y="4480560"/>
            <a:ext cx="5440680" cy="1280160"/>
          </a:xfrm>
          <a:prstGeom prst="rect">
            <a:avLst/>
          </a:prstGeom>
          <a:solidFill>
            <a:schemeClr val="bg2"/>
          </a:solidFill>
          <a:ln w="12700">
            <a:solidFill>
              <a:schemeClr val="bg2"/>
            </a:solidFill>
            <a:prstDash val="solid"/>
          </a:ln>
        </p:spPr>
      </p:sp>
      <p:sp>
        <p:nvSpPr>
          <p:cNvPr id="20" name="Text 18"/>
          <p:cNvSpPr txBox="1"/>
          <p:nvPr/>
        </p:nvSpPr>
        <p:spPr>
          <a:xfrm>
            <a:off x="6400800" y="4480560"/>
            <a:ext cx="457200" cy="1280160"/>
          </a:xfrm>
          <a:prstGeom prst="rect">
            <a:avLst/>
          </a:prstGeom>
          <a:noFill/>
          <a:ln/>
        </p:spPr>
        <p:txBody>
          <a:bodyPr wrap="square" lIns="0" tIns="0" rIns="0" bIns="0" rtlCol="0" anchor="ctr"/>
          <a:lstStyle/>
          <a:p>
            <a:pPr indent="0" marL="0">
              <a:buNone/>
            </a:pPr>
            <a:r>
              <a:rPr lang="en-US" sz="2600" b="1" dirty="0">
                <a:solidFill>
                  <a:schemeClr val="accent1"/>
                </a:solidFill>
                <a:latin typeface="Calibri" pitchFamily="34" charset="0"/>
                <a:ea typeface="Calibri" pitchFamily="34" charset="-122"/>
                <a:cs typeface="Calibri" pitchFamily="34" charset="-120"/>
              </a:rPr>
              <a:t>6</a:t>
            </a:r>
            <a:endParaRPr lang="en-US" sz="2600" dirty="0"/>
          </a:p>
        </p:txBody>
      </p:sp>
      <p:sp>
        <p:nvSpPr>
          <p:cNvPr id="21" name="Text 19"/>
          <p:cNvSpPr txBox="1"/>
          <p:nvPr/>
        </p:nvSpPr>
        <p:spPr>
          <a:xfrm>
            <a:off x="6903720" y="4572000"/>
            <a:ext cx="4526280" cy="1097280"/>
          </a:xfrm>
          <a:prstGeom prst="rect">
            <a:avLst/>
          </a:prstGeom>
          <a:noFill/>
          <a:ln/>
        </p:spPr>
        <p:txBody>
          <a:bodyPr wrap="square" lIns="0" tIns="0" rIns="0" bIns="0" rtlCol="0" anchor="ctr"/>
          <a:lstStyle/>
          <a:p>
            <a:pPr indent="0" marL="0">
              <a:buNone/>
            </a:pPr>
            <a:r>
              <a:rPr lang="en-US" sz="1900" b="1" dirty="0">
                <a:solidFill>
                  <a:schemeClr val="tx2"/>
                </a:solidFill>
                <a:latin typeface="Calibri" pitchFamily="34" charset="0"/>
                <a:ea typeface="Calibri" pitchFamily="34" charset="-122"/>
                <a:cs typeface="Calibri" pitchFamily="34" charset="-120"/>
              </a:rPr>
              <a:t>Power and data on one pair</a:t>
            </a:r>
            <a:endParaRPr lang="en-US" sz="1900" dirty="0"/>
          </a:p>
          <a:p>
            <a:pPr indent="0" marL="0">
              <a:buNone/>
            </a:pPr>
            <a:r>
              <a:rPr lang="en-US" sz="1600" dirty="0">
                <a:solidFill>
                  <a:schemeClr val="tx1"/>
                </a:solidFill>
                <a:latin typeface="Calibri" pitchFamily="34" charset="0"/>
                <a:ea typeface="Calibri" pitchFamily="34" charset="-122"/>
                <a:cs typeface="Calibri" pitchFamily="34" charset="-120"/>
              </a:rPr>
              <a:t>PoDL (802.3bu) powers cameras over the data cable; TC10 sleep/wake</a:t>
            </a:r>
            <a:endParaRPr lang="en-US" sz="1900" dirty="0"/>
          </a:p>
        </p:txBody>
      </p:sp>
      <p:sp>
        <p:nvSpPr>
          <p:cNvPr id="22" name="Text 20"/>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200" dirty="0">
                <a:solidFill>
                  <a:schemeClr val="accent4"/>
                </a:solidFill>
                <a:latin typeface="Calibri" pitchFamily="34" charset="0"/>
                <a:ea typeface="Calibri" pitchFamily="34" charset="-122"/>
                <a:cs typeface="Calibri" pitchFamily="34" charset="-120"/>
              </a:rPr>
              <a:t>IEEE Std 802.3cg-2019, 802.3ch-2020, 802.3cy-2023, 802.3dh, 802.3bu-2016; IEEE 802.1AE; OPEN Alliance TC10.</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731520" y="548640"/>
            <a:ext cx="7315200" cy="365760"/>
          </a:xfrm>
          <a:prstGeom prst="rect">
            <a:avLst/>
          </a:prstGeom>
          <a:noFill/>
          <a:ln/>
        </p:spPr>
        <p:txBody>
          <a:bodyPr wrap="square" lIns="0" tIns="0" rIns="0" bIns="0" rtlCol="0" anchor="ctr"/>
          <a:lstStyle/>
          <a:p>
            <a:pPr indent="0" marL="0">
              <a:buNone/>
            </a:pPr>
            <a:r>
              <a:rPr lang="en-US" sz="1600" b="1" spc="200" kern="0" dirty="0">
                <a:solidFill>
                  <a:srgbClr val="9DC3E6"/>
                </a:solidFill>
                <a:latin typeface="Calibri" pitchFamily="34" charset="0"/>
                <a:ea typeface="Calibri" pitchFamily="34" charset="-122"/>
                <a:cs typeface="Calibri" pitchFamily="34" charset="-120"/>
              </a:rPr>
              <a:t>CONCLUSIONS</a:t>
            </a:r>
            <a:endParaRPr lang="en-US" sz="1600" dirty="0"/>
          </a:p>
        </p:txBody>
      </p:sp>
      <p:sp>
        <p:nvSpPr>
          <p:cNvPr id="3" name="Text 1"/>
          <p:cNvSpPr txBox="1"/>
          <p:nvPr/>
        </p:nvSpPr>
        <p:spPr>
          <a:xfrm>
            <a:off x="731520" y="960120"/>
            <a:ext cx="10698480" cy="100584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Automotive Ethernet answers the car’s data problem with one standard family and one pair of wires</a:t>
            </a:r>
            <a:endParaRPr lang="en-US" sz="3000" dirty="0"/>
          </a:p>
        </p:txBody>
      </p:sp>
      <p:sp>
        <p:nvSpPr>
          <p:cNvPr id="4" name="Text 2"/>
          <p:cNvSpPr txBox="1"/>
          <p:nvPr/>
        </p:nvSpPr>
        <p:spPr>
          <a:xfrm>
            <a:off x="731520" y="2331720"/>
            <a:ext cx="10698480" cy="2743200"/>
          </a:xfrm>
          <a:prstGeom prst="rect">
            <a:avLst/>
          </a:prstGeom>
          <a:noFill/>
          <a:ln/>
        </p:spPr>
        <p:txBody>
          <a:bodyPr wrap="square" lIns="0" tIns="0" rIns="0" bIns="0" rtlCol="0" anchor="t"/>
          <a:lstStyle/>
          <a:p>
            <a:pPr marL="228600" indent="-228600">
              <a:spcAft>
                <a:spcPts val="1400"/>
              </a:spcAft>
              <a:buSzPct val="100000"/>
              <a:buChar char="•"/>
            </a:pPr>
            <a:r>
              <a:rPr lang="en-US" sz="2100" b="1" dirty="0">
                <a:solidFill>
                  <a:srgbClr val="9DC3E6"/>
                </a:solidFill>
                <a:latin typeface="Calibri" pitchFamily="34" charset="0"/>
                <a:ea typeface="Calibri" pitchFamily="34" charset="-122"/>
                <a:cs typeface="Calibri" pitchFamily="34" charset="-120"/>
              </a:rPr>
              <a:t>Bandwidth: </a:t>
            </a:r>
            <a:pPr indent="0" marL="0">
              <a:spcAft>
                <a:spcPts val="1400"/>
              </a:spcAft>
              <a:buNone/>
            </a:pPr>
            <a:r>
              <a:rPr lang="en-US" sz="2100" dirty="0">
                <a:solidFill>
                  <a:srgbClr val="FFFFFF"/>
                </a:solidFill>
                <a:latin typeface="Calibri" pitchFamily="34" charset="0"/>
                <a:ea typeface="Calibri" pitchFamily="34" charset="-122"/>
                <a:cs typeface="Calibri" pitchFamily="34" charset="-120"/>
              </a:rPr>
              <a:t>PAM signalling and echo cancellation deliver 10 Mbit/s – 25 Gbit/s over one pair</a:t>
            </a:r>
            <a:endParaRPr lang="en-US" sz="2100" dirty="0"/>
          </a:p>
          <a:p>
            <a:pPr marL="228600" indent="-228600">
              <a:spcAft>
                <a:spcPts val="1400"/>
              </a:spcAft>
              <a:buSzPct val="100000"/>
              <a:buChar char="•"/>
            </a:pPr>
            <a:r>
              <a:rPr lang="en-US" sz="2100" b="1" dirty="0">
                <a:solidFill>
                  <a:srgbClr val="9DC3E6"/>
                </a:solidFill>
                <a:latin typeface="Calibri" pitchFamily="34" charset="0"/>
                <a:ea typeface="Calibri" pitchFamily="34" charset="-122"/>
                <a:cs typeface="Calibri" pitchFamily="34" charset="-120"/>
              </a:rPr>
              <a:t>Real time: </a:t>
            </a:r>
            <a:pPr indent="0" marL="0">
              <a:spcAft>
                <a:spcPts val="1400"/>
              </a:spcAft>
              <a:buNone/>
            </a:pPr>
            <a:r>
              <a:rPr lang="en-US" sz="2100" dirty="0">
                <a:solidFill>
                  <a:srgbClr val="FFFFFF"/>
                </a:solidFill>
                <a:latin typeface="Calibri" pitchFamily="34" charset="0"/>
                <a:ea typeface="Calibri" pitchFamily="34" charset="-122"/>
                <a:cs typeface="Calibri" pitchFamily="34" charset="-120"/>
              </a:rPr>
              <a:t>TSN adds guaranteed timing; MACsec and firewalls add security</a:t>
            </a:r>
            <a:endParaRPr lang="en-US" sz="2100" dirty="0"/>
          </a:p>
          <a:p>
            <a:pPr marL="228600" indent="-228600">
              <a:spcAft>
                <a:spcPts val="1400"/>
              </a:spcAft>
              <a:buSzPct val="100000"/>
              <a:buChar char="•"/>
            </a:pPr>
            <a:r>
              <a:rPr lang="en-US" sz="2100" b="1" dirty="0">
                <a:solidFill>
                  <a:srgbClr val="9DC3E6"/>
                </a:solidFill>
                <a:latin typeface="Calibri" pitchFamily="34" charset="0"/>
                <a:ea typeface="Calibri" pitchFamily="34" charset="-122"/>
                <a:cs typeface="Calibri" pitchFamily="34" charset="-120"/>
              </a:rPr>
              <a:t>Architecture: </a:t>
            </a:r>
            <a:pPr indent="0" marL="0">
              <a:spcAft>
                <a:spcPts val="1400"/>
              </a:spcAft>
              <a:buNone/>
            </a:pPr>
            <a:r>
              <a:rPr lang="en-US" sz="2100" dirty="0">
                <a:solidFill>
                  <a:srgbClr val="FFFFFF"/>
                </a:solidFill>
                <a:latin typeface="Calibri" pitchFamily="34" charset="0"/>
                <a:ea typeface="Calibri" pitchFamily="34" charset="-122"/>
                <a:cs typeface="Calibri" pitchFamily="34" charset="-120"/>
              </a:rPr>
              <a:t>an Ethernet backbone enables zonal, software-defined vehicles</a:t>
            </a:r>
            <a:endParaRPr lang="en-US" sz="2100" dirty="0"/>
          </a:p>
          <a:p>
            <a:pPr marL="228600" indent="-228600">
              <a:spcAft>
                <a:spcPts val="1400"/>
              </a:spcAft>
              <a:buSzPct val="100000"/>
              <a:buChar char="•"/>
            </a:pPr>
            <a:r>
              <a:rPr lang="en-US" sz="2100" b="1" dirty="0">
                <a:solidFill>
                  <a:srgbClr val="9DC3E6"/>
                </a:solidFill>
                <a:latin typeface="Calibri" pitchFamily="34" charset="0"/>
                <a:ea typeface="Calibri" pitchFamily="34" charset="-122"/>
                <a:cs typeface="Calibri" pitchFamily="34" charset="-120"/>
              </a:rPr>
              <a:t>Balance: </a:t>
            </a:r>
            <a:pPr indent="0" marL="0">
              <a:spcAft>
                <a:spcPts val="1400"/>
              </a:spcAft>
              <a:buNone/>
            </a:pPr>
            <a:r>
              <a:rPr lang="en-US" sz="2100" dirty="0">
                <a:solidFill>
                  <a:srgbClr val="FFFFFF"/>
                </a:solidFill>
                <a:latin typeface="Calibri" pitchFamily="34" charset="0"/>
                <a:ea typeface="Calibri" pitchFamily="34" charset="-122"/>
                <a:cs typeface="Calibri" pitchFamily="34" charset="-120"/>
              </a:rPr>
              <a:t>CAN and LIN remain for low-cost nodes; 10BASE-T1S is starting to reach them</a:t>
            </a:r>
            <a:endParaRPr lang="en-US" sz="2100" dirty="0"/>
          </a:p>
        </p:txBody>
      </p:sp>
      <p:sp>
        <p:nvSpPr>
          <p:cNvPr id="5" name="Shape 3"/>
          <p:cNvSpPr/>
          <p:nvPr/>
        </p:nvSpPr>
        <p:spPr>
          <a:xfrm>
            <a:off x="731520" y="5394960"/>
            <a:ext cx="1463040" cy="45720"/>
          </a:xfrm>
          <a:prstGeom prst="rect">
            <a:avLst/>
          </a:prstGeom>
          <a:solidFill>
            <a:schemeClr val="accent1"/>
          </a:solidFill>
          <a:ln w="12700">
            <a:solidFill>
              <a:schemeClr val="accent1"/>
            </a:solidFill>
            <a:prstDash val="solid"/>
          </a:ln>
        </p:spPr>
      </p:sp>
      <p:sp>
        <p:nvSpPr>
          <p:cNvPr id="6" name="Text 4"/>
          <p:cNvSpPr txBox="1"/>
          <p:nvPr/>
        </p:nvSpPr>
        <p:spPr>
          <a:xfrm>
            <a:off x="731520" y="5532120"/>
            <a:ext cx="10698480" cy="411480"/>
          </a:xfrm>
          <a:prstGeom prst="rect">
            <a:avLst/>
          </a:prstGeom>
          <a:noFill/>
          <a:ln/>
        </p:spPr>
        <p:txBody>
          <a:bodyPr wrap="square" lIns="0" tIns="0" rIns="0" bIns="0" rtlCol="0" anchor="ctr"/>
          <a:lstStyle/>
          <a:p>
            <a:pPr indent="0" marL="0">
              <a:buNone/>
            </a:pPr>
            <a:r>
              <a:rPr lang="en-US" sz="1800" dirty="0">
                <a:solidFill>
                  <a:srgbClr val="DCE8F5"/>
                </a:solidFill>
                <a:latin typeface="Calibri" pitchFamily="34" charset="0"/>
                <a:ea typeface="Calibri" pitchFamily="34" charset="-122"/>
                <a:cs typeface="Calibri" pitchFamily="34" charset="-120"/>
              </a:rPr>
              <a:t>Questions and feedback welcome  ·  Sharath Poojari  ·  [email address]</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8229600" cy="274320"/>
          </a:xfrm>
          <a:prstGeom prst="rect">
            <a:avLst/>
          </a:prstGeom>
          <a:noFill/>
          <a:ln/>
        </p:spPr>
        <p:txBody>
          <a:bodyPr wrap="square" lIns="0" tIns="0" rIns="0" bIns="0" rtlCol="0"/>
          <a:lstStyle/>
          <a:p>
            <a:pPr indent="0" marL="0">
              <a:buNone/>
            </a:pPr>
            <a:r>
              <a:rPr lang="en-US" sz="1200" b="1" spc="100" kern="0" dirty="0">
                <a:solidFill>
                  <a:schemeClr val="accent1"/>
                </a:solidFill>
              </a:rPr>
              <a:t>REFERENCES</a:t>
            </a:r>
            <a:endParaRPr lang="en-US" sz="1200" dirty="0"/>
          </a:p>
        </p:txBody>
      </p:sp>
      <p:sp>
        <p:nvSpPr>
          <p:cNvPr id="3" name="Text 0"/>
          <p:cNvSpPr/>
          <p:nvPr>
            <p:ph idx="101" type="title" hasCustomPrompt="1"/>
          </p:nvPr>
        </p:nvSpPr>
        <p:spPr>
          <a:xfrm>
            <a:off x="548640" y="502920"/>
            <a:ext cx="11064240" cy="868680"/>
          </a:xfrm>
          <a:prstGeom prst="rect">
            <a:avLst/>
          </a:prstGeom>
          <a:noFill/>
          <a:ln/>
        </p:spPr>
        <p:txBody>
          <a:bodyPr wrap="square" lIns="0" tIns="0" rIns="0" bIns="0" rtlCol="0" anchor="t"/>
          <a:lstStyle/>
          <a:p>
            <a:pPr indent="0" marL="0">
              <a:buNone/>
            </a:pPr>
            <a:r>
              <a:rPr lang="en-US" sz="2800" b="1" dirty="0">
                <a:solidFill>
                  <a:schemeClr val="tx2"/>
                </a:solidFill>
              </a:rPr>
              <a:t>References</a:t>
            </a:r>
            <a:endParaRPr lang="en-US" sz="2800" dirty="0"/>
          </a:p>
        </p:txBody>
      </p:sp>
      <p:sp>
        <p:nvSpPr>
          <p:cNvPr id="4" name="Text 2"/>
          <p:cNvSpPr txBox="1"/>
          <p:nvPr/>
        </p:nvSpPr>
        <p:spPr>
          <a:xfrm>
            <a:off x="548640" y="1508760"/>
            <a:ext cx="11064240" cy="457200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600" dirty="0">
                <a:solidFill>
                  <a:schemeClr val="tx1"/>
                </a:solidFill>
                <a:latin typeface="Calibri" pitchFamily="34" charset="0"/>
                <a:ea typeface="Calibri" pitchFamily="34" charset="-122"/>
                <a:cs typeface="Calibri" pitchFamily="34" charset="-120"/>
              </a:rPr>
              <a:t>Matheus, K., &amp; Königseder, T. (2021). Automotive Ethernet (3rd ed.). Cambridge University Press.</a:t>
            </a:r>
            <a:endParaRPr lang="en-US" sz="1600" dirty="0"/>
          </a:p>
          <a:p>
            <a:pPr marL="342900" indent="-342900">
              <a:spcAft>
                <a:spcPts val="800"/>
              </a:spcAft>
              <a:buSzPct val="100000"/>
              <a:buFont typeface="+mj-lt"/>
              <a:buAutoNum type="arabicPeriod" startAt="1"/>
            </a:pPr>
            <a:r>
              <a:rPr lang="en-US" sz="1600" dirty="0">
                <a:solidFill>
                  <a:schemeClr val="tx1"/>
                </a:solidFill>
                <a:latin typeface="Calibri" pitchFamily="34" charset="0"/>
                <a:ea typeface="Calibri" pitchFamily="34" charset="-122"/>
                <a:cs typeface="Calibri" pitchFamily="34" charset="-120"/>
              </a:rPr>
              <a:t>IEEE Std 802.3bw-2015 — 100BASE-T1: 100 Mb/s operation over a single balanced twisted pair.</a:t>
            </a:r>
            <a:endParaRPr lang="en-US" sz="1600" dirty="0"/>
          </a:p>
          <a:p>
            <a:pPr marL="342900" indent="-342900">
              <a:spcAft>
                <a:spcPts val="800"/>
              </a:spcAft>
              <a:buSzPct val="100000"/>
              <a:buFont typeface="+mj-lt"/>
              <a:buAutoNum type="arabicPeriod" startAt="1"/>
            </a:pPr>
            <a:r>
              <a:rPr lang="en-US" sz="1600" dirty="0">
                <a:solidFill>
                  <a:schemeClr val="tx1"/>
                </a:solidFill>
                <a:latin typeface="Calibri" pitchFamily="34" charset="0"/>
                <a:ea typeface="Calibri" pitchFamily="34" charset="-122"/>
                <a:cs typeface="Calibri" pitchFamily="34" charset="-120"/>
              </a:rPr>
              <a:t>IEEE Std 802.3bp-2016 — 1000BASE-T1: 1 Gb/s operation over a single twisted-pair copper cable.</a:t>
            </a:r>
            <a:endParaRPr lang="en-US" sz="1600" dirty="0"/>
          </a:p>
          <a:p>
            <a:pPr marL="342900" indent="-342900">
              <a:spcAft>
                <a:spcPts val="800"/>
              </a:spcAft>
              <a:buSzPct val="100000"/>
              <a:buFont typeface="+mj-lt"/>
              <a:buAutoNum type="arabicPeriod" startAt="1"/>
            </a:pPr>
            <a:r>
              <a:rPr lang="en-US" sz="1600" dirty="0">
                <a:solidFill>
                  <a:schemeClr val="tx1"/>
                </a:solidFill>
                <a:latin typeface="Calibri" pitchFamily="34" charset="0"/>
                <a:ea typeface="Calibri" pitchFamily="34" charset="-122"/>
                <a:cs typeface="Calibri" pitchFamily="34" charset="-120"/>
              </a:rPr>
              <a:t>IEEE Std 802.3cg-2019 — 10 Mb/s single-pair Ethernet (10BASE-T1S / 10BASE-T1L).</a:t>
            </a:r>
            <a:endParaRPr lang="en-US" sz="1600" dirty="0"/>
          </a:p>
          <a:p>
            <a:pPr marL="342900" indent="-342900">
              <a:spcAft>
                <a:spcPts val="800"/>
              </a:spcAft>
              <a:buSzPct val="100000"/>
              <a:buFont typeface="+mj-lt"/>
              <a:buAutoNum type="arabicPeriod" startAt="1"/>
            </a:pPr>
            <a:r>
              <a:rPr lang="en-US" sz="1600" dirty="0">
                <a:solidFill>
                  <a:schemeClr val="tx1"/>
                </a:solidFill>
                <a:latin typeface="Calibri" pitchFamily="34" charset="0"/>
                <a:ea typeface="Calibri" pitchFamily="34" charset="-122"/>
                <a:cs typeface="Calibri" pitchFamily="34" charset="-120"/>
              </a:rPr>
              <a:t>IEEE Std 802.3ch-2020 — 2.5/5/10GBASE-T1 multi-gigabit automotive Ethernet.</a:t>
            </a:r>
            <a:endParaRPr lang="en-US" sz="1600" dirty="0"/>
          </a:p>
          <a:p>
            <a:pPr marL="342900" indent="-342900">
              <a:spcAft>
                <a:spcPts val="800"/>
              </a:spcAft>
              <a:buSzPct val="100000"/>
              <a:buFont typeface="+mj-lt"/>
              <a:buAutoNum type="arabicPeriod" startAt="1"/>
            </a:pPr>
            <a:r>
              <a:rPr lang="en-US" sz="1600" dirty="0">
                <a:solidFill>
                  <a:schemeClr val="tx1"/>
                </a:solidFill>
                <a:latin typeface="Calibri" pitchFamily="34" charset="0"/>
                <a:ea typeface="Calibri" pitchFamily="34" charset="-122"/>
                <a:cs typeface="Calibri" pitchFamily="34" charset="-120"/>
              </a:rPr>
              <a:t>IEEE Std 802.3cy-2023 — 25GBASE-T1. IEEE Std 802.3bu-2016 — Power over Data Lines (PoDL).</a:t>
            </a:r>
            <a:endParaRPr lang="en-US" sz="1600" dirty="0"/>
          </a:p>
          <a:p>
            <a:pPr marL="342900" indent="-342900">
              <a:spcAft>
                <a:spcPts val="800"/>
              </a:spcAft>
              <a:buSzPct val="100000"/>
              <a:buFont typeface="+mj-lt"/>
              <a:buAutoNum type="arabicPeriod" startAt="1"/>
            </a:pPr>
            <a:r>
              <a:rPr lang="en-US" sz="1600" dirty="0">
                <a:solidFill>
                  <a:schemeClr val="tx1"/>
                </a:solidFill>
                <a:latin typeface="Calibri" pitchFamily="34" charset="0"/>
                <a:ea typeface="Calibri" pitchFamily="34" charset="-122"/>
                <a:cs typeface="Calibri" pitchFamily="34" charset="-120"/>
              </a:rPr>
              <a:t>IEEE Std 802.1AS (gPTP), 802.1Q (Qav, Qbv, Qbu, Qci), 802.1CB, 802.1AE (MACsec).</a:t>
            </a:r>
            <a:endParaRPr lang="en-US" sz="1600" dirty="0"/>
          </a:p>
          <a:p>
            <a:pPr marL="342900" indent="-342900">
              <a:spcAft>
                <a:spcPts val="800"/>
              </a:spcAft>
              <a:buSzPct val="100000"/>
              <a:buFont typeface="+mj-lt"/>
              <a:buAutoNum type="arabicPeriod" startAt="1"/>
            </a:pPr>
            <a:r>
              <a:rPr lang="en-US" sz="1600" dirty="0">
                <a:solidFill>
                  <a:schemeClr val="tx1"/>
                </a:solidFill>
                <a:latin typeface="Calibri" pitchFamily="34" charset="0"/>
                <a:ea typeface="Calibri" pitchFamily="34" charset="-122"/>
                <a:cs typeface="Calibri" pitchFamily="34" charset="-120"/>
              </a:rPr>
              <a:t>ISO 13400 (Diagnostics over IP); ISO 11898 (CAN); ISO 17987 (LIN); ISO 17458 (FlexRay); ISO/SAE 21434.</a:t>
            </a:r>
            <a:endParaRPr lang="en-US" sz="1600" dirty="0"/>
          </a:p>
          <a:p>
            <a:pPr marL="342900" indent="-342900">
              <a:spcAft>
                <a:spcPts val="800"/>
              </a:spcAft>
              <a:buSzPct val="100000"/>
              <a:buFont typeface="+mj-lt"/>
              <a:buAutoNum type="arabicPeriod" startAt="1"/>
            </a:pPr>
            <a:r>
              <a:rPr lang="en-US" sz="1600" dirty="0">
                <a:solidFill>
                  <a:schemeClr val="tx1"/>
                </a:solidFill>
                <a:latin typeface="Calibri" pitchFamily="34" charset="0"/>
                <a:ea typeface="Calibri" pitchFamily="34" charset="-122"/>
                <a:cs typeface="Calibri" pitchFamily="34" charset="-120"/>
              </a:rPr>
              <a:t>OPEN Alliance SIG — technical specifications incl. TC10 sleep/wake-up. https://opensig.org</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8229600" cy="274320"/>
          </a:xfrm>
          <a:prstGeom prst="rect">
            <a:avLst/>
          </a:prstGeom>
          <a:noFill/>
          <a:ln/>
        </p:spPr>
        <p:txBody>
          <a:bodyPr wrap="square" lIns="0" tIns="0" rIns="0" bIns="0" rtlCol="0"/>
          <a:lstStyle/>
          <a:p>
            <a:pPr indent="0" marL="0">
              <a:buNone/>
            </a:pPr>
            <a:r>
              <a:rPr lang="en-US" sz="1200" b="1" spc="100" kern="0" dirty="0">
                <a:solidFill>
                  <a:schemeClr val="accent1"/>
                </a:solidFill>
              </a:rPr>
              <a:t>APPENDIX A · ANTICIPATED QUESTIONS</a:t>
            </a:r>
            <a:endParaRPr lang="en-US" sz="1200" dirty="0"/>
          </a:p>
        </p:txBody>
      </p:sp>
      <p:sp>
        <p:nvSpPr>
          <p:cNvPr id="3" name="Text 0"/>
          <p:cNvSpPr/>
          <p:nvPr>
            <p:ph idx="101" type="title" hasCustomPrompt="1"/>
          </p:nvPr>
        </p:nvSpPr>
        <p:spPr>
          <a:xfrm>
            <a:off x="548640" y="502920"/>
            <a:ext cx="11064240" cy="868680"/>
          </a:xfrm>
          <a:prstGeom prst="rect">
            <a:avLst/>
          </a:prstGeom>
          <a:noFill/>
          <a:ln/>
        </p:spPr>
        <p:txBody>
          <a:bodyPr wrap="square" lIns="0" tIns="0" rIns="0" bIns="0" rtlCol="0" anchor="t"/>
          <a:lstStyle/>
          <a:p>
            <a:pPr indent="0" marL="0">
              <a:buNone/>
            </a:pPr>
            <a:r>
              <a:rPr lang="en-US" sz="2800" b="1" dirty="0">
                <a:solidFill>
                  <a:schemeClr val="tx2"/>
                </a:solidFill>
              </a:rPr>
              <a:t>Appendix A: prepared answers to likely questions</a:t>
            </a:r>
            <a:endParaRPr lang="en-US" sz="2800" dirty="0"/>
          </a:p>
        </p:txBody>
      </p:sp>
      <p:sp>
        <p:nvSpPr>
          <p:cNvPr id="4" name="Text 2"/>
          <p:cNvSpPr txBox="1"/>
          <p:nvPr/>
        </p:nvSpPr>
        <p:spPr>
          <a:xfrm>
            <a:off x="548640" y="1600200"/>
            <a:ext cx="11064240" cy="384048"/>
          </a:xfrm>
          <a:prstGeom prst="rect">
            <a:avLst/>
          </a:prstGeom>
          <a:noFill/>
          <a:ln/>
        </p:spPr>
        <p:txBody>
          <a:bodyPr wrap="square" lIns="0" tIns="0" rIns="0" bIns="0" rtlCol="0" anchor="ctr"/>
          <a:lstStyle/>
          <a:p>
            <a:pPr indent="0" marL="0">
              <a:buNone/>
            </a:pPr>
            <a:r>
              <a:rPr lang="en-US" sz="1900" b="1" dirty="0">
                <a:solidFill>
                  <a:schemeClr val="tx2"/>
                </a:solidFill>
                <a:latin typeface="Calibri" pitchFamily="34" charset="0"/>
                <a:ea typeface="Calibri" pitchFamily="34" charset="-122"/>
                <a:cs typeface="Calibri" pitchFamily="34" charset="-120"/>
              </a:rPr>
              <a:t>Will Ethernet replace CAN completely?</a:t>
            </a:r>
            <a:endParaRPr lang="en-US" sz="1900" dirty="0"/>
          </a:p>
        </p:txBody>
      </p:sp>
      <p:sp>
        <p:nvSpPr>
          <p:cNvPr id="5" name="Text 3"/>
          <p:cNvSpPr txBox="1"/>
          <p:nvPr/>
        </p:nvSpPr>
        <p:spPr>
          <a:xfrm>
            <a:off x="548640" y="2002536"/>
            <a:ext cx="11064240" cy="548640"/>
          </a:xfrm>
          <a:prstGeom prst="rect">
            <a:avLst/>
          </a:prstGeom>
          <a:noFill/>
          <a:ln/>
        </p:spPr>
        <p:txBody>
          <a:bodyPr wrap="square" lIns="0" tIns="0" rIns="0" bIns="0" rtlCol="0" anchor="t"/>
          <a:lstStyle/>
          <a:p>
            <a:pPr indent="0" marL="0">
              <a:buNone/>
            </a:pPr>
            <a:r>
              <a:rPr lang="en-US" sz="1700" dirty="0">
                <a:solidFill>
                  <a:schemeClr val="tx1"/>
                </a:solidFill>
                <a:latin typeface="Calibri" pitchFamily="34" charset="0"/>
                <a:ea typeface="Calibri" pitchFamily="34" charset="-122"/>
                <a:cs typeface="Calibri" pitchFamily="34" charset="-120"/>
              </a:rPr>
              <a:t>Not soon. CAN and LIN stay for cheap, low-speed nodes; 10BASE-T1S competes at the edge.</a:t>
            </a:r>
            <a:endParaRPr lang="en-US" sz="1700" dirty="0"/>
          </a:p>
        </p:txBody>
      </p:sp>
      <p:sp>
        <p:nvSpPr>
          <p:cNvPr id="6" name="Text 4"/>
          <p:cNvSpPr txBox="1"/>
          <p:nvPr/>
        </p:nvSpPr>
        <p:spPr>
          <a:xfrm>
            <a:off x="548640" y="2679192"/>
            <a:ext cx="11064240" cy="384048"/>
          </a:xfrm>
          <a:prstGeom prst="rect">
            <a:avLst/>
          </a:prstGeom>
          <a:noFill/>
          <a:ln/>
        </p:spPr>
        <p:txBody>
          <a:bodyPr wrap="square" lIns="0" tIns="0" rIns="0" bIns="0" rtlCol="0" anchor="ctr"/>
          <a:lstStyle/>
          <a:p>
            <a:pPr indent="0" marL="0">
              <a:buNone/>
            </a:pPr>
            <a:r>
              <a:rPr lang="en-US" sz="1900" b="1" dirty="0">
                <a:solidFill>
                  <a:schemeClr val="tx2"/>
                </a:solidFill>
                <a:latin typeface="Calibri" pitchFamily="34" charset="0"/>
                <a:ea typeface="Calibri" pitchFamily="34" charset="-122"/>
                <a:cs typeface="Calibri" pitchFamily="34" charset="-120"/>
              </a:rPr>
              <a:t>Why only 15 m reach?</a:t>
            </a:r>
            <a:endParaRPr lang="en-US" sz="1900" dirty="0"/>
          </a:p>
        </p:txBody>
      </p:sp>
      <p:sp>
        <p:nvSpPr>
          <p:cNvPr id="7" name="Text 5"/>
          <p:cNvSpPr txBox="1"/>
          <p:nvPr/>
        </p:nvSpPr>
        <p:spPr>
          <a:xfrm>
            <a:off x="548640" y="3081528"/>
            <a:ext cx="11064240" cy="548640"/>
          </a:xfrm>
          <a:prstGeom prst="rect">
            <a:avLst/>
          </a:prstGeom>
          <a:noFill/>
          <a:ln/>
        </p:spPr>
        <p:txBody>
          <a:bodyPr wrap="square" lIns="0" tIns="0" rIns="0" bIns="0" rtlCol="0" anchor="t"/>
          <a:lstStyle/>
          <a:p>
            <a:pPr indent="0" marL="0">
              <a:buNone/>
            </a:pPr>
            <a:r>
              <a:rPr lang="en-US" sz="1700" dirty="0">
                <a:solidFill>
                  <a:schemeClr val="tx1"/>
                </a:solidFill>
                <a:latin typeface="Calibri" pitchFamily="34" charset="0"/>
                <a:ea typeface="Calibri" pitchFamily="34" charset="-122"/>
                <a:cs typeface="Calibri" pitchFamily="34" charset="-120"/>
              </a:rPr>
              <a:t>A car needs only a few metres; shorter reach allows simpler, cheaper, lower-power PHYs.</a:t>
            </a:r>
            <a:endParaRPr lang="en-US" sz="1700" dirty="0"/>
          </a:p>
        </p:txBody>
      </p:sp>
      <p:sp>
        <p:nvSpPr>
          <p:cNvPr id="8" name="Text 6"/>
          <p:cNvSpPr txBox="1"/>
          <p:nvPr/>
        </p:nvSpPr>
        <p:spPr>
          <a:xfrm>
            <a:off x="548640" y="3758184"/>
            <a:ext cx="11064240" cy="384048"/>
          </a:xfrm>
          <a:prstGeom prst="rect">
            <a:avLst/>
          </a:prstGeom>
          <a:noFill/>
          <a:ln/>
        </p:spPr>
        <p:txBody>
          <a:bodyPr wrap="square" lIns="0" tIns="0" rIns="0" bIns="0" rtlCol="0" anchor="ctr"/>
          <a:lstStyle/>
          <a:p>
            <a:pPr indent="0" marL="0">
              <a:buNone/>
            </a:pPr>
            <a:r>
              <a:rPr lang="en-US" sz="1900" b="1" dirty="0">
                <a:solidFill>
                  <a:schemeClr val="tx2"/>
                </a:solidFill>
                <a:latin typeface="Calibri" pitchFamily="34" charset="0"/>
                <a:ea typeface="Calibri" pitchFamily="34" charset="-122"/>
                <a:cs typeface="Calibri" pitchFamily="34" charset="-120"/>
              </a:rPr>
              <a:t>How is it protected from hackers?</a:t>
            </a:r>
            <a:endParaRPr lang="en-US" sz="1900" dirty="0"/>
          </a:p>
        </p:txBody>
      </p:sp>
      <p:sp>
        <p:nvSpPr>
          <p:cNvPr id="9" name="Text 7"/>
          <p:cNvSpPr txBox="1"/>
          <p:nvPr/>
        </p:nvSpPr>
        <p:spPr>
          <a:xfrm>
            <a:off x="548640" y="4160520"/>
            <a:ext cx="11064240" cy="548640"/>
          </a:xfrm>
          <a:prstGeom prst="rect">
            <a:avLst/>
          </a:prstGeom>
          <a:noFill/>
          <a:ln/>
        </p:spPr>
        <p:txBody>
          <a:bodyPr wrap="square" lIns="0" tIns="0" rIns="0" bIns="0" rtlCol="0" anchor="t"/>
          <a:lstStyle/>
          <a:p>
            <a:pPr indent="0" marL="0">
              <a:buNone/>
            </a:pPr>
            <a:r>
              <a:rPr lang="en-US" sz="1700" dirty="0">
                <a:solidFill>
                  <a:schemeClr val="tx1"/>
                </a:solidFill>
                <a:latin typeface="Calibri" pitchFamily="34" charset="0"/>
                <a:ea typeface="Calibri" pitchFamily="34" charset="-122"/>
                <a:cs typeface="Calibri" pitchFamily="34" charset="-120"/>
              </a:rPr>
              <a:t>Network segmentation (VLANs), firewalls in gateways, MACsec, TLS, intrusion detection; ISO/SAE 21434 process.</a:t>
            </a:r>
            <a:endParaRPr lang="en-US" sz="1700" dirty="0"/>
          </a:p>
        </p:txBody>
      </p:sp>
      <p:sp>
        <p:nvSpPr>
          <p:cNvPr id="10" name="Text 8"/>
          <p:cNvSpPr txBox="1"/>
          <p:nvPr/>
        </p:nvSpPr>
        <p:spPr>
          <a:xfrm>
            <a:off x="548640" y="4837176"/>
            <a:ext cx="11064240" cy="384048"/>
          </a:xfrm>
          <a:prstGeom prst="rect">
            <a:avLst/>
          </a:prstGeom>
          <a:noFill/>
          <a:ln/>
        </p:spPr>
        <p:txBody>
          <a:bodyPr wrap="square" lIns="0" tIns="0" rIns="0" bIns="0" rtlCol="0" anchor="ctr"/>
          <a:lstStyle/>
          <a:p>
            <a:pPr indent="0" marL="0">
              <a:buNone/>
            </a:pPr>
            <a:r>
              <a:rPr lang="en-US" sz="1900" b="1" dirty="0">
                <a:solidFill>
                  <a:schemeClr val="tx2"/>
                </a:solidFill>
                <a:latin typeface="Calibri" pitchFamily="34" charset="0"/>
                <a:ea typeface="Calibri" pitchFamily="34" charset="-122"/>
                <a:cs typeface="Calibri" pitchFamily="34" charset="-120"/>
              </a:rPr>
              <a:t>Why not just use wireless inside the car?</a:t>
            </a:r>
            <a:endParaRPr lang="en-US" sz="1900" dirty="0"/>
          </a:p>
        </p:txBody>
      </p:sp>
      <p:sp>
        <p:nvSpPr>
          <p:cNvPr id="11" name="Text 9"/>
          <p:cNvSpPr txBox="1"/>
          <p:nvPr/>
        </p:nvSpPr>
        <p:spPr>
          <a:xfrm>
            <a:off x="548640" y="5239512"/>
            <a:ext cx="11064240" cy="548640"/>
          </a:xfrm>
          <a:prstGeom prst="rect">
            <a:avLst/>
          </a:prstGeom>
          <a:noFill/>
          <a:ln/>
        </p:spPr>
        <p:txBody>
          <a:bodyPr wrap="square" lIns="0" tIns="0" rIns="0" bIns="0" rtlCol="0" anchor="t"/>
          <a:lstStyle/>
          <a:p>
            <a:pPr indent="0" marL="0">
              <a:buNone/>
            </a:pPr>
            <a:r>
              <a:rPr lang="en-US" sz="1700" dirty="0">
                <a:solidFill>
                  <a:schemeClr val="tx1"/>
                </a:solidFill>
                <a:latin typeface="Calibri" pitchFamily="34" charset="0"/>
                <a:ea typeface="Calibri" pitchFamily="34" charset="-122"/>
                <a:cs typeface="Calibri" pitchFamily="34" charset="-120"/>
              </a:rPr>
              <a:t>Wires are more reliable, have lower latency and are far harder to jam or eavesdrop on.</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utomotive Ethernet Seminar">
  <a:themeElements>
    <a:clrScheme name="Automotive Ethernet Seminar">
      <a:dk1>
        <a:srgbClr val="2D2D2D"/>
      </a:dk1>
      <a:lt1>
        <a:srgbClr val="FFFFFF"/>
      </a:lt1>
      <a:dk2>
        <a:srgbClr val="1F4E79"/>
      </a:dk2>
      <a:lt2>
        <a:srgbClr val="EBF3FA"/>
      </a:lt2>
      <a:accent1>
        <a:srgbClr val="2E75B6"/>
      </a:accent1>
      <a:accent2>
        <a:srgbClr val="C55A11"/>
      </a:accent2>
      <a:accent3>
        <a:srgbClr val="1F4E79"/>
      </a:accent3>
      <a:accent4>
        <a:srgbClr val="666666"/>
      </a:accent4>
      <a:accent5>
        <a:srgbClr val="D0D7DE"/>
      </a:accent5>
      <a:accent6>
        <a:srgbClr val="F8E5D6"/>
      </a:accent6>
      <a:hlink>
        <a:srgbClr val="2E75B6"/>
      </a:hlink>
      <a:folHlink>
        <a:srgbClr val="7030A0"/>
      </a:folHlink>
    </a:clrScheme>
    <a:fontScheme name="Automotive Ethernet Semina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Ethernet</dc:title>
  <dc:subject>PptxGenJS Presentation</dc:subject>
  <dc:creator>Sharath Poojari</dc:creator>
  <cp:lastModifiedBy>Sharath Poojari</cp:lastModifiedBy>
  <cp:revision>1</cp:revision>
  <dcterms:created xsi:type="dcterms:W3CDTF">2026-10-28T04:04:42Z</dcterms:created>
  <dcterms:modified xsi:type="dcterms:W3CDTF">2026-10-28T04:04:42Z</dcterms:modified>
</cp:coreProperties>
</file>